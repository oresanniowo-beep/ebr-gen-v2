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2.svg" ContentType="image/svg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2"/>
  </p:notesMasterIdLst>
  <p:sldIdLst>
    <p:sldId id="717" r:id="rId2"/>
    <p:sldId id="786" r:id="rId3"/>
    <p:sldId id="326" r:id="rId4"/>
    <p:sldId id="330" r:id="rId5"/>
    <p:sldId id="375" r:id="rId6"/>
    <p:sldId id="718" r:id="rId7"/>
    <p:sldId id="383" r:id="rId8"/>
    <p:sldId id="790" r:id="rId58"/>
    <p:sldId id="740" r:id="rId11"/>
    <p:sldId id="741" r:id="rId12"/>
    <p:sldId id="742" r:id="rId13"/>
    <p:sldId id="743" r:id="rId14"/>
    <p:sldId id="756" r:id="rId15"/>
    <p:sldId id="773" r:id="rId16"/>
    <p:sldId id="335" r:id="rId17"/>
    <p:sldId id="774" r:id="rId18"/>
    <p:sldId id="775" r:id="rId19"/>
    <p:sldId id="788" r:id="rId20"/>
    <p:sldId id="779" r:id="rId21"/>
    <p:sldId id="748" r:id="rId22"/>
    <p:sldId id="757" r:id="rId23"/>
    <p:sldId id="776" r:id="rId24"/>
    <p:sldId id="751" r:id="rId25"/>
    <p:sldId id="777" r:id="rId26"/>
    <p:sldId id="753" r:id="rId27"/>
    <p:sldId id="780" r:id="rId28"/>
    <p:sldId id="759" r:id="rId29"/>
    <p:sldId id="760" r:id="rId30"/>
    <p:sldId id="778" r:id="rId31"/>
    <p:sldId id="787" r:id="rId32"/>
    <p:sldId id="789" r:id="rId33"/>
    <p:sldId id="781" r:id="rId34"/>
    <p:sldId id="721" r:id="rId35"/>
    <p:sldId id="385" r:id="rId36"/>
    <p:sldId id="720" r:id="rId37"/>
    <p:sldId id="369" r:id="rId38"/>
    <p:sldId id="772" r:id="rId39"/>
    <p:sldId id="295" r:id="rId40"/>
    <p:sldId id="320" r:id="rId41"/>
  </p:sldIdLst>
  <p:sldSz cx="12192000" cy="6858000"/>
  <p:notesSz cx="6858000" cy="9144000"/>
  <p:embeddedFontLst>
    <p:embeddedFont>
      <p:font typeface="Barlow" pitchFamily="2" charset="77"/>
      <p:regular r:id="rId43"/>
      <p:bold r:id="rId44"/>
      <p:italic r:id="rId45"/>
      <p:boldItalic r:id="rId46"/>
    </p:embeddedFont>
    <p:embeddedFont>
      <p:font typeface="Barlow Black" panose="00000A00000000000000" pitchFamily="2" charset="77"/>
      <p:bold r:id="rId47"/>
      <p:italic r:id="rId48"/>
      <p:boldItalic r:id="rId49"/>
    </p:embeddedFont>
    <p:embeddedFont>
      <p:font typeface="Barlow ExtraBold" panose="00000900000000000000" pitchFamily="2" charset="77"/>
      <p:bold r:id="rId50"/>
      <p:italic r:id="rId51"/>
      <p:boldItalic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4" roundtripDataSignature="AMtx7mhJZzuSbLNYNkeTgkXJyBEMnHXO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ED1FF"/>
    <a:srgbClr val="EB3FC7"/>
    <a:srgbClr val="9241F7"/>
    <a:srgbClr val="5D139F"/>
    <a:srgbClr val="BDAFF1"/>
    <a:srgbClr val="D92398"/>
    <a:srgbClr val="A79BD7"/>
    <a:srgbClr val="F5F7FB"/>
    <a:srgbClr val="0027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BCAB09-D571-4314-BB93-0DD3BD3F9BFD}">
  <a:tblStyle styleId="{D5BCAB09-D571-4314-BB93-0DD3BD3F9BF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3494330-313F-41B6-A52A-301C593EF15F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Themed Style 2 –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16"/>
    <p:restoredTop sz="95890"/>
  </p:normalViewPr>
  <p:slideViewPr>
    <p:cSldViewPr snapToGrid="0">
      <p:cViewPr>
        <p:scale>
          <a:sx n="99" d="100"/>
          <a:sy n="99" d="100"/>
        </p:scale>
        <p:origin x="1056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9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notesMaster" Target="notesMasters/notesMaster1.xml"/><Relationship Id="rId43" Type="http://schemas.openxmlformats.org/officeDocument/2006/relationships/font" Target="fonts/font1.fntdata"/><Relationship Id="rId44" Type="http://schemas.openxmlformats.org/officeDocument/2006/relationships/font" Target="fonts/font2.fntdata"/><Relationship Id="rId45" Type="http://schemas.openxmlformats.org/officeDocument/2006/relationships/font" Target="fonts/font3.fntdata"/><Relationship Id="rId46" Type="http://schemas.openxmlformats.org/officeDocument/2006/relationships/font" Target="fonts/font4.fntdata"/><Relationship Id="rId47" Type="http://schemas.openxmlformats.org/officeDocument/2006/relationships/font" Target="fonts/font5.fntdata"/><Relationship Id="rId48" Type="http://schemas.openxmlformats.org/officeDocument/2006/relationships/font" Target="fonts/font6.fntdata"/><Relationship Id="rId49" Type="http://schemas.openxmlformats.org/officeDocument/2006/relationships/font" Target="fonts/font7.fntdata"/><Relationship Id="rId50" Type="http://schemas.openxmlformats.org/officeDocument/2006/relationships/font" Target="fonts/font8.fntdata"/><Relationship Id="rId51" Type="http://schemas.openxmlformats.org/officeDocument/2006/relationships/font" Target="fonts/font9.fntdata"/><Relationship Id="rId52" Type="http://schemas.openxmlformats.org/officeDocument/2006/relationships/font" Target="fonts/font10.fntdata"/><Relationship Id="rId58" Type="http://schemas.openxmlformats.org/officeDocument/2006/relationships/slide" Target="slides/slide8.xml"/><Relationship Id="rId64" Type="http://customschemas.google.com/relationships/presentationmetadata" Target="metadata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DC5D0-D9E0-405D-F250-9DC0C9777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9BCB58-C50C-B1B4-50E0-C870FB5B2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A67454-67D5-1B8D-602A-6BE7C817A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39EB2-5475-C439-6B37-B4775545C1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309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A7DD6-586B-2902-94D6-AA528DD74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3078A1-6F24-0D08-101C-D52F6F801C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475DB-58E7-A60B-228B-072E5CC77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7BB270-9BD5-9F8A-462D-DAB8DE45EE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8751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D23A4F4-EA78-6A0E-C935-FD9FE2A2F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9F5B4660-A871-24AC-04DB-B3A19E830B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4158ABBA-6E24-5D4B-1913-37E0864191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9319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1874119-291F-772E-7971-DAE2A9A6E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E238BFF3-59BE-7BA4-C736-7368A92FC7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D6178D55-1DA3-D46F-B5BB-F7CDA7D134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63959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F283-B97C-B940-569E-ED443B065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2BEC69-52FB-5285-2E56-7DED7FDE68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9839D-80D8-CF6A-2DA9-6BD5E775F3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08F1B-C937-2803-FCD4-0975EA9B46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7949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2" name="Google Shape;1002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www.google.com/search?q=xelix&amp;oq=xelix&amp;aqs=chrome.0.35i39j46i175i199i512j69i65j69i60j69i65j69i60l2j69i65.725j0j4&amp;sourceid=chrome&amp;ie=UTF-8" TargetMode="External"/><Relationship Id="rId5" Type="http://schemas.openxmlformats.org/officeDocument/2006/relationships/hyperlink" Target="http://www.xelix.com/" TargetMode="Externa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 (Gradient)">
  <p:cSld name="3. Content: Text + image (Gradient)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4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45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5740969" cy="4776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4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3" name="Google Shape;23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5"/>
          <p:cNvSpPr>
            <a:spLocks noGrp="1"/>
          </p:cNvSpPr>
          <p:nvPr>
            <p:ph type="pic" idx="2"/>
          </p:nvPr>
        </p:nvSpPr>
        <p:spPr>
          <a:xfrm>
            <a:off x="6863513" y="1787314"/>
            <a:ext cx="4490287" cy="477667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 Logo">
  <p:cSld name="1. Logo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49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49" descr="A picture containing text,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62531" y="2845386"/>
            <a:ext cx="3266939" cy="1167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">
  <p:cSld name="2. Section divid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0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50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45" name="Google Shape;45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">
  <p:cSld name="2. Section divider +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51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51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51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1" name="Google Shape;51;p5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 + circle ">
  <p:cSld name="2. Section divider + image + circle 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5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52" descr="Shape, circle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52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52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7" name="Google Shape;57;p5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52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(Gradient)">
  <p:cSld name="3. Content: Text (Gradient)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53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5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2" name="Google Shape;62;p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5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Text (white)">
  <p:cSld name="1_3. Content: Text (white)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6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95" name="Google Shape;95;p5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56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Right)">
  <p:cSld name="3. Content: Did you know (Right)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57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5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57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57"/>
          <p:cNvSpPr txBox="1">
            <a:spLocks noGrp="1"/>
          </p:cNvSpPr>
          <p:nvPr>
            <p:ph type="title"/>
          </p:nvPr>
        </p:nvSpPr>
        <p:spPr>
          <a:xfrm>
            <a:off x="685800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2" name="Google Shape;102;p57"/>
          <p:cNvSpPr txBox="1">
            <a:spLocks noGrp="1"/>
          </p:cNvSpPr>
          <p:nvPr>
            <p:ph type="body" idx="1"/>
          </p:nvPr>
        </p:nvSpPr>
        <p:spPr>
          <a:xfrm>
            <a:off x="68580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Left)">
  <p:cSld name="3. Content: Did you know (Left)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5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5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58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173314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58"/>
          <p:cNvSpPr>
            <a:spLocks noGrp="1"/>
          </p:cNvSpPr>
          <p:nvPr>
            <p:ph type="pic" idx="2"/>
          </p:nvPr>
        </p:nvSpPr>
        <p:spPr>
          <a:xfrm>
            <a:off x="389214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58"/>
          <p:cNvSpPr txBox="1">
            <a:spLocks noGrp="1"/>
          </p:cNvSpPr>
          <p:nvPr>
            <p:ph type="body" idx="1"/>
          </p:nvPr>
        </p:nvSpPr>
        <p:spPr>
          <a:xfrm>
            <a:off x="578987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9" name="Google Shape;109;p58"/>
          <p:cNvSpPr txBox="1">
            <a:spLocks noGrp="1"/>
          </p:cNvSpPr>
          <p:nvPr>
            <p:ph type="title"/>
          </p:nvPr>
        </p:nvSpPr>
        <p:spPr>
          <a:xfrm>
            <a:off x="5789871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">
  <p:cSld name="3. Content: Text + image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8" name="Google Shape;128;p61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9" name="Google Shape;129;p61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3. Content: Text + image + circle">
  <p:cSld name="2_3. Content: Text + image + circle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62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62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4" name="Google Shape;134;p62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5" name="Google Shape;135;p62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circle">
  <p:cSld name="3. Content: Text + circle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63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6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39" name="Google Shape;139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6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Product template">
  <p:cSld name="3. Content: Product template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6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64"/>
          <p:cNvSpPr txBox="1">
            <a:spLocks noGrp="1"/>
          </p:cNvSpPr>
          <p:nvPr>
            <p:ph type="title"/>
          </p:nvPr>
        </p:nvSpPr>
        <p:spPr>
          <a:xfrm>
            <a:off x="1870166" y="635000"/>
            <a:ext cx="983628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44" name="Google Shape;144;p64"/>
          <p:cNvSpPr>
            <a:spLocks noGrp="1"/>
          </p:cNvSpPr>
          <p:nvPr>
            <p:ph type="pic" idx="2"/>
          </p:nvPr>
        </p:nvSpPr>
        <p:spPr>
          <a:xfrm>
            <a:off x="5970588" y="2466975"/>
            <a:ext cx="5324475" cy="3195638"/>
          </a:xfrm>
          <a:prstGeom prst="rect">
            <a:avLst/>
          </a:prstGeom>
          <a:noFill/>
          <a:ln>
            <a:noFill/>
          </a:ln>
        </p:spPr>
      </p:sp>
      <p:sp>
        <p:nvSpPr>
          <p:cNvPr id="145" name="Google Shape;145;p64"/>
          <p:cNvSpPr txBox="1">
            <a:spLocks noGrp="1"/>
          </p:cNvSpPr>
          <p:nvPr>
            <p:ph type="body" idx="1"/>
          </p:nvPr>
        </p:nvSpPr>
        <p:spPr>
          <a:xfrm>
            <a:off x="850899" y="1734517"/>
            <a:ext cx="9250031" cy="414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6" name="Google Shape;146;p64"/>
          <p:cNvSpPr txBox="1">
            <a:spLocks noGrp="1"/>
          </p:cNvSpPr>
          <p:nvPr>
            <p:ph type="body" idx="3"/>
          </p:nvPr>
        </p:nvSpPr>
        <p:spPr>
          <a:xfrm>
            <a:off x="7261241" y="3955312"/>
            <a:ext cx="2546429" cy="471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7" name="Google Shape;147;p64"/>
          <p:cNvSpPr>
            <a:spLocks noGrp="1"/>
          </p:cNvSpPr>
          <p:nvPr>
            <p:ph type="pic" idx="4"/>
          </p:nvPr>
        </p:nvSpPr>
        <p:spPr>
          <a:xfrm>
            <a:off x="838200" y="646040"/>
            <a:ext cx="923925" cy="911693"/>
          </a:xfrm>
          <a:prstGeom prst="rect">
            <a:avLst/>
          </a:prstGeom>
          <a:noFill/>
          <a:ln>
            <a:noFill/>
          </a:ln>
        </p:spPr>
      </p:sp>
      <p:sp>
        <p:nvSpPr>
          <p:cNvPr id="148" name="Google Shape;148;p64"/>
          <p:cNvSpPr txBox="1">
            <a:spLocks noGrp="1"/>
          </p:cNvSpPr>
          <p:nvPr>
            <p:ph type="body" idx="5"/>
          </p:nvPr>
        </p:nvSpPr>
        <p:spPr>
          <a:xfrm>
            <a:off x="850900" y="2478178"/>
            <a:ext cx="4922948" cy="318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Large quote + headshot">
  <p:cSld name="3. Content: Large quote + headshot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6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65"/>
          <p:cNvSpPr txBox="1">
            <a:spLocks noGrp="1"/>
          </p:cNvSpPr>
          <p:nvPr>
            <p:ph type="title"/>
          </p:nvPr>
        </p:nvSpPr>
        <p:spPr>
          <a:xfrm>
            <a:off x="838200" y="1797845"/>
            <a:ext cx="9555480" cy="3125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52" name="Google Shape;152;p6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65"/>
          <p:cNvSpPr>
            <a:spLocks noGrp="1"/>
          </p:cNvSpPr>
          <p:nvPr>
            <p:ph type="pic" idx="2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54" name="Google Shape;154;p65"/>
          <p:cNvSpPr txBox="1">
            <a:spLocks noGrp="1"/>
          </p:cNvSpPr>
          <p:nvPr>
            <p:ph type="body" idx="1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55" name="Google Shape;155;p65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56" name="Google Shape;156;p65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7" name="Google Shape;157;p65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8" name="Google Shape;158;p65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9" name="Google Shape;159;p65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0" name="Google Shape;160;p65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1" name="Google Shape;161;p65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2" name="Google Shape;162;p65"/>
          <p:cNvSpPr txBox="1">
            <a:spLocks noGrp="1"/>
          </p:cNvSpPr>
          <p:nvPr>
            <p:ph type="body" idx="3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Large quote + no headshot">
  <p:cSld name="1_3. Content: Large quote + no headshot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66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66"/>
          <p:cNvSpPr txBox="1">
            <a:spLocks noGrp="1"/>
          </p:cNvSpPr>
          <p:nvPr>
            <p:ph type="title"/>
          </p:nvPr>
        </p:nvSpPr>
        <p:spPr>
          <a:xfrm>
            <a:off x="838200" y="1797844"/>
            <a:ext cx="9555480" cy="347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66" name="Google Shape;166;p6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66"/>
          <p:cNvSpPr txBox="1">
            <a:spLocks noGrp="1"/>
          </p:cNvSpPr>
          <p:nvPr>
            <p:ph type="body" idx="1"/>
          </p:nvPr>
        </p:nvSpPr>
        <p:spPr>
          <a:xfrm>
            <a:off x="838200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68" name="Google Shape;168;p66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69" name="Google Shape;169;p66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0" name="Google Shape;170;p66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1" name="Google Shape;171;p66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" name="Google Shape;172;p66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3" name="Google Shape;173;p66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4" name="Google Shape;174;p66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5" name="Google Shape;175;p66"/>
          <p:cNvSpPr txBox="1">
            <a:spLocks noGrp="1"/>
          </p:cNvSpPr>
          <p:nvPr>
            <p:ph type="body" idx="2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 Contact">
  <p:cSld name="4. Contact"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7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72"/>
          <p:cNvSpPr txBox="1"/>
          <p:nvPr/>
        </p:nvSpPr>
        <p:spPr>
          <a:xfrm>
            <a:off x="685800" y="4167383"/>
            <a:ext cx="7299702" cy="2246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Email: hello@xelix.com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Phone: + 44 (</a:t>
            </a:r>
            <a:r>
              <a:rPr lang="en-US" sz="2000" b="1" i="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0)20 3950 1506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Website: www.xelix.com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rlow"/>
              <a:buNone/>
            </a:pPr>
            <a:r>
              <a:rPr lang="en-US" sz="140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www.xelix.com</a:t>
            </a:r>
            <a:r>
              <a:rPr lang="en-US" sz="14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 © 2023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2"/>
          <p:cNvSpPr txBox="1"/>
          <p:nvPr/>
        </p:nvSpPr>
        <p:spPr>
          <a:xfrm>
            <a:off x="685800" y="2721106"/>
            <a:ext cx="5291919" cy="1323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rPr>
              <a:t>Contact us</a:t>
            </a:r>
            <a:endParaRPr sz="6000" b="1" i="0">
              <a:solidFill>
                <a:schemeClr val="dk1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82773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5000">
              <a:srgbClr val="6115A6"/>
            </a:gs>
            <a:gs pos="100000">
              <a:srgbClr val="030312"/>
            </a:gs>
          </a:gsLst>
          <a:lin ang="2399547" scaled="0"/>
          <a:tileRect/>
        </a:gra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81" r:id="rId7"/>
    <p:sldLayoutId id="2147483682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83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73" r:id="rId28"/>
    <p:sldLayoutId id="2147483674" r:id="rId29"/>
    <p:sldLayoutId id="2147483675" r:id="rId30"/>
    <p:sldLayoutId id="2147483676" r:id="rId31"/>
    <p:sldLayoutId id="2147483677" r:id="rId32"/>
    <p:sldLayoutId id="2147483678" r:id="rId33"/>
    <p:sldLayoutId id="2147483680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png"/><Relationship Id="rId4" Type="http://schemas.openxmlformats.org/officeDocument/2006/relationships/image" Target="../media/image12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3" Type="http://schemas.openxmlformats.org/officeDocument/2006/relationships/image" Target="../media/image16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jpe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86740" y="401955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spc="800" dirty="0">
                <a:solidFill>
                  <a:srgbClr val="D92398"/>
                </a:solidFill>
                <a:latin typeface="Barlow Black" pitchFamily="34" charset="0"/>
              </a:rPr>
              <a:t>DATE</a:t>
            </a:r>
            <a:endParaRPr lang="en-US" dirty="0">
              <a:solidFill>
                <a:srgbClr val="D92398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10058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Executive Business Review</a:t>
            </a:r>
          </a:p>
          <a:p>
            <a:pPr marL="0" indent="0">
              <a:buNone/>
            </a:pPr>
            <a:r>
              <a:rPr lang="en-US" sz="4800" b="1" dirty="0">
                <a:solidFill>
                  <a:srgbClr val="CCBB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{CUSTOMER}</a:t>
            </a:r>
            <a:endParaRPr lang="en-US" sz="4800" dirty="0">
              <a:solidFill>
                <a:srgbClr val="CCBBFF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FBE168-A42D-388C-D5D2-52D6795C17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B0A0C23B-1DE9-0362-466D-7E18FCC3C87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D424E814-D3C5-5992-8644-6B3643B5C50D}"/>
              </a:ext>
            </a:extLst>
          </p:cNvPr>
          <p:cNvSpPr/>
          <p:nvPr/>
        </p:nvSpPr>
        <p:spPr>
          <a:xfrm>
            <a:off x="1865534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149A807E-8879-695B-B2F9-DA1FCDDD0A46}"/>
              </a:ext>
            </a:extLst>
          </p:cNvPr>
          <p:cNvSpPr/>
          <p:nvPr/>
        </p:nvSpPr>
        <p:spPr>
          <a:xfrm>
            <a:off x="4767943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4B47D64D-0ABC-9004-472B-6421B8BEAF73}"/>
              </a:ext>
            </a:extLst>
          </p:cNvPr>
          <p:cNvSpPr/>
          <p:nvPr/>
        </p:nvSpPr>
        <p:spPr>
          <a:xfrm>
            <a:off x="7670799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60B6953C-071C-D828-67EC-784473C41F54}"/>
              </a:ext>
            </a:extLst>
          </p:cNvPr>
          <p:cNvSpPr/>
          <p:nvPr/>
        </p:nvSpPr>
        <p:spPr>
          <a:xfrm>
            <a:off x="415470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1D445302-8306-83BE-0878-8E070D7EF41A}"/>
              </a:ext>
            </a:extLst>
          </p:cNvPr>
          <p:cNvSpPr/>
          <p:nvPr/>
        </p:nvSpPr>
        <p:spPr>
          <a:xfrm>
            <a:off x="3363684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BECE4BE-C558-5D93-4FD0-A6CE68113B4A}"/>
              </a:ext>
            </a:extLst>
          </p:cNvPr>
          <p:cNvSpPr/>
          <p:nvPr/>
        </p:nvSpPr>
        <p:spPr>
          <a:xfrm>
            <a:off x="6291488" y="230895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B4123569-3909-88FE-A2A1-6BD5214F1231}"/>
              </a:ext>
            </a:extLst>
          </p:cNvPr>
          <p:cNvSpPr/>
          <p:nvPr/>
        </p:nvSpPr>
        <p:spPr>
          <a:xfrm>
            <a:off x="9219292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0437806-C688-87DC-E9D8-D69A1CCCB7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2" name="TitleLine"/>
          <p:cNvSpPr/>
          <p:nvPr/>
        </p:nvSpPr>
        <p:spPr>
          <a:xfrm>
            <a:off x="508000" y="1625442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4" name="WaterNum 2"/>
          <p:cNvSpPr/>
          <p:nvPr/>
        </p:nvSpPr>
        <p:spPr>
          <a:xfrm>
            <a:off x="3579948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207" name="WaterNum 3"/>
          <p:cNvSpPr/>
          <p:nvPr/>
        </p:nvSpPr>
        <p:spPr>
          <a:xfrm>
            <a:off x="6575423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210" name="WaterNum 4"/>
          <p:cNvSpPr/>
          <p:nvPr/>
        </p:nvSpPr>
        <p:spPr>
          <a:xfrm>
            <a:off x="95504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213" name="WaterNum 5"/>
          <p:cNvSpPr/>
          <p:nvPr/>
        </p:nvSpPr>
        <p:spPr>
          <a:xfrm>
            <a:off x="2159001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216" name="WaterNum 6"/>
          <p:cNvSpPr/>
          <p:nvPr/>
        </p:nvSpPr>
        <p:spPr>
          <a:xfrm>
            <a:off x="5057997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06</a:t>
            </a:r>
          </a:p>
        </p:txBody>
      </p:sp>
      <p:sp>
        <p:nvSpPr>
          <p:cNvPr id="219" name="WaterNum 7"/>
          <p:cNvSpPr/>
          <p:nvPr/>
        </p:nvSpPr>
        <p:spPr>
          <a:xfrm>
            <a:off x="7962900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07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CFC1462-5089-37E7-4CFD-B96701EC4F16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WHAT WE WILL COVER TODAY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E8FE0F78-01C6-CBAF-E28A-5FC0CA39874F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AGENDA</a:t>
            </a:r>
          </a:p>
        </p:txBody>
      </p:sp>
      <p:sp>
        <p:nvSpPr>
          <p:cNvPr id="202" name="Text 1"/>
          <p:cNvSpPr/>
          <p:nvPr/>
        </p:nvSpPr>
        <p:spPr>
          <a:xfrm>
            <a:off x="650874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RECAP</a:t>
            </a:r>
          </a:p>
        </p:txBody>
      </p:sp>
      <p:sp>
        <p:nvSpPr>
          <p:cNvPr id="205" name="Text 2"/>
          <p:cNvSpPr/>
          <p:nvPr/>
        </p:nvSpPr>
        <p:spPr>
          <a:xfrm>
            <a:off x="3579948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EXEC SUMMARY</a:t>
            </a:r>
          </a:p>
        </p:txBody>
      </p:sp>
      <p:sp>
        <p:nvSpPr>
          <p:cNvPr id="208" name="Text 3"/>
          <p:cNvSpPr/>
          <p:nvPr/>
        </p:nvSpPr>
        <p:spPr>
          <a:xfrm>
            <a:off x="6526438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TRANSACTIONS</a:t>
            </a:r>
          </a:p>
        </p:txBody>
      </p:sp>
      <p:sp>
        <p:nvSpPr>
          <p:cNvPr id="211" name="Text 4"/>
          <p:cNvSpPr/>
          <p:nvPr/>
        </p:nvSpPr>
        <p:spPr>
          <a:xfrm>
            <a:off x="9550400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STATEMENTS</a:t>
            </a:r>
          </a:p>
        </p:txBody>
      </p:sp>
      <p:sp>
        <p:nvSpPr>
          <p:cNvPr id="214" name="Text 5"/>
          <p:cNvSpPr/>
          <p:nvPr/>
        </p:nvSpPr>
        <p:spPr>
          <a:xfrm>
            <a:off x="2159001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HELPDESK</a:t>
            </a:r>
          </a:p>
        </p:txBody>
      </p:sp>
      <p:sp>
        <p:nvSpPr>
          <p:cNvPr id="217" name="Text 6"/>
          <p:cNvSpPr/>
          <p:nvPr/>
        </p:nvSpPr>
        <p:spPr>
          <a:xfrm>
            <a:off x="5066845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SUPPORT TICKETS</a:t>
            </a:r>
          </a:p>
        </p:txBody>
      </p:sp>
      <p:sp>
        <p:nvSpPr>
          <p:cNvPr id="220" name="Text 7"/>
          <p:cNvSpPr/>
          <p:nvPr/>
        </p:nvSpPr>
        <p:spPr>
          <a:xfrm>
            <a:off x="7962900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NEXT STEPS</a:t>
            </a:r>
          </a:p>
        </p:txBody>
      </p:sp>
      <p:sp>
        <p:nvSpPr>
          <p:cNvPr id="201" name="WaterNum 1"/>
          <p:cNvSpPr/>
          <p:nvPr/>
        </p:nvSpPr>
        <p:spPr>
          <a:xfrm>
            <a:off x="6985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A79BD7">
                    <a:alpha val="35000"/>
                  </a:srgbClr>
                </a:solidFill>
                <a:latin typeface="Barlow Black" pitchFamily="34" charset="0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518442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/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ONE</a:t>
            </a:r>
          </a:p>
        </p:txBody>
      </p:sp>
      <p:sp>
        <p:nvSpPr>
          <p:cNvPr id="11" name="Title"/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</a:p>
        </p:txBody>
      </p:sp>
      <p:sp>
        <p:nvSpPr>
          <p:cNvPr id="12" name="Subtitle"/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Actions and discussion points from the last EBR</a:t>
            </a:r>
          </a:p>
        </p:txBody>
      </p:sp>
      <p:sp>
        <p:nvSpPr>
          <p:cNvPr id="13" name="Divider"/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2274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QuoteMark"/>
          <p:cNvSpPr/>
          <p:nvPr/>
        </p:nvSpPr>
        <p:spPr>
          <a:xfrm>
            <a:off x="762000" y="1524000"/>
            <a:ext cx="152400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2000" b="1" dirty="0">
                <a:solidFill>
                  <a:srgbClr val="D92398"/>
                </a:solidFill>
                <a:latin typeface="Barlow Black" pitchFamily="34" charset="0"/>
              </a:rPr>
              <a:t>“</a:t>
            </a:r>
          </a:p>
        </p:txBody>
      </p:sp>
      <p:sp>
        <p:nvSpPr>
          <p:cNvPr id="11" name="Quote"/>
          <p:cNvSpPr/>
          <p:nvPr/>
        </p:nvSpPr>
        <p:spPr>
          <a:xfrm>
            <a:off x="2794000" y="1905000"/>
            <a:ext cx="8128000" cy="20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Quote text goes here. Replace with a compelling testimonial or key insight.</a:t>
            </a:r>
          </a:p>
        </p:txBody>
      </p:sp>
      <p:sp>
        <p:nvSpPr>
          <p:cNvPr id="12" name="Divider"/>
          <p:cNvSpPr/>
          <p:nvPr/>
        </p:nvSpPr>
        <p:spPr>
          <a:xfrm>
            <a:off x="2794000" y="4191000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3" name="Name"/>
          <p:cNvSpPr/>
          <p:nvPr/>
        </p:nvSpPr>
        <p:spPr>
          <a:xfrm>
            <a:off x="2794000" y="4445000"/>
            <a:ext cx="8128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600" b="1" dirty="0">
                <a:solidFill>
                  <a:srgbClr val="FFFFFF"/>
                </a:solidFill>
                <a:latin typeface="Barlow Black" pitchFamily="34" charset="0"/>
              </a:rPr>
              <a:t>FULL NAME</a:t>
            </a:r>
          </a:p>
        </p:txBody>
      </p:sp>
      <p:sp>
        <p:nvSpPr>
          <p:cNvPr id="14" name="Role"/>
          <p:cNvSpPr/>
          <p:nvPr/>
        </p:nvSpPr>
        <p:spPr>
          <a:xfrm>
            <a:off x="2794000" y="4851400"/>
            <a:ext cx="812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Title, Company Name</a:t>
            </a:r>
          </a:p>
        </p:txBody>
      </p:sp>
      <p:sp>
        <p:nvSpPr>
          <p:cNvPr id="15" name="LeftAccent"/>
          <p:cNvSpPr/>
          <p:nvPr/>
        </p:nvSpPr>
        <p:spPr>
          <a:xfrm>
            <a:off x="2540000" y="1905000"/>
            <a:ext cx="45719" cy="31750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461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/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02920" y="1070626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200" b="1" dirty="0">
                <a:solidFill>
                  <a:srgbClr val="CCBBFF"/>
                </a:solidFill>
                <a:latin typeface="Barlow" pitchFamily="34" charset="0"/>
              </a:rPr>
              <a:t>Key actions and discussions from our last EBR</a:t>
            </a:r>
          </a:p>
          <a:p>
            <a:pPr marL="0" indent="0">
              <a:buNone/>
            </a:pPr>
            <a:endParaRPr lang="en-US" sz="3600" dirty="0"/>
          </a:p>
        </p:txBody>
      </p:sp>
      <p:sp>
        <p:nvSpPr>
          <p:cNvPr id="23" name="Text 19"/>
          <p:cNvSpPr/>
          <p:nvPr/>
        </p:nvSpPr>
        <p:spPr>
          <a:xfrm>
            <a:off x="5254828" y="497711"/>
            <a:ext cx="6476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1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29" name="Shape 25"/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2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4" name="Shape 30"/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3"/>
          <p:cNvSpPr/>
          <p:nvPr/>
        </p:nvSpPr>
        <p:spPr>
          <a:xfrm>
            <a:off x="6059242" y="353695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3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9" name="Shape 35"/>
          <p:cNvSpPr/>
          <p:nvPr/>
        </p:nvSpPr>
        <p:spPr>
          <a:xfrm>
            <a:off x="5197678" y="421005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8"/>
          <p:cNvSpPr/>
          <p:nvPr/>
        </p:nvSpPr>
        <p:spPr>
          <a:xfrm>
            <a:off x="6059242" y="467042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4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44" name="Shape 40"/>
          <p:cNvSpPr/>
          <p:nvPr/>
        </p:nvSpPr>
        <p:spPr>
          <a:xfrm>
            <a:off x="5197678" y="534352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3"/>
          <p:cNvSpPr/>
          <p:nvPr/>
        </p:nvSpPr>
        <p:spPr>
          <a:xfrm>
            <a:off x="6051990" y="58039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5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EBE13E7C-E064-0906-480E-472E3DDE64C2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DBC1E652-2A0A-9D44-F749-CA6197A71281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436E3619-FD14-F2D3-0282-0B8CEDA145BD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ABDC25DB-31C1-D24E-7439-88902FEEA873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03</a:t>
            </a:r>
            <a:endParaRPr lang="en-US" sz="1300" dirty="0"/>
          </a:p>
        </p:txBody>
      </p:sp>
      <p:sp>
        <p:nvSpPr>
          <p:cNvPr id="67" name="Shape 26">
            <a:extLst>
              <a:ext uri="{FF2B5EF4-FFF2-40B4-BE49-F238E27FC236}">
                <a16:creationId xmlns:a16="http://schemas.microsoft.com/office/drawing/2014/main" id="{C6E043C9-3230-9927-6B1C-DD6DB0366CDD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27">
            <a:extLst>
              <a:ext uri="{FF2B5EF4-FFF2-40B4-BE49-F238E27FC236}">
                <a16:creationId xmlns:a16="http://schemas.microsoft.com/office/drawing/2014/main" id="{9538CA2E-60B4-31AF-D809-B1A29EA74437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04</a:t>
            </a:r>
            <a:endParaRPr lang="en-US" sz="1300" dirty="0"/>
          </a:p>
        </p:txBody>
      </p:sp>
      <p:sp>
        <p:nvSpPr>
          <p:cNvPr id="71" name="Shape 26">
            <a:extLst>
              <a:ext uri="{FF2B5EF4-FFF2-40B4-BE49-F238E27FC236}">
                <a16:creationId xmlns:a16="http://schemas.microsoft.com/office/drawing/2014/main" id="{56F3899D-0437-739E-768D-7C5DD1E75C0B}"/>
              </a:ext>
            </a:extLst>
          </p:cNvPr>
          <p:cNvSpPr/>
          <p:nvPr/>
        </p:nvSpPr>
        <p:spPr>
          <a:xfrm>
            <a:off x="5273934" y="58039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27">
            <a:extLst>
              <a:ext uri="{FF2B5EF4-FFF2-40B4-BE49-F238E27FC236}">
                <a16:creationId xmlns:a16="http://schemas.microsoft.com/office/drawing/2014/main" id="{6BEDC694-5958-6A57-1C06-E426FF24669C}"/>
              </a:ext>
            </a:extLst>
          </p:cNvPr>
          <p:cNvSpPr/>
          <p:nvPr/>
        </p:nvSpPr>
        <p:spPr>
          <a:xfrm>
            <a:off x="5273934" y="58039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05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1302022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39A2D-8A5C-F886-441F-D81C93A55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F5EC48B-51FD-C7D8-EF7C-DD2CCA271D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5E722746-B633-3623-372B-CE38A9D3A14D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TWO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D7FABE1-4328-0EC6-740C-2AC7259F489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 SUMMARY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F0996CE-9C83-823A-BBB2-25A11742F6ED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Goals &amp; KPIs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B7432AA8-1121-0672-A98E-CB4556B9ABB6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140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26B84E79-D946-9162-8F48-7EAB359199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solidFill>
              <a:srgbClr val="D92398"/>
            </a:solidFill>
          </a:ln>
        </p:spPr>
      </p:pic>
      <p:sp>
        <p:nvSpPr>
          <p:cNvPr id="50" name="Card BG 1"/>
          <p:cNvSpPr/>
          <p:nvPr/>
        </p:nvSpPr>
        <p:spPr>
          <a:xfrm>
            <a:off x="50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" name="Accent 1"/>
          <p:cNvSpPr/>
          <p:nvPr/>
        </p:nvSpPr>
        <p:spPr>
          <a:xfrm>
            <a:off x="73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D9239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" name="Title 1"/>
          <p:cNvSpPr/>
          <p:nvPr/>
        </p:nvSpPr>
        <p:spPr>
          <a:xfrm>
            <a:off x="73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D92398"/>
                </a:solidFill>
                <a:latin typeface="Barlow Black" pitchFamily="34" charset="0"/>
              </a:rPr>
              <a:t>01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1 title</a:t>
            </a:r>
          </a:p>
        </p:txBody>
      </p:sp>
      <p:sp>
        <p:nvSpPr>
          <p:cNvPr id="53" name="Desc 1"/>
          <p:cNvSpPr/>
          <p:nvPr/>
        </p:nvSpPr>
        <p:spPr>
          <a:xfrm>
            <a:off x="73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54" name="Card BG 2"/>
          <p:cNvSpPr/>
          <p:nvPr/>
        </p:nvSpPr>
        <p:spPr>
          <a:xfrm>
            <a:off x="431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5" name="Accent 2"/>
          <p:cNvSpPr/>
          <p:nvPr/>
        </p:nvSpPr>
        <p:spPr>
          <a:xfrm>
            <a:off x="454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9243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6" name="Title 2"/>
          <p:cNvSpPr/>
          <p:nvPr/>
        </p:nvSpPr>
        <p:spPr>
          <a:xfrm>
            <a:off x="454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9243F7"/>
                </a:solidFill>
                <a:latin typeface="Barlow Black" pitchFamily="34" charset="0"/>
              </a:rPr>
              <a:t>02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2 title</a:t>
            </a:r>
          </a:p>
        </p:txBody>
      </p:sp>
      <p:sp>
        <p:nvSpPr>
          <p:cNvPr id="57" name="Desc 2"/>
          <p:cNvSpPr/>
          <p:nvPr/>
        </p:nvSpPr>
        <p:spPr>
          <a:xfrm>
            <a:off x="454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58" name="Card BG 3"/>
          <p:cNvSpPr/>
          <p:nvPr/>
        </p:nvSpPr>
        <p:spPr>
          <a:xfrm>
            <a:off x="812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9" name="Accent 3"/>
          <p:cNvSpPr/>
          <p:nvPr/>
        </p:nvSpPr>
        <p:spPr>
          <a:xfrm>
            <a:off x="835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006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Title 3"/>
          <p:cNvSpPr/>
          <p:nvPr/>
        </p:nvSpPr>
        <p:spPr>
          <a:xfrm>
            <a:off x="835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006FFF"/>
                </a:solidFill>
                <a:latin typeface="Barlow Black" pitchFamily="34" charset="0"/>
              </a:rPr>
              <a:t>03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3 title</a:t>
            </a:r>
          </a:p>
        </p:txBody>
      </p:sp>
      <p:sp>
        <p:nvSpPr>
          <p:cNvPr id="61" name="Desc 3"/>
          <p:cNvSpPr/>
          <p:nvPr/>
        </p:nvSpPr>
        <p:spPr>
          <a:xfrm>
            <a:off x="835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62" name="Card BG 4"/>
          <p:cNvSpPr/>
          <p:nvPr/>
        </p:nvSpPr>
        <p:spPr>
          <a:xfrm>
            <a:off x="50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3" name="Accent 4"/>
          <p:cNvSpPr/>
          <p:nvPr/>
        </p:nvSpPr>
        <p:spPr>
          <a:xfrm>
            <a:off x="73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E450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4" name="Title 4"/>
          <p:cNvSpPr/>
          <p:nvPr/>
        </p:nvSpPr>
        <p:spPr>
          <a:xfrm>
            <a:off x="73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E450FB"/>
                </a:solidFill>
                <a:latin typeface="Barlow Black" pitchFamily="34" charset="0"/>
              </a:rPr>
              <a:t>04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4 title</a:t>
            </a:r>
          </a:p>
        </p:txBody>
      </p:sp>
      <p:sp>
        <p:nvSpPr>
          <p:cNvPr id="65" name="Desc 4"/>
          <p:cNvSpPr/>
          <p:nvPr/>
        </p:nvSpPr>
        <p:spPr>
          <a:xfrm>
            <a:off x="73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66" name="Card BG 5"/>
          <p:cNvSpPr/>
          <p:nvPr/>
        </p:nvSpPr>
        <p:spPr>
          <a:xfrm>
            <a:off x="431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7" name="Accent 5"/>
          <p:cNvSpPr/>
          <p:nvPr/>
        </p:nvSpPr>
        <p:spPr>
          <a:xfrm>
            <a:off x="454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D9239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8" name="Title 5"/>
          <p:cNvSpPr/>
          <p:nvPr/>
        </p:nvSpPr>
        <p:spPr>
          <a:xfrm>
            <a:off x="454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D92398"/>
                </a:solidFill>
                <a:latin typeface="Barlow Black" pitchFamily="34" charset="0"/>
              </a:rPr>
              <a:t>05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5 title</a:t>
            </a:r>
          </a:p>
        </p:txBody>
      </p:sp>
      <p:sp>
        <p:nvSpPr>
          <p:cNvPr id="69" name="Desc 5"/>
          <p:cNvSpPr/>
          <p:nvPr/>
        </p:nvSpPr>
        <p:spPr>
          <a:xfrm>
            <a:off x="454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70" name="Card BG 6"/>
          <p:cNvSpPr/>
          <p:nvPr/>
        </p:nvSpPr>
        <p:spPr>
          <a:xfrm>
            <a:off x="812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1" name="Accent 6"/>
          <p:cNvSpPr/>
          <p:nvPr/>
        </p:nvSpPr>
        <p:spPr>
          <a:xfrm>
            <a:off x="835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9243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2" name="Title 6"/>
          <p:cNvSpPr/>
          <p:nvPr/>
        </p:nvSpPr>
        <p:spPr>
          <a:xfrm>
            <a:off x="835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9243F7"/>
                </a:solidFill>
                <a:latin typeface="Barlow Black" pitchFamily="34" charset="0"/>
              </a:rPr>
              <a:t>06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6 title</a:t>
            </a:r>
          </a:p>
        </p:txBody>
      </p:sp>
      <p:sp>
        <p:nvSpPr>
          <p:cNvPr id="73" name="Desc 6"/>
          <p:cNvSpPr/>
          <p:nvPr/>
        </p:nvSpPr>
        <p:spPr>
          <a:xfrm>
            <a:off x="835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3" name="AccentBar">
            <a:extLst>
              <a:ext uri="{FF2B5EF4-FFF2-40B4-BE49-F238E27FC236}">
                <a16:creationId xmlns:a16="http://schemas.microsoft.com/office/drawing/2014/main" id="{421ADA16-F3D7-0F30-D194-DD08D071048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09BF2B5-7105-7DF7-1436-F1F52D8D4BAA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XELIX COMPANY UPDATES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74549CA-CF79-5504-C202-E624D12E7354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</p:spTree>
    <p:extLst>
      <p:ext uri="{BB962C8B-B14F-4D97-AF65-F5344CB8AC3E}">
        <p14:creationId xmlns:p14="http://schemas.microsoft.com/office/powerpoint/2010/main" val="2145944255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B290DF2E-367E-B420-CF94-752A1EDD67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4FEF118C-B7BE-F378-18EE-72ABE643DFE2}"/>
              </a:ext>
            </a:extLst>
          </p:cNvPr>
          <p:cNvSpPr/>
          <p:nvPr/>
        </p:nvSpPr>
        <p:spPr>
          <a:xfrm>
            <a:off x="466344" y="974309"/>
            <a:ext cx="598651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</a:t>
            </a: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49C89EE2-0577-6899-5736-224798BD57F5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E8335976-7CA7-7D0A-F830-EB568576290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BA2C5ED1-C093-D3B9-CB86-DD5A4EA1D580}"/>
              </a:ext>
            </a:extLst>
          </p:cNvPr>
          <p:cNvSpPr/>
          <p:nvPr/>
        </p:nvSpPr>
        <p:spPr>
          <a:xfrm>
            <a:off x="866775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4" name="Shape 2">
            <a:extLst>
              <a:ext uri="{FF2B5EF4-FFF2-40B4-BE49-F238E27FC236}">
                <a16:creationId xmlns:a16="http://schemas.microsoft.com/office/drawing/2014/main" id="{1AE82D9B-282D-758B-47A7-5CE638F74309}"/>
              </a:ext>
            </a:extLst>
          </p:cNvPr>
          <p:cNvSpPr/>
          <p:nvPr/>
        </p:nvSpPr>
        <p:spPr>
          <a:xfrm>
            <a:off x="4768850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Shape 2">
            <a:extLst>
              <a:ext uri="{FF2B5EF4-FFF2-40B4-BE49-F238E27FC236}">
                <a16:creationId xmlns:a16="http://schemas.microsoft.com/office/drawing/2014/main" id="{6F4AABA3-D081-E19F-C825-609660F9A20A}"/>
              </a:ext>
            </a:extLst>
          </p:cNvPr>
          <p:cNvSpPr/>
          <p:nvPr/>
        </p:nvSpPr>
        <p:spPr>
          <a:xfrm>
            <a:off x="8670925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8" name="Stat 1">
            <a:extLst>
              <a:ext uri="{FF2B5EF4-FFF2-40B4-BE49-F238E27FC236}">
                <a16:creationId xmlns:a16="http://schemas.microsoft.com/office/drawing/2014/main" id="{9917591D-E89E-061B-5DE1-84AA34C5C7A3}"/>
              </a:ext>
            </a:extLst>
          </p:cNvPr>
          <p:cNvSpPr/>
          <p:nvPr/>
        </p:nvSpPr>
        <p:spPr>
          <a:xfrm>
            <a:off x="871855" y="3276603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3600" b="1" dirty="0">
                <a:solidFill>
                  <a:srgbClr val="D92398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39" name="Label 1">
            <a:extLst>
              <a:ext uri="{FF2B5EF4-FFF2-40B4-BE49-F238E27FC236}">
                <a16:creationId xmlns:a16="http://schemas.microsoft.com/office/drawing/2014/main" id="{F4BD40BC-7A69-B384-44CB-6A59862BC1CF}"/>
              </a:ext>
            </a:extLst>
          </p:cNvPr>
          <p:cNvSpPr/>
          <p:nvPr/>
        </p:nvSpPr>
        <p:spPr>
          <a:xfrm>
            <a:off x="1409700" y="4387859"/>
            <a:ext cx="1568450" cy="8064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MONTHLY ACTIVE USERS</a:t>
            </a:r>
          </a:p>
        </p:txBody>
      </p:sp>
      <p:sp>
        <p:nvSpPr>
          <p:cNvPr id="41" name="Divider 1">
            <a:extLst>
              <a:ext uri="{FF2B5EF4-FFF2-40B4-BE49-F238E27FC236}">
                <a16:creationId xmlns:a16="http://schemas.microsoft.com/office/drawing/2014/main" id="{D2DE6644-3554-E24D-22D3-1DBDE7D38A6D}"/>
              </a:ext>
            </a:extLst>
          </p:cNvPr>
          <p:cNvSpPr/>
          <p:nvPr/>
        </p:nvSpPr>
        <p:spPr>
          <a:xfrm>
            <a:off x="4147820" y="3162303"/>
            <a:ext cx="25400" cy="22860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64" name="Stat 2">
            <a:extLst>
              <a:ext uri="{FF2B5EF4-FFF2-40B4-BE49-F238E27FC236}">
                <a16:creationId xmlns:a16="http://schemas.microsoft.com/office/drawing/2014/main" id="{DA0BD3D3-F2B5-584A-CA3D-96548F8F4C32}"/>
              </a:ext>
            </a:extLst>
          </p:cNvPr>
          <p:cNvSpPr/>
          <p:nvPr/>
        </p:nvSpPr>
        <p:spPr>
          <a:xfrm>
            <a:off x="4826000" y="3276603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3600" b="1" dirty="0">
                <a:solidFill>
                  <a:srgbClr val="EB3FC7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65" name="Label 2">
            <a:extLst>
              <a:ext uri="{FF2B5EF4-FFF2-40B4-BE49-F238E27FC236}">
                <a16:creationId xmlns:a16="http://schemas.microsoft.com/office/drawing/2014/main" id="{F6C7063F-3C06-2CDD-0DB4-9C3ED7291A5B}"/>
              </a:ext>
            </a:extLst>
          </p:cNvPr>
          <p:cNvSpPr/>
          <p:nvPr/>
        </p:nvSpPr>
        <p:spPr>
          <a:xfrm>
            <a:off x="5235575" y="4387859"/>
            <a:ext cx="1689100" cy="768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AVERAGE WEEKLY USERS</a:t>
            </a:r>
          </a:p>
        </p:txBody>
      </p:sp>
      <p:sp>
        <p:nvSpPr>
          <p:cNvPr id="66" name="Divider 2">
            <a:extLst>
              <a:ext uri="{FF2B5EF4-FFF2-40B4-BE49-F238E27FC236}">
                <a16:creationId xmlns:a16="http://schemas.microsoft.com/office/drawing/2014/main" id="{B97E6905-C2A7-5990-B5B1-19ECE8F17BCA}"/>
              </a:ext>
            </a:extLst>
          </p:cNvPr>
          <p:cNvSpPr/>
          <p:nvPr/>
        </p:nvSpPr>
        <p:spPr>
          <a:xfrm>
            <a:off x="8021637" y="3213106"/>
            <a:ext cx="25400" cy="22860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67" name="Stat 3">
            <a:extLst>
              <a:ext uri="{FF2B5EF4-FFF2-40B4-BE49-F238E27FC236}">
                <a16:creationId xmlns:a16="http://schemas.microsoft.com/office/drawing/2014/main" id="{4D74EA87-2061-81DE-7C73-BE44884BD50B}"/>
              </a:ext>
            </a:extLst>
          </p:cNvPr>
          <p:cNvSpPr/>
          <p:nvPr/>
        </p:nvSpPr>
        <p:spPr>
          <a:xfrm>
            <a:off x="8728075" y="3276600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3600" b="1" dirty="0">
                <a:solidFill>
                  <a:srgbClr val="9242F7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68" name="Label 3">
            <a:extLst>
              <a:ext uri="{FF2B5EF4-FFF2-40B4-BE49-F238E27FC236}">
                <a16:creationId xmlns:a16="http://schemas.microsoft.com/office/drawing/2014/main" id="{BACDA852-9078-2D97-9712-E26A34575BB8}"/>
              </a:ext>
            </a:extLst>
          </p:cNvPr>
          <p:cNvSpPr/>
          <p:nvPr/>
        </p:nvSpPr>
        <p:spPr>
          <a:xfrm>
            <a:off x="9321800" y="4387856"/>
            <a:ext cx="1352550" cy="889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MOST ACTIVE MODULE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DUPLICATES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AHEAD OF PAYRUN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AHEAD OF PAYRUN 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INVOICE ERRORS AHEAD OF PAYRUN</a:t>
            </a:r>
          </a:p>
        </p:txBody>
      </p:sp>
      <p:sp>
        <p:nvSpPr>
          <p:cNvPr id="20" name="Shape 18"/>
          <p:cNvSpPr/>
          <p:nvPr/>
        </p:nvSpPr>
        <p:spPr>
          <a:xfrm>
            <a:off x="43815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45593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23" name="Text 21"/>
          <p:cNvSpPr/>
          <p:nvPr/>
        </p:nvSpPr>
        <p:spPr>
          <a:xfrm>
            <a:off x="44958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COMMON ERROR TYPE</a:t>
            </a:r>
          </a:p>
        </p:txBody>
      </p:sp>
      <p:sp>
        <p:nvSpPr>
          <p:cNvPr id="24" name="Shape 22"/>
          <p:cNvSpPr/>
          <p:nvPr/>
        </p:nvSpPr>
        <p:spPr>
          <a:xfrm>
            <a:off x="81661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83439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27" name="Text 25"/>
          <p:cNvSpPr/>
          <p:nvPr/>
        </p:nvSpPr>
        <p:spPr>
          <a:xfrm>
            <a:off x="82804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TRANSACTIONS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TRANSACTIONS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48D894-E957-EF40-BB72-59DB6FA72BB7}"/>
              </a:ext>
            </a:extLst>
          </p:cNvPr>
          <p:cNvSpPr/>
          <p:nvPr/>
        </p:nvSpPr>
        <p:spPr>
          <a:xfrm>
            <a:off x="43815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7F5C5B-74DA-8C4F-82C4-1510F97D14C0}"/>
              </a:ext>
            </a:extLst>
          </p:cNvPr>
          <p:cNvSpPr/>
          <p:nvPr/>
        </p:nvSpPr>
        <p:spPr>
          <a:xfrm>
            <a:off x="81661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4965A-CCBF-15CE-4412-F06470ADC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AccentBar">
            <a:extLst>
              <a:ext uri="{FF2B5EF4-FFF2-40B4-BE49-F238E27FC236}">
                <a16:creationId xmlns:a16="http://schemas.microsoft.com/office/drawing/2014/main" id="{069E8B05-DD3B-2E86-3A9D-EADB2E9BB7E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B4E62095-C337-6022-6CDA-DBECE14ABDF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HELPDESK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E168C1-3865-63D9-AF93-0868089C2056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BD966196-4537-CF70-C6FA-4E1430CD7E72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0653CECF-EE45-EC1E-7A21-885F32228378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  <a:endParaRPr lang="en-US" sz="56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23DDEBC0-D71F-BE68-6162-18E2C792C696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 HANDLING TIME</a:t>
            </a:r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424E9895-2D29-7DC5-C957-A3550026BC82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D3C47EDB-7CF3-6AC5-6015-60AA22385CB5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X%</a:t>
            </a:r>
            <a:endParaRPr lang="en-US" sz="5600" dirty="0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7D64F97F-E2E8-C541-B88E-01A86F97B755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 HANDLING TIME DECREASE</a:t>
            </a:r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D35BB20E-72C5-CB56-20B4-3DCA94FBA91C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BB84ED05-738D-BAA8-8AFF-15869F05A03A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38" name="Text 13">
            <a:extLst>
              <a:ext uri="{FF2B5EF4-FFF2-40B4-BE49-F238E27FC236}">
                <a16:creationId xmlns:a16="http://schemas.microsoft.com/office/drawing/2014/main" id="{AB8369B7-D429-DC10-EE5F-B32C0B26521C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RESPONDED USING GEN AI</a:t>
            </a:r>
          </a:p>
        </p:txBody>
      </p:sp>
      <p:sp>
        <p:nvSpPr>
          <p:cNvPr id="39" name="Shape 14">
            <a:extLst>
              <a:ext uri="{FF2B5EF4-FFF2-40B4-BE49-F238E27FC236}">
                <a16:creationId xmlns:a16="http://schemas.microsoft.com/office/drawing/2014/main" id="{D730D335-C980-09B8-67E5-9A094940AC5A}"/>
              </a:ext>
            </a:extLst>
          </p:cNvPr>
          <p:cNvSpPr/>
          <p:nvPr/>
        </p:nvSpPr>
        <p:spPr>
          <a:xfrm>
            <a:off x="2171701" y="4235460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2A1BD334-CFB1-747D-24F2-DB8355F4E9E4}"/>
              </a:ext>
            </a:extLst>
          </p:cNvPr>
          <p:cNvSpPr/>
          <p:nvPr/>
        </p:nvSpPr>
        <p:spPr>
          <a:xfrm>
            <a:off x="2349501" y="4425960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41" name="Text 17">
            <a:extLst>
              <a:ext uri="{FF2B5EF4-FFF2-40B4-BE49-F238E27FC236}">
                <a16:creationId xmlns:a16="http://schemas.microsoft.com/office/drawing/2014/main" id="{4D191E37-73A9-6B2A-011C-3BB9518B639A}"/>
              </a:ext>
            </a:extLst>
          </p:cNvPr>
          <p:cNvSpPr/>
          <p:nvPr/>
        </p:nvSpPr>
        <p:spPr>
          <a:xfrm>
            <a:off x="2286001" y="5492760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RESPONDED USING TRIGGERS</a:t>
            </a:r>
          </a:p>
        </p:txBody>
      </p:sp>
      <p:sp>
        <p:nvSpPr>
          <p:cNvPr id="45" name="Shape 22">
            <a:extLst>
              <a:ext uri="{FF2B5EF4-FFF2-40B4-BE49-F238E27FC236}">
                <a16:creationId xmlns:a16="http://schemas.microsoft.com/office/drawing/2014/main" id="{1376A49D-2CE0-8A61-F9FD-F0B19D48036C}"/>
              </a:ext>
            </a:extLst>
          </p:cNvPr>
          <p:cNvSpPr/>
          <p:nvPr/>
        </p:nvSpPr>
        <p:spPr>
          <a:xfrm>
            <a:off x="6540500" y="4149698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6" name="Text 24">
            <a:extLst>
              <a:ext uri="{FF2B5EF4-FFF2-40B4-BE49-F238E27FC236}">
                <a16:creationId xmlns:a16="http://schemas.microsoft.com/office/drawing/2014/main" id="{379F2A2A-A7DE-5852-8C57-82A62DF8FC80}"/>
              </a:ext>
            </a:extLst>
          </p:cNvPr>
          <p:cNvSpPr/>
          <p:nvPr/>
        </p:nvSpPr>
        <p:spPr>
          <a:xfrm>
            <a:off x="6718300" y="4340198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47" name="Text 25">
            <a:extLst>
              <a:ext uri="{FF2B5EF4-FFF2-40B4-BE49-F238E27FC236}">
                <a16:creationId xmlns:a16="http://schemas.microsoft.com/office/drawing/2014/main" id="{CBD5AD03-05D8-E499-4526-60FFC598F32F}"/>
              </a:ext>
            </a:extLst>
          </p:cNvPr>
          <p:cNvSpPr/>
          <p:nvPr/>
        </p:nvSpPr>
        <p:spPr>
          <a:xfrm>
            <a:off x="6654800" y="5406998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HELPDESK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B89151E-54DE-50D2-6215-7291CA3DF9D7}"/>
              </a:ext>
            </a:extLst>
          </p:cNvPr>
          <p:cNvSpPr/>
          <p:nvPr/>
        </p:nvSpPr>
        <p:spPr>
          <a:xfrm>
            <a:off x="2171701" y="4235460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5855915-B2BA-FE37-0AFA-E5143F5B93CB}"/>
              </a:ext>
            </a:extLst>
          </p:cNvPr>
          <p:cNvSpPr/>
          <p:nvPr/>
        </p:nvSpPr>
        <p:spPr>
          <a:xfrm>
            <a:off x="6540500" y="4149698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A2F0360-C345-E121-439B-749F5F13235E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BEB785-281A-555A-E92A-3F0D54A59454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D5E814-C7E4-C97F-F2FC-B9C825216AA7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632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210AD-10C9-D271-DDD4-13060748A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C2ADBEAF-24BB-3731-53AB-1489FD99CD13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5DD91F1-0545-4313-6FF9-EBAD1D9A9601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25DD708-F4B3-428B-4374-529DEEDE5E82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E084EAF-050A-FB10-10B2-2308179F882A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08D0E67-EAE0-70E4-CE1E-BCE2267C465C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X%</a:t>
            </a:r>
            <a:endParaRPr lang="en-US" sz="56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1FD2CC-86F7-B89F-CBDC-D551EBB5E1F0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INVOICES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00E6E5C-51B8-4D50-4932-A4613F89A80B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A6CAAFB-BBD2-7860-AD5E-B4E7AC00FE7B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F1A2C01-FF86-EF25-0753-4F3A1FC21B31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VENDORS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CDD69931-E8E6-839B-D8E9-574F5704EC80}"/>
              </a:ext>
            </a:extLst>
          </p:cNvPr>
          <p:cNvSpPr/>
          <p:nvPr/>
        </p:nvSpPr>
        <p:spPr>
          <a:xfrm>
            <a:off x="6096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8DCA8EC-1B90-8B47-4C3B-EF997BF0031D}"/>
              </a:ext>
            </a:extLst>
          </p:cNvPr>
          <p:cNvSpPr/>
          <p:nvPr/>
        </p:nvSpPr>
        <p:spPr>
          <a:xfrm>
            <a:off x="7366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819E5B4-B247-964D-77F4-2FD9858B863D}"/>
              </a:ext>
            </a:extLst>
          </p:cNvPr>
          <p:cNvSpPr/>
          <p:nvPr/>
        </p:nvSpPr>
        <p:spPr>
          <a:xfrm>
            <a:off x="6985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RECONCILED</a:t>
            </a: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F251D7EF-1486-907D-8931-4D913FD77419}"/>
              </a:ext>
            </a:extLst>
          </p:cNvPr>
          <p:cNvSpPr/>
          <p:nvPr/>
        </p:nvSpPr>
        <p:spPr>
          <a:xfrm>
            <a:off x="34417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77C090CE-C5D1-1EE0-94FC-938360954E3C}"/>
              </a:ext>
            </a:extLst>
          </p:cNvPr>
          <p:cNvSpPr/>
          <p:nvPr/>
        </p:nvSpPr>
        <p:spPr>
          <a:xfrm>
            <a:off x="35687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340CC8B-D2DF-243F-83D4-F10A3F541920}"/>
              </a:ext>
            </a:extLst>
          </p:cNvPr>
          <p:cNvSpPr/>
          <p:nvPr/>
        </p:nvSpPr>
        <p:spPr>
          <a:xfrm>
            <a:off x="35306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 NOTES RECOVERED</a:t>
            </a: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F10AF9F8-6AB5-7059-79D5-5090BCDAE97E}"/>
              </a:ext>
            </a:extLst>
          </p:cNvPr>
          <p:cNvSpPr/>
          <p:nvPr/>
        </p:nvSpPr>
        <p:spPr>
          <a:xfrm>
            <a:off x="62738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F506F716-7721-A3DF-F2C3-8CBDF625162B}"/>
              </a:ext>
            </a:extLst>
          </p:cNvPr>
          <p:cNvSpPr/>
          <p:nvPr/>
        </p:nvSpPr>
        <p:spPr>
          <a:xfrm>
            <a:off x="64008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E2B5F38-44DF-B2EB-E990-7AD734EA01C8}"/>
              </a:ext>
            </a:extLst>
          </p:cNvPr>
          <p:cNvSpPr/>
          <p:nvPr/>
        </p:nvSpPr>
        <p:spPr>
          <a:xfrm>
            <a:off x="63627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ARE AUTOMATED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DD32A8EF-83C1-2A03-5577-855B706D276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631F8DA0-8FCA-53F6-A20D-621F2E8D8680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STATEMENTS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C0458F6-3B27-975F-D8B3-3F76BED93E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05F1E6B-854A-463D-45FD-91F9E28ED785}"/>
              </a:ext>
            </a:extLst>
          </p:cNvPr>
          <p:cNvSpPr/>
          <p:nvPr/>
        </p:nvSpPr>
        <p:spPr>
          <a:xfrm>
            <a:off x="6096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581BB70-DEFE-0033-3B69-DD7A421B411A}"/>
              </a:ext>
            </a:extLst>
          </p:cNvPr>
          <p:cNvSpPr/>
          <p:nvPr/>
        </p:nvSpPr>
        <p:spPr>
          <a:xfrm>
            <a:off x="34417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09F046-428B-19AD-015F-8E0F7F506B33}"/>
              </a:ext>
            </a:extLst>
          </p:cNvPr>
          <p:cNvSpPr/>
          <p:nvPr/>
        </p:nvSpPr>
        <p:spPr>
          <a:xfrm>
            <a:off x="62738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0CBE9C3-0732-EC11-F6CC-334765B4FDA1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0B1993-88CE-4648-32CE-BC9A0ADBC97E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5BC639-1469-7652-9CBA-671A901D31BE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Shape 22">
            <a:extLst>
              <a:ext uri="{FF2B5EF4-FFF2-40B4-BE49-F238E27FC236}">
                <a16:creationId xmlns:a16="http://schemas.microsoft.com/office/drawing/2014/main" id="{98E25BDA-42CA-D44C-6410-4336677B6DD7}"/>
              </a:ext>
            </a:extLst>
          </p:cNvPr>
          <p:cNvSpPr/>
          <p:nvPr/>
        </p:nvSpPr>
        <p:spPr>
          <a:xfrm>
            <a:off x="91059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24">
            <a:extLst>
              <a:ext uri="{FF2B5EF4-FFF2-40B4-BE49-F238E27FC236}">
                <a16:creationId xmlns:a16="http://schemas.microsoft.com/office/drawing/2014/main" id="{69AF77E8-780C-C21A-32A0-A89A93453640}"/>
              </a:ext>
            </a:extLst>
          </p:cNvPr>
          <p:cNvSpPr/>
          <p:nvPr/>
        </p:nvSpPr>
        <p:spPr>
          <a:xfrm>
            <a:off x="92329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3" name="Text 25">
            <a:extLst>
              <a:ext uri="{FF2B5EF4-FFF2-40B4-BE49-F238E27FC236}">
                <a16:creationId xmlns:a16="http://schemas.microsoft.com/office/drawing/2014/main" id="{F8F53E0B-B3FD-B3D8-CC2B-9D5BB27C789E}"/>
              </a:ext>
            </a:extLst>
          </p:cNvPr>
          <p:cNvSpPr/>
          <p:nvPr/>
        </p:nvSpPr>
        <p:spPr>
          <a:xfrm>
            <a:off x="91948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STATEMENTS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4748C08-D21E-54F5-4760-0C02C48064CC}"/>
              </a:ext>
            </a:extLst>
          </p:cNvPr>
          <p:cNvSpPr/>
          <p:nvPr/>
        </p:nvSpPr>
        <p:spPr>
          <a:xfrm>
            <a:off x="91059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607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9405F-00DA-2BB4-4EBD-CCAF15751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12EB5C9-9A54-7E9C-5CD3-999886944CBF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1DCBFB86-C87D-63A6-E9CD-B716D6A6E9F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3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CCC27E9D-43BB-0723-1FCC-07775921E6FE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A71E5F34-B544-A660-CD92-8F48429774CA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2081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831E626-26D1-564B-9D54-74B41E4CCF32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503B65-82AC-544F-8D55-D4C2A66449B6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7A3292-CF3A-DF4F-8819-29B2412643B0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C066808-40D6-5F4D-8BCA-55427C062C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8851978"/>
              </p:ext>
            </p:extLst>
          </p:nvPr>
        </p:nvGraphicFramePr>
        <p:xfrm>
          <a:off x="508000" y="1820564"/>
          <a:ext cx="11176000" cy="4407714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62259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57023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Increase Statement reconciliation coverage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Reduction in audit resource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Prevented in overpayments in first year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More cost effective than recovery audit firm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757023">
                <a:tc rowSpan="2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Improve payment 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FFFFFF"/>
                          </a:solidFill>
                          <a:latin typeface="Barlow"/>
                        </a:rPr>
                        <a:t>Value of duplicates recovered from Xelix historical audit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FFFFFF"/>
                          </a:solidFill>
                          <a:latin typeface="Barlow"/>
                        </a:rPr>
                        <a:t>Value of invoice errors recovered from Xelix historic audit (Amount, Tax &amp; Vendor)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05373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5387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B6F39C-4AF5-1FE3-DBAE-30F5E2970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2452E1BF-1496-95FC-C73C-B408A58F2F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DC449698-1CFF-002E-6567-4BEBE4E0E8B0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1F228464-9FB5-5E8E-B151-EA736E346D2E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F70AE16A-8368-6A59-472B-65121BFCA33C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1FEF0EEB-65AD-DD0C-98D3-8A33448736C1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Year-to-date figures indicate an increase in duplicate invoices</a:t>
            </a:r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94596FE6-59FE-FB07-34DD-16BA7B4CE6CA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" name="Text 16">
            <a:extLst>
              <a:ext uri="{FF2B5EF4-FFF2-40B4-BE49-F238E27FC236}">
                <a16:creationId xmlns:a16="http://schemas.microsoft.com/office/drawing/2014/main" id="{D7A04962-C5B7-82BC-DEA5-D38F01FA57B5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66A4B74B-428A-CE1D-D12D-2F2792216359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 invoices confirmed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674A3-594B-4B06-B2C2-E44BCA83B670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131CF4AC-4FC6-D1A8-1370-4109B8D343E7}"/>
              </a:ext>
            </a:extLst>
          </p:cNvPr>
          <p:cNvSpPr/>
          <p:nvPr/>
        </p:nvSpPr>
        <p:spPr>
          <a:xfrm>
            <a:off x="7924800" y="443878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2E84C068-5B30-4181-A407-7AA164CF89DF}"/>
              </a:ext>
            </a:extLst>
          </p:cNvPr>
          <p:cNvSpPr/>
          <p:nvPr/>
        </p:nvSpPr>
        <p:spPr>
          <a:xfrm>
            <a:off x="8051800" y="454038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5AFBE7B8-9868-CAD0-61D8-0158C8194574}"/>
              </a:ext>
            </a:extLst>
          </p:cNvPr>
          <p:cNvSpPr/>
          <p:nvPr/>
        </p:nvSpPr>
        <p:spPr>
          <a:xfrm>
            <a:off x="8013700" y="503490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Worth of duplicate invoices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2B7D58-181F-19DC-FAF3-312B4F3A2C17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28BC7A0-CAFB-30BD-38B5-1892DB2F37E6}"/>
              </a:ext>
            </a:extLst>
          </p:cNvPr>
          <p:cNvSpPr/>
          <p:nvPr/>
        </p:nvSpPr>
        <p:spPr>
          <a:xfrm>
            <a:off x="7924800" y="551180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AC9319FA-9F23-A92F-6705-11708CF52E3E}"/>
              </a:ext>
            </a:extLst>
          </p:cNvPr>
          <p:cNvSpPr/>
          <p:nvPr/>
        </p:nvSpPr>
        <p:spPr>
          <a:xfrm>
            <a:off x="8051800" y="561340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B7EC63E9-01C7-7826-5755-424C31B567BE}"/>
              </a:ext>
            </a:extLst>
          </p:cNvPr>
          <p:cNvSpPr/>
          <p:nvPr/>
        </p:nvSpPr>
        <p:spPr>
          <a:xfrm>
            <a:off x="8013700" y="610792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Increase from last quarter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A3BAED-A622-4C22-7F65-716BE6FFF0BB}"/>
              </a:ext>
            </a:extLst>
          </p:cNvPr>
          <p:cNvSpPr/>
          <p:nvPr/>
        </p:nvSpPr>
        <p:spPr>
          <a:xfrm>
            <a:off x="7924800" y="551180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6865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/>
          <p:cNvSpPr/>
          <p:nvPr/>
        </p:nvSpPr>
        <p:spPr>
          <a:xfrm>
            <a:off x="508000" y="702452"/>
            <a:ext cx="11176000" cy="445163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/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/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the root causes behind duplicate invoices</a:t>
            </a:r>
          </a:p>
        </p:txBody>
      </p:sp>
    </p:spTree>
    <p:extLst>
      <p:ext uri="{BB962C8B-B14F-4D97-AF65-F5344CB8AC3E}">
        <p14:creationId xmlns:p14="http://schemas.microsoft.com/office/powerpoint/2010/main" val="9695665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E810C1-DC7B-59E1-500B-958019E2A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5B77AA1-887D-107E-F782-F3F984A62A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22CFFFB2-2DA8-1BA5-3DB5-37BA03D8BD4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78226F9F-7C44-CB4B-0941-5792081F6EDB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F06DA6D-30F1-4018-ECE5-2DC095819F5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CaptionTitle">
            <a:extLst>
              <a:ext uri="{FF2B5EF4-FFF2-40B4-BE49-F238E27FC236}">
                <a16:creationId xmlns:a16="http://schemas.microsoft.com/office/drawing/2014/main" id="{4F702680-3963-9C93-8519-157C4152DF5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 detected ahead of the payment run</a:t>
            </a: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7AC28A3-39C0-8B0D-C68B-9154F9522B57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 Payment, correction done before the payment run</a:t>
            </a:r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F3BC1206-299D-05B3-CFE9-5DA2772AB545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2FB96265-2F85-CB49-12CD-6C32AF1BEEFD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 RECOVERED </a:t>
            </a: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31532782-15C4-089A-EB04-AD1DC0C6A367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Post Payment, recovered</a:t>
            </a:r>
          </a:p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the payment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9B3473A-4FC2-5DC5-B5E0-A1FA37B635C7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Shape 14">
            <a:extLst>
              <a:ext uri="{FF2B5EF4-FFF2-40B4-BE49-F238E27FC236}">
                <a16:creationId xmlns:a16="http://schemas.microsoft.com/office/drawing/2014/main" id="{7EAB9FE3-BD5B-1A6D-194A-E55071BAE569}"/>
              </a:ext>
            </a:extLst>
          </p:cNvPr>
          <p:cNvSpPr/>
          <p:nvPr/>
        </p:nvSpPr>
        <p:spPr>
          <a:xfrm>
            <a:off x="7924800" y="2885781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C46DC005-CB8B-58A7-8633-ACB67ACD8FED}"/>
              </a:ext>
            </a:extLst>
          </p:cNvPr>
          <p:cNvSpPr/>
          <p:nvPr/>
        </p:nvSpPr>
        <p:spPr>
          <a:xfrm>
            <a:off x="8051800" y="3024702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 CORRECTED 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A3A4092-8006-70C7-938C-7A753846B3BD}"/>
              </a:ext>
            </a:extLst>
          </p:cNvPr>
          <p:cNvSpPr/>
          <p:nvPr/>
        </p:nvSpPr>
        <p:spPr>
          <a:xfrm>
            <a:off x="7924800" y="2885780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3000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1ED23B-F103-4EBE-AAA8-7CF5D7A56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BE648C6-EB7E-738C-9130-B7E12B0B90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1D20EBA3-E6C3-48B6-294A-57A61F51331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300C2314-3CE0-B5F2-432F-D93B4E5E1FDC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B883780B-517D-0612-4C70-41AFBC7A914B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5D1EFD21-0978-03CE-6BA4-49854F90FED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Small increase in confirmed errors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07328B3E-178C-A5A2-B1F9-8E612042442A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80CFBC30-605D-9276-252D-5675AA3A168B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132644D4-B84E-6E8D-70E5-5514E0D3208D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Invoice errors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C99C1B-A451-2062-B36E-F97AFC4100F8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5642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A9D5-EF6B-6098-6775-A0ED21CB1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820C5580-E108-0ED3-3830-CA56C1E62C6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A4CE9B54-2368-A938-EE3D-EB4B1680A2C3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82582A55-3FFD-A5E8-63BE-9F37CA7F970F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1A7CA05A-FDF3-E862-B38B-B05788EA84EC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70D0411C-B353-5F55-E2C1-9C94B0659DB9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046D4653-B120-FF41-9C8C-600DCE96430C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invoice error types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C8AF35D9-D9C6-93B9-5C3F-3347760006AE}"/>
              </a:ext>
            </a:extLst>
          </p:cNvPr>
          <p:cNvSpPr/>
          <p:nvPr/>
        </p:nvSpPr>
        <p:spPr>
          <a:xfrm>
            <a:off x="6178938" y="5878315"/>
            <a:ext cx="424007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16F03190-B7ED-B6BD-2941-1F0669FDD2E5}"/>
              </a:ext>
            </a:extLst>
          </p:cNvPr>
          <p:cNvSpPr/>
          <p:nvPr/>
        </p:nvSpPr>
        <p:spPr>
          <a:xfrm>
            <a:off x="6293595" y="6086990"/>
            <a:ext cx="3957987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root causes behind invoice errors</a:t>
            </a:r>
          </a:p>
        </p:txBody>
      </p:sp>
    </p:spTree>
    <p:extLst>
      <p:ext uri="{BB962C8B-B14F-4D97-AF65-F5344CB8AC3E}">
        <p14:creationId xmlns:p14="http://schemas.microsoft.com/office/powerpoint/2010/main" val="21990561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B1798E-4E96-C8F7-CC4B-A02D2E93A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13B74ACC-811F-C0E9-55C0-DF1D9F454C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5BD07379-0530-7950-2234-BDEBA0B7B627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TRANSACTIONS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11898460-2D84-8583-DDAC-CE2E5E5C5CA5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B0B10EA9-B6FD-ED3D-8655-8D6103FDECD6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anchor="t">
            <a:normAutofit/>
          </a:bodyPr>
          <a:lstStyle/>
          <a:p>
            <a:r>
              <a:rPr lang="en-GB" sz="1400" dirty="0">
                <a:solidFill>
                  <a:srgbClr val="FFFFFF"/>
                </a:solidFill>
                <a:latin typeface="Barlow"/>
              </a:rPr>
              <a:t>SUMMARY_PLACEHOLDER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83E926C3-00C1-CA86-6AC2-DBBA3C4B9C7D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476865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1749-43F5-CED5-3407-D20A850D9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0DEC32F-1A7C-0D54-4687-C1583E08DB7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89668B59-70D2-E063-5AED-8BC2D7F8837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4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7BB18BFD-C1F8-3426-5394-15DC81081ACD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6969ECF1-1CFA-FD48-F6F7-CF8348A02261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9868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EDCFCE15-2183-78FB-E611-22A602D61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37B400-5E5F-45F8-8CD2-5E7BAE1092C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C7A67-DAC3-808C-5A9C-ED0425D70209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077EA8-2128-F4AE-E0E2-10700BD292AD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2D2EF58-98DB-B788-498D-49A54A67DD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9442829"/>
              </p:ext>
            </p:extLst>
          </p:nvPr>
        </p:nvGraphicFramePr>
        <p:xfrm>
          <a:off x="508000" y="1820564"/>
          <a:ext cx="11176000" cy="457864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551947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671117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Increase Statement reconciliation coverage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spend being reconciled on a monthly/quarterly/annual basis </a:t>
                      </a:r>
                      <a:endParaRPr lang="en-US" sz="1400" b="1" dirty="0">
                        <a:solidFill>
                          <a:schemeClr val="lt1"/>
                        </a:solidFill>
                        <a:latin typeface="Barlow ExtraBold"/>
                        <a:ea typeface="Barlow ExtraBold"/>
                        <a:cs typeface="Barlow ExtraBold"/>
                        <a:sym typeface="Barlow ExtraBold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vendors / top vendors being reconciled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invoices being reconciled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671117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Improve payment 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Value of missing invoices identified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Vol of missing invoices identified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56314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Reduction in late payments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05373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34765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0587A3-0DB4-266C-1F2B-C98C5B538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84D3AD54-1A17-D334-6028-E502CC7AC5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028BF0E1-14A0-384B-2E5E-C6C64A876D6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79565921-9663-04B4-EC64-D9F99001CA0B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3360A132-0472-8BFA-E5A3-1E4AB73E20BF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2AF4B5C-818F-BFD5-CAC2-637628A5722F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Month-on-month growth in reconciliations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590C7543-95A5-B80E-AD3F-B1CA0A796A00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D813804C-3F57-FDFA-7C7B-E8648FDC48F0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E3621AD1-3D55-13E7-F9B3-484056CFB025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credits received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2104FB-4DE7-F768-4858-DDD4B597B865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Shape 14">
            <a:extLst>
              <a:ext uri="{FF2B5EF4-FFF2-40B4-BE49-F238E27FC236}">
                <a16:creationId xmlns:a16="http://schemas.microsoft.com/office/drawing/2014/main" id="{F6BABC59-CF1E-D61B-7353-85A9C960FA50}"/>
              </a:ext>
            </a:extLst>
          </p:cNvPr>
          <p:cNvSpPr/>
          <p:nvPr/>
        </p:nvSpPr>
        <p:spPr>
          <a:xfrm>
            <a:off x="7924800" y="4438780"/>
            <a:ext cx="3759200" cy="187234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Text 16">
            <a:extLst>
              <a:ext uri="{FF2B5EF4-FFF2-40B4-BE49-F238E27FC236}">
                <a16:creationId xmlns:a16="http://schemas.microsoft.com/office/drawing/2014/main" id="{A1B7DD2F-AC5C-F0BC-6B91-5A4750475C3B}"/>
              </a:ext>
            </a:extLst>
          </p:cNvPr>
          <p:cNvSpPr/>
          <p:nvPr/>
        </p:nvSpPr>
        <p:spPr>
          <a:xfrm>
            <a:off x="8051800" y="4577702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AB2B6ADB-DCF8-108E-144E-F169E1983E38}"/>
              </a:ext>
            </a:extLst>
          </p:cNvPr>
          <p:cNvSpPr/>
          <p:nvPr/>
        </p:nvSpPr>
        <p:spPr>
          <a:xfrm>
            <a:off x="8013700" y="5072224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Vendors represent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DFE9FE3-2109-BEA8-821F-9566E9A7464E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BE5342F6-09B3-70F7-CF1C-1EFA780D1BAF}"/>
              </a:ext>
            </a:extLst>
          </p:cNvPr>
          <p:cNvSpPr/>
          <p:nvPr/>
        </p:nvSpPr>
        <p:spPr>
          <a:xfrm>
            <a:off x="8051800" y="5370807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C2CA9B0E-B20E-A5EC-5341-A78A7C3C618B}"/>
              </a:ext>
            </a:extLst>
          </p:cNvPr>
          <p:cNvSpPr/>
          <p:nvPr/>
        </p:nvSpPr>
        <p:spPr>
          <a:xfrm>
            <a:off x="8013700" y="5977295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</a:t>
            </a:r>
          </a:p>
        </p:txBody>
      </p:sp>
    </p:spTree>
    <p:extLst>
      <p:ext uri="{BB962C8B-B14F-4D97-AF65-F5344CB8AC3E}">
        <p14:creationId xmlns:p14="http://schemas.microsoft.com/office/powerpoint/2010/main" val="4916185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0C2AC-FB5C-292D-A14A-7013B71CB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564476A-EDB6-B4EE-2233-F4D36322351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64DCF810-B4C4-2E7C-6902-077AAF733741}"/>
              </a:ext>
            </a:extLst>
          </p:cNvPr>
          <p:cNvSpPr/>
          <p:nvPr/>
        </p:nvSpPr>
        <p:spPr>
          <a:xfrm>
            <a:off x="508000" y="702452"/>
            <a:ext cx="11176000" cy="445163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6DF01D9-7159-C31E-68FD-CA95ADB9BA6E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B1DD0184-3926-5219-BCCD-771984E9181D}"/>
              </a:ext>
            </a:extLst>
          </p:cNvPr>
          <p:cNvSpPr/>
          <p:nvPr/>
        </p:nvSpPr>
        <p:spPr>
          <a:xfrm>
            <a:off x="507999" y="5790142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reconciliation performance compares across the X landscape</a:t>
            </a:r>
          </a:p>
        </p:txBody>
      </p:sp>
    </p:spTree>
    <p:extLst>
      <p:ext uri="{BB962C8B-B14F-4D97-AF65-F5344CB8AC3E}">
        <p14:creationId xmlns:p14="http://schemas.microsoft.com/office/powerpoint/2010/main" val="3353658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0B7C19-CF6A-BC36-C5A9-6C383703A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6DF9B22-2059-4412-3565-0C132B8099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4A5EE829-C67C-5965-4ECF-B505B76050D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A7E85D8-0EB1-B27D-181B-AF91D4911463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FECFF27F-467F-AD87-C686-50387FC2919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92C7B301-0652-88E9-BA5C-248827F6AA1D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Reconciliation coverage across total invoice volume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E740144-E41D-5BCC-F32E-A063AB00154F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66BC967F-7E3D-4313-48F6-3236BF650D90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BBA3554B-103E-D5AB-10E3-CD994D638EF7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5A3BD2-0380-6D95-8E91-5ED366AE940E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9839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18FE8-378E-76C2-CE68-1D23DB7F4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5E4E6AF0-CBEC-B703-2C5F-64D2E759E6B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73831BC-CFA0-1456-BAC6-E3120F0B4267}"/>
              </a:ext>
            </a:extLst>
          </p:cNvPr>
          <p:cNvSpPr/>
          <p:nvPr/>
        </p:nvSpPr>
        <p:spPr>
          <a:xfrm>
            <a:off x="507999" y="1977483"/>
            <a:ext cx="5426269" cy="368192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D457A4CF-31BD-8132-3408-E4BD79EAEE52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E8CD6915-9BB8-2800-A578-9AA9E19C89C1}"/>
              </a:ext>
            </a:extLst>
          </p:cNvPr>
          <p:cNvSpPr/>
          <p:nvPr/>
        </p:nvSpPr>
        <p:spPr>
          <a:xfrm>
            <a:off x="507999" y="732755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reconciliation automation has evolved in 2025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CA40C7F9-53CD-1DBC-6F69-69D2DA6BCB14}"/>
              </a:ext>
            </a:extLst>
          </p:cNvPr>
          <p:cNvSpPr/>
          <p:nvPr/>
        </p:nvSpPr>
        <p:spPr>
          <a:xfrm>
            <a:off x="6178938" y="1977483"/>
            <a:ext cx="5426269" cy="368192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15D05220-7946-E542-5187-55EE046D24B9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01F624A-DE7A-E554-D130-5BD8B2358676}"/>
              </a:ext>
            </a:extLst>
          </p:cNvPr>
          <p:cNvSpPr/>
          <p:nvPr/>
        </p:nvSpPr>
        <p:spPr>
          <a:xfrm>
            <a:off x="596899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Data from previous EBR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2D8BABB5-5FA2-613C-D288-9CD2EA38341D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A2F9C11B-21C7-D97E-59D0-6C546B156704}"/>
              </a:ext>
            </a:extLst>
          </p:cNvPr>
          <p:cNvSpPr/>
          <p:nvPr/>
        </p:nvSpPr>
        <p:spPr>
          <a:xfrm>
            <a:off x="6267838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 Automation Now</a:t>
            </a:r>
          </a:p>
        </p:txBody>
      </p:sp>
    </p:spTree>
    <p:extLst>
      <p:ext uri="{BB962C8B-B14F-4D97-AF65-F5344CB8AC3E}">
        <p14:creationId xmlns:p14="http://schemas.microsoft.com/office/powerpoint/2010/main" val="22994424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51AF34-E3CA-62CD-FAE7-71D054EB0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67211E7-D0C9-5941-E199-55B4A221D3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FFCBC0EE-27B9-88FC-CF4A-5954470B6D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STATEMENTS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A2E73441-C551-EC2B-C473-4D50D125C41F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5F0C0FEE-4467-BBF5-D331-4AA4E961DADF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anchor="t">
            <a:normAutofit/>
          </a:bodyPr>
          <a:lstStyle/>
          <a:p>
            <a:r>
              <a:rPr lang="en-GB" sz="1400" dirty="0">
                <a:solidFill>
                  <a:srgbClr val="FFFFFF"/>
                </a:solidFill>
                <a:latin typeface="Barlow"/>
              </a:rPr>
              <a:t>SUMMARY_PLACEHOLDER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2AC76DFC-1317-BCB5-F5F1-CC2D95F4372A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8743842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3528E-74C4-BA8E-6CE7-6699E88D6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191D3A21-C438-A795-09EA-2F9B5CA918C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CB158DDC-BC7E-BF56-547A-4C217BC84413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5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96EA724C-411F-ADE9-AD2A-D37E92F5043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85A4AFD3-DD50-F271-13BF-82AFB116825B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7581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FDB3826F-88B1-6D53-52C1-77E11E793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D2C1BFB-5852-9E17-512B-3CE0A51C6397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3CD4DF-23A5-7360-88DC-3440496FB65B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68091-3EA3-3FA5-10CE-C7611DA673EF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3CB936C-2747-786A-8209-B15F75180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7467265"/>
              </p:ext>
            </p:extLst>
          </p:nvPr>
        </p:nvGraphicFramePr>
        <p:xfrm>
          <a:off x="508000" y="1820564"/>
          <a:ext cx="11176000" cy="427185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 rowSpan="3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dirty="0">
                          <a:solidFill>
                            <a:schemeClr val="lt1"/>
                          </a:solidFill>
                          <a:latin typeface="Barlow ExtraBold"/>
                          <a:ea typeface="Barlow ExtraBold"/>
                          <a:cs typeface="Barlow ExtraBold"/>
                          <a:sym typeface="Barlow ExtraBold"/>
                        </a:rPr>
                        <a:t>Spend less FTE time managing vendor queries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Average handling time decreased from A -&gt; B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 X - 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First response time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tickets where generated replies were used when available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733690"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dirty="0">
                          <a:solidFill>
                            <a:schemeClr val="lt1"/>
                          </a:solidFill>
                          <a:latin typeface="Barlow ExtraBold"/>
                          <a:ea typeface="Barlow ExtraBold"/>
                          <a:cs typeface="Barlow ExtraBold"/>
                          <a:sym typeface="Barlow ExtraBold"/>
                        </a:rPr>
                        <a:t>Improve vendor relationships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SLA Adherence (X% of tickets 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met SLA)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decrease in ticket resolution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56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43205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95953C-01A6-1AA5-5F82-A07BBA4C4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9A9651C-CAE1-8215-0DAE-3A7FB43112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60D434C5-326A-F75E-909E-FC8FD77659E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5F214C68-EE83-0217-F60E-9B46B4485473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E9AF8951-3791-C3DD-C571-2130281E8A75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82A7D47-9E88-3F6B-0B1C-7D705ACEA993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 month-on-month increase of outbound messages due to GenAi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9B5E4681-DF44-915D-03FF-FA86016E15D5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F33DCB-F8EB-4C02-A8F6-B39FF53F9BAA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FA0C654F-1AC2-1F0B-1426-F386C310269E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2" name="Text 17">
            <a:extLst>
              <a:ext uri="{FF2B5EF4-FFF2-40B4-BE49-F238E27FC236}">
                <a16:creationId xmlns:a16="http://schemas.microsoft.com/office/drawing/2014/main" id="{5C725977-7A20-79B4-39D8-A0393BC7DDD2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tickets used Gen Reply</a:t>
            </a:r>
          </a:p>
          <a:p>
            <a:pPr lvl="0" algn="ctr"/>
            <a:endParaRPr lang="en-US" dirty="0">
              <a:solidFill>
                <a:srgbClr val="CED1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006688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E6EDC-5D6D-4B17-C731-37ACD62A4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E4C2A0C2-AA42-0CD2-EC6D-C5C232C5DED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2EE79929-4FAC-595B-01B1-3FC1D5A0A68E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C88AFB95-549A-92E2-A71E-C1A07DB39B30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B092511A-45A1-9700-0368-1B847C1BE501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3AA85CF-3624-DAAD-521D-F4AD9B792FD4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BAB22CE-EAAB-9609-80FD-69F1FB8C1164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(days)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546DBC60-F087-F1B0-07F5-EB18FC7922BB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572586E3-BCD3-9E5B-83F7-B014C880B337}"/>
              </a:ext>
            </a:extLst>
          </p:cNvPr>
          <p:cNvSpPr/>
          <p:nvPr/>
        </p:nvSpPr>
        <p:spPr>
          <a:xfrm>
            <a:off x="6293596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by user (days)</a:t>
            </a:r>
          </a:p>
        </p:txBody>
      </p:sp>
    </p:spTree>
    <p:extLst>
      <p:ext uri="{BB962C8B-B14F-4D97-AF65-F5344CB8AC3E}">
        <p14:creationId xmlns:p14="http://schemas.microsoft.com/office/powerpoint/2010/main" val="30026941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27FDA-9C9A-AFDA-8085-C5E956302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791EAB3-7A91-8D64-068F-1C211814E53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20856BD-6ADB-4F72-5828-D633E910E26E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0893EAC7-F777-4E7D-518B-BA289C4C241B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4CD7586F-D7B7-3BA0-12FE-2F39C473C83B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D1423F49-EBF9-6B12-9E49-B6F69486BEEB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E59A566F-C21D-75E6-1735-1630731C6FAF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ticket type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E4ACD40A-BCD9-CCB8-C450-C545FF530150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A291F7D6-3088-27D6-AC80-8947CBC5E51B}"/>
              </a:ext>
            </a:extLst>
          </p:cNvPr>
          <p:cNvSpPr/>
          <p:nvPr/>
        </p:nvSpPr>
        <p:spPr>
          <a:xfrm>
            <a:off x="6293596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Ticket assignment type</a:t>
            </a:r>
          </a:p>
        </p:txBody>
      </p:sp>
    </p:spTree>
    <p:extLst>
      <p:ext uri="{BB962C8B-B14F-4D97-AF65-F5344CB8AC3E}">
        <p14:creationId xmlns:p14="http://schemas.microsoft.com/office/powerpoint/2010/main" val="14770296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407C4A-B4CA-01B7-BFDE-EC0C42944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4D84498-4EDB-706F-46FB-CD69E1ECD5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00AE364E-0953-3CC9-4417-5011815C0ECC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HELPDESK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23FF293B-87A9-6EBA-95DA-B04643434AA4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FD4DE711-9E40-83AB-6309-E845A6E96AF9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anchor="t">
            <a:normAutofit/>
          </a:bodyPr>
          <a:lstStyle/>
          <a:p>
            <a:r>
              <a:rPr lang="en-GB" sz="1400" dirty="0">
                <a:solidFill>
                  <a:srgbClr val="FFFFFF"/>
                </a:solidFill>
                <a:latin typeface="Barlow"/>
              </a:rPr>
              <a:t>SUMMARY_PLACEHOLDER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0592D257-C171-6C94-041C-5BCACF8B2D62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1326742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C0515-0B95-6C6C-AAB4-13E529E1C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068B3050-A291-03A0-E740-C9ECAD11B6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60267EEC-1452-A6DB-4A9A-D6246DF41B5E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SIX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905FB16-8508-7131-CA26-D4CCC2A04EA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SUPPORT TICKETS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46AF4B5-C237-FC1D-3BCE-B39E331FAC6E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Tickets from the last 12 months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3D46E47A-54BB-9461-3ED0-FC81C0ED893C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575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59400" y="4876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TICKET VOLUMES</a:t>
            </a:r>
            <a:endParaRPr lang="en-US" sz="1100" dirty="0">
              <a:solidFill>
                <a:srgbClr val="D92398"/>
              </a:solidFill>
            </a:endParaRPr>
          </a:p>
        </p:txBody>
      </p:sp>
      <p:sp>
        <p:nvSpPr>
          <p:cNvPr id="6" name="Text 2"/>
          <p:cNvSpPr/>
          <p:nvPr/>
        </p:nvSpPr>
        <p:spPr>
          <a:xfrm>
            <a:off x="466344" y="974309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2800" b="1" dirty="0">
                <a:solidFill>
                  <a:srgbClr val="CCBBFF"/>
                </a:solidFill>
                <a:latin typeface="Barlow" pitchFamily="34" charset="0"/>
              </a:rPr>
              <a:t>Metrics from the last 12 months</a:t>
            </a:r>
            <a:endParaRPr lang="en-US" sz="2800" b="1" dirty="0"/>
          </a:p>
        </p:txBody>
      </p:sp>
      <p:sp>
        <p:nvSpPr>
          <p:cNvPr id="9" name="Shape 5"/>
          <p:cNvSpPr/>
          <p:nvPr/>
        </p:nvSpPr>
        <p:spPr>
          <a:xfrm>
            <a:off x="502920" y="4849587"/>
            <a:ext cx="73152" cy="1554480"/>
          </a:xfrm>
          <a:prstGeom prst="rect">
            <a:avLst/>
          </a:prstGeom>
          <a:solidFill>
            <a:srgbClr val="D92398"/>
          </a:solidFill>
          <a:ln w="12700">
            <a:solidFill>
              <a:srgbClr val="D923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685800" y="5058165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spc="500" dirty="0">
                <a:solidFill>
                  <a:srgbClr val="CCBAFF"/>
                </a:solidFill>
                <a:latin typeface="Barlow Black" pitchFamily="34" charset="0"/>
              </a:rPr>
              <a:t>TICKETS RAISED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685800" y="5441477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4200" dirty="0"/>
          </a:p>
        </p:txBody>
      </p:sp>
      <p:sp>
        <p:nvSpPr>
          <p:cNvPr id="21" name="Text 17"/>
          <p:cNvSpPr/>
          <p:nvPr/>
        </p:nvSpPr>
        <p:spPr>
          <a:xfrm>
            <a:off x="5359400" y="22673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new support tickets                   </a:t>
            </a:r>
          </a:p>
        </p:txBody>
      </p:sp>
      <p:sp>
        <p:nvSpPr>
          <p:cNvPr id="22" name="Text 18"/>
          <p:cNvSpPr/>
          <p:nvPr/>
        </p:nvSpPr>
        <p:spPr>
          <a:xfrm>
            <a:off x="10248900" y="23244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X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5359400" y="27245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open </a:t>
            </a:r>
          </a:p>
        </p:txBody>
      </p:sp>
      <p:sp>
        <p:nvSpPr>
          <p:cNvPr id="24" name="Text 20"/>
          <p:cNvSpPr/>
          <p:nvPr/>
        </p:nvSpPr>
        <p:spPr>
          <a:xfrm>
            <a:off x="10248900" y="27816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359400" y="3362897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/>
          <p:nvPr/>
        </p:nvSpPr>
        <p:spPr>
          <a:xfrm>
            <a:off x="5359400" y="41281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on </a:t>
            </a:r>
            <a:r>
              <a:rPr lang="en-US" sz="1200" dirty="0" err="1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endParaRPr lang="en-US" sz="1200" dirty="0">
              <a:solidFill>
                <a:srgbClr val="0B0F2C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30" name="Text 26"/>
          <p:cNvSpPr/>
          <p:nvPr/>
        </p:nvSpPr>
        <p:spPr>
          <a:xfrm>
            <a:off x="10248900" y="41852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5359400" y="45853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for {CUSTOMER}</a:t>
            </a:r>
          </a:p>
        </p:txBody>
      </p:sp>
      <p:sp>
        <p:nvSpPr>
          <p:cNvPr id="32" name="Text 28"/>
          <p:cNvSpPr/>
          <p:nvPr/>
        </p:nvSpPr>
        <p:spPr>
          <a:xfrm>
            <a:off x="10248900" y="46424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5359400" y="5332292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4"/>
          <p:cNvSpPr/>
          <p:nvPr/>
        </p:nvSpPr>
        <p:spPr>
          <a:xfrm>
            <a:off x="5359400" y="60190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closed</a:t>
            </a:r>
            <a:endParaRPr lang="en-US" sz="1400" dirty="0"/>
          </a:p>
        </p:txBody>
      </p:sp>
      <p:sp>
        <p:nvSpPr>
          <p:cNvPr id="39" name="Text 35"/>
          <p:cNvSpPr/>
          <p:nvPr/>
        </p:nvSpPr>
        <p:spPr>
          <a:xfrm>
            <a:off x="10248900" y="60761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D92398"/>
          </a:solidFill>
          <a:ln w="12700">
            <a:solidFill>
              <a:srgbClr val="D9239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</a:rPr>
              <a:t>X</a:t>
            </a:r>
            <a:endParaRPr lang="en-US" sz="13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A0773D5A-99C2-F8B1-9DA5-14981DEB287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SUPPORT TICKETS</a:t>
            </a:r>
            <a:endParaRPr lang="en-US" sz="1100" dirty="0">
              <a:solidFill>
                <a:srgbClr val="D9239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88304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5041-36F9-5792-BB06-1A01E749F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D6E94A02-6CCC-12E4-A6A4-79A7BA3E27C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2D5B978F-D049-88C9-F1B7-5332C6B56C89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SEVEN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83DF60F-54D1-ABB1-4356-19ABA962135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NEXT STEPS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6B6BAB6-48AB-BC39-2571-A65CC2E26B1B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Reccommendations</a:t>
            </a:r>
            <a:endParaRPr lang="en-US" sz="1600" dirty="0">
              <a:solidFill>
                <a:srgbClr val="CCBB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FE994BB0-813C-E08B-BFF2-E8219EA5CBAE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619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15" name="Timeline"/>
          <p:cNvSpPr/>
          <p:nvPr/>
        </p:nvSpPr>
        <p:spPr>
          <a:xfrm>
            <a:off x="508000" y="3048000"/>
            <a:ext cx="11176000" cy="381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20" name="Node 1"/>
          <p:cNvSpPr/>
          <p:nvPr/>
        </p:nvSpPr>
        <p:spPr>
          <a:xfrm>
            <a:off x="1270000" y="2813050"/>
            <a:ext cx="508000" cy="508000"/>
          </a:xfrm>
          <a:prstGeom prst="ellipse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01</a:t>
            </a:r>
          </a:p>
        </p:txBody>
      </p:sp>
      <p:sp>
        <p:nvSpPr>
          <p:cNvPr id="21" name="Step 1"/>
          <p:cNvSpPr/>
          <p:nvPr/>
        </p:nvSpPr>
        <p:spPr>
          <a:xfrm>
            <a:off x="508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01</a:t>
            </a:r>
          </a:p>
        </p:txBody>
      </p:sp>
      <p:sp>
        <p:nvSpPr>
          <p:cNvPr id="22" name="Desc 1"/>
          <p:cNvSpPr/>
          <p:nvPr/>
        </p:nvSpPr>
        <p:spPr>
          <a:xfrm>
            <a:off x="508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30" name="Node 2"/>
          <p:cNvSpPr/>
          <p:nvPr/>
        </p:nvSpPr>
        <p:spPr>
          <a:xfrm>
            <a:off x="3556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31" name="Step 2"/>
          <p:cNvSpPr/>
          <p:nvPr/>
        </p:nvSpPr>
        <p:spPr>
          <a:xfrm>
            <a:off x="2794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02</a:t>
            </a:r>
          </a:p>
        </p:txBody>
      </p:sp>
      <p:sp>
        <p:nvSpPr>
          <p:cNvPr id="32" name="Desc 2"/>
          <p:cNvSpPr/>
          <p:nvPr/>
        </p:nvSpPr>
        <p:spPr>
          <a:xfrm>
            <a:off x="2794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40" name="Node 3"/>
          <p:cNvSpPr/>
          <p:nvPr/>
        </p:nvSpPr>
        <p:spPr>
          <a:xfrm>
            <a:off x="5842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41" name="Step 3"/>
          <p:cNvSpPr/>
          <p:nvPr/>
        </p:nvSpPr>
        <p:spPr>
          <a:xfrm>
            <a:off x="5080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03</a:t>
            </a:r>
          </a:p>
        </p:txBody>
      </p:sp>
      <p:sp>
        <p:nvSpPr>
          <p:cNvPr id="42" name="Desc 3"/>
          <p:cNvSpPr/>
          <p:nvPr/>
        </p:nvSpPr>
        <p:spPr>
          <a:xfrm>
            <a:off x="5080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50" name="Node 4"/>
          <p:cNvSpPr/>
          <p:nvPr/>
        </p:nvSpPr>
        <p:spPr>
          <a:xfrm>
            <a:off x="8128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51" name="Step 4"/>
          <p:cNvSpPr/>
          <p:nvPr/>
        </p:nvSpPr>
        <p:spPr>
          <a:xfrm>
            <a:off x="7366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04</a:t>
            </a:r>
          </a:p>
        </p:txBody>
      </p:sp>
      <p:sp>
        <p:nvSpPr>
          <p:cNvPr id="52" name="Desc 4"/>
          <p:cNvSpPr/>
          <p:nvPr/>
        </p:nvSpPr>
        <p:spPr>
          <a:xfrm>
            <a:off x="7366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60" name="Node 5"/>
          <p:cNvSpPr/>
          <p:nvPr/>
        </p:nvSpPr>
        <p:spPr>
          <a:xfrm>
            <a:off x="10414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61" name="Step 5"/>
          <p:cNvSpPr/>
          <p:nvPr/>
        </p:nvSpPr>
        <p:spPr>
          <a:xfrm>
            <a:off x="9652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05</a:t>
            </a:r>
          </a:p>
        </p:txBody>
      </p:sp>
      <p:sp>
        <p:nvSpPr>
          <p:cNvPr id="62" name="Desc 5"/>
          <p:cNvSpPr/>
          <p:nvPr/>
        </p:nvSpPr>
        <p:spPr>
          <a:xfrm>
            <a:off x="9652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2811D6-8708-C8C4-E20E-91041F8A555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TIMELINE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E50F09C-2895-C238-D98C-FDC037157C7B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2" name="TitleAccent">
            <a:extLst>
              <a:ext uri="{FF2B5EF4-FFF2-40B4-BE49-F238E27FC236}">
                <a16:creationId xmlns:a16="http://schemas.microsoft.com/office/drawing/2014/main" id="{1304778E-BAF3-FB8C-4D23-85559BD1EB57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2461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E32A68-F20A-0C44-2B8A-B52747428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534817F-429B-5F6C-7815-19D8828CAA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C8BD049C-D599-7059-40DE-90EC3F3937C9}"/>
              </a:ext>
            </a:extLst>
          </p:cNvPr>
          <p:cNvSpPr/>
          <p:nvPr/>
        </p:nvSpPr>
        <p:spPr>
          <a:xfrm>
            <a:off x="466344" y="974309"/>
            <a:ext cx="420511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XELIX RENEWAL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81D384FB-E87A-6AD1-145B-8BD478A36B78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25332B06-589A-6799-ACD4-09EA5D396DE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CardYear 1">
            <a:extLst>
              <a:ext uri="{FF2B5EF4-FFF2-40B4-BE49-F238E27FC236}">
                <a16:creationId xmlns:a16="http://schemas.microsoft.com/office/drawing/2014/main" id="{5C7FA4F1-716D-7BE0-9DCD-E2714EEFD7CF}"/>
              </a:ext>
            </a:extLst>
          </p:cNvPr>
          <p:cNvSpPr/>
          <p:nvPr/>
        </p:nvSpPr>
        <p:spPr>
          <a:xfrm>
            <a:off x="508000" y="2317496"/>
            <a:ext cx="3556000" cy="26670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6350">
            <a:solidFill>
              <a:srgbClr val="D92398"/>
            </a:solidFill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002749"/>
              </a:solidFill>
            </a:endParaRPr>
          </a:p>
        </p:txBody>
      </p:sp>
      <p:sp>
        <p:nvSpPr>
          <p:cNvPr id="5" name="Year 1Pill">
            <a:extLst>
              <a:ext uri="{FF2B5EF4-FFF2-40B4-BE49-F238E27FC236}">
                <a16:creationId xmlns:a16="http://schemas.microsoft.com/office/drawing/2014/main" id="{7E163407-CAE0-740A-680B-FBEB922A3D06}"/>
              </a:ext>
            </a:extLst>
          </p:cNvPr>
          <p:cNvSpPr/>
          <p:nvPr/>
        </p:nvSpPr>
        <p:spPr>
          <a:xfrm>
            <a:off x="711200" y="2531872"/>
            <a:ext cx="3149600" cy="406400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spc="400" dirty="0">
                <a:solidFill>
                  <a:srgbClr val="FFFFFF"/>
                </a:solidFill>
                <a:latin typeface="Barlow Black" pitchFamily="34" charset="0"/>
              </a:rPr>
              <a:t>RENEWAL DATE</a:t>
            </a:r>
          </a:p>
        </p:txBody>
      </p:sp>
      <p:sp>
        <p:nvSpPr>
          <p:cNvPr id="18" name="Year 1TotalVal">
            <a:extLst>
              <a:ext uri="{FF2B5EF4-FFF2-40B4-BE49-F238E27FC236}">
                <a16:creationId xmlns:a16="http://schemas.microsoft.com/office/drawing/2014/main" id="{25374FE5-1BC6-B457-3BB0-B032E06C6D76}"/>
              </a:ext>
            </a:extLst>
          </p:cNvPr>
          <p:cNvSpPr/>
          <p:nvPr/>
        </p:nvSpPr>
        <p:spPr>
          <a:xfrm>
            <a:off x="711200" y="3270251"/>
            <a:ext cx="3127248" cy="111166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DAY </a:t>
            </a:r>
          </a:p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MONTH </a:t>
            </a:r>
          </a:p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2026</a:t>
            </a:r>
          </a:p>
        </p:txBody>
      </p:sp>
      <p:sp>
        <p:nvSpPr>
          <p:cNvPr id="19" name="CardYear 2">
            <a:extLst>
              <a:ext uri="{FF2B5EF4-FFF2-40B4-BE49-F238E27FC236}">
                <a16:creationId xmlns:a16="http://schemas.microsoft.com/office/drawing/2014/main" id="{01ED3244-D7EA-5D6D-29BC-BA9C978053A5}"/>
              </a:ext>
            </a:extLst>
          </p:cNvPr>
          <p:cNvSpPr/>
          <p:nvPr/>
        </p:nvSpPr>
        <p:spPr>
          <a:xfrm>
            <a:off x="4318000" y="2317496"/>
            <a:ext cx="7366000" cy="26670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6350">
            <a:solidFill>
              <a:srgbClr val="D92398"/>
            </a:solidFill>
          </a:ln>
        </p:spPr>
        <p:txBody>
          <a:bodyPr wrap="square" lIns="91440" tIns="45720" rIns="91440" bIns="45720"/>
          <a:lstStyle/>
          <a:p>
            <a:endParaRPr lang="en-US" dirty="0">
              <a:solidFill>
                <a:srgbClr val="002749"/>
              </a:solidFill>
            </a:endParaRPr>
          </a:p>
        </p:txBody>
      </p:sp>
      <p:sp>
        <p:nvSpPr>
          <p:cNvPr id="20" name="Year 2Pill">
            <a:extLst>
              <a:ext uri="{FF2B5EF4-FFF2-40B4-BE49-F238E27FC236}">
                <a16:creationId xmlns:a16="http://schemas.microsoft.com/office/drawing/2014/main" id="{9C6B8703-1E1C-CE3C-B85C-EA9EEB74B8A7}"/>
              </a:ext>
            </a:extLst>
          </p:cNvPr>
          <p:cNvSpPr/>
          <p:nvPr/>
        </p:nvSpPr>
        <p:spPr>
          <a:xfrm>
            <a:off x="5104384" y="2560302"/>
            <a:ext cx="5793232" cy="349539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spc="400" dirty="0">
                <a:solidFill>
                  <a:srgbClr val="FFFFFF"/>
                </a:solidFill>
                <a:latin typeface="Barlow Black" pitchFamily="34" charset="0"/>
              </a:rPr>
              <a:t>PROCESS &amp; STAKEHOLDERS</a:t>
            </a:r>
          </a:p>
        </p:txBody>
      </p:sp>
      <p:sp>
        <p:nvSpPr>
          <p:cNvPr id="48" name="ScopeTag">
            <a:extLst>
              <a:ext uri="{FF2B5EF4-FFF2-40B4-BE49-F238E27FC236}">
                <a16:creationId xmlns:a16="http://schemas.microsoft.com/office/drawing/2014/main" id="{393E5F14-D154-D78A-F66E-514E944572AC}"/>
              </a:ext>
            </a:extLst>
          </p:cNvPr>
          <p:cNvSpPr/>
          <p:nvPr/>
        </p:nvSpPr>
        <p:spPr>
          <a:xfrm>
            <a:off x="502920" y="5323169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0" indent="0">
              <a:buNone/>
            </a:pPr>
            <a:r>
              <a:rPr lang="en-US" sz="1200" b="1" kern="0" spc="500" dirty="0">
                <a:solidFill>
                  <a:srgbClr val="D92398"/>
                </a:solidFill>
                <a:latin typeface="Barlow Black" pitchFamily="34" charset="0"/>
              </a:rPr>
              <a:t>MODULES</a:t>
            </a:r>
          </a:p>
        </p:txBody>
      </p:sp>
      <p:sp>
        <p:nvSpPr>
          <p:cNvPr id="49" name="ScopeModulesBg">
            <a:extLst>
              <a:ext uri="{FF2B5EF4-FFF2-40B4-BE49-F238E27FC236}">
                <a16:creationId xmlns:a16="http://schemas.microsoft.com/office/drawing/2014/main" id="{6E3DAA43-6180-F400-F64D-988ADCCB1796}"/>
              </a:ext>
            </a:extLst>
          </p:cNvPr>
          <p:cNvSpPr/>
          <p:nvPr/>
        </p:nvSpPr>
        <p:spPr>
          <a:xfrm>
            <a:off x="508000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0" name="ScopeModulesLabel">
            <a:extLst>
              <a:ext uri="{FF2B5EF4-FFF2-40B4-BE49-F238E27FC236}">
                <a16:creationId xmlns:a16="http://schemas.microsoft.com/office/drawing/2014/main" id="{59E7DA56-D5E3-2331-10C5-CAB8BF90719F}"/>
              </a:ext>
            </a:extLst>
          </p:cNvPr>
          <p:cNvSpPr/>
          <p:nvPr/>
        </p:nvSpPr>
        <p:spPr>
          <a:xfrm>
            <a:off x="797215" y="5881624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TRANSACTIONS</a:t>
            </a:r>
          </a:p>
        </p:txBody>
      </p:sp>
      <p:sp>
        <p:nvSpPr>
          <p:cNvPr id="52" name="ScopeUsersBg">
            <a:extLst>
              <a:ext uri="{FF2B5EF4-FFF2-40B4-BE49-F238E27FC236}">
                <a16:creationId xmlns:a16="http://schemas.microsoft.com/office/drawing/2014/main" id="{BEE959B8-7526-C558-2692-0C12958C37AA}"/>
              </a:ext>
            </a:extLst>
          </p:cNvPr>
          <p:cNvSpPr/>
          <p:nvPr/>
        </p:nvSpPr>
        <p:spPr>
          <a:xfrm>
            <a:off x="3330575" y="5699575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5" name="ScopeScopeBg">
            <a:extLst>
              <a:ext uri="{FF2B5EF4-FFF2-40B4-BE49-F238E27FC236}">
                <a16:creationId xmlns:a16="http://schemas.microsoft.com/office/drawing/2014/main" id="{F9A08E90-45B7-1484-454E-57B14B068D86}"/>
              </a:ext>
            </a:extLst>
          </p:cNvPr>
          <p:cNvSpPr/>
          <p:nvPr/>
        </p:nvSpPr>
        <p:spPr>
          <a:xfrm>
            <a:off x="6161454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8" name="ScopeUpgradesBg">
            <a:extLst>
              <a:ext uri="{FF2B5EF4-FFF2-40B4-BE49-F238E27FC236}">
                <a16:creationId xmlns:a16="http://schemas.microsoft.com/office/drawing/2014/main" id="{71919CF6-2B99-1E40-AE73-49E02F3BEED3}"/>
              </a:ext>
            </a:extLst>
          </p:cNvPr>
          <p:cNvSpPr/>
          <p:nvPr/>
        </p:nvSpPr>
        <p:spPr>
          <a:xfrm>
            <a:off x="9042400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3" name="ScopeModulesLabel">
            <a:extLst>
              <a:ext uri="{FF2B5EF4-FFF2-40B4-BE49-F238E27FC236}">
                <a16:creationId xmlns:a16="http://schemas.microsoft.com/office/drawing/2014/main" id="{1B7E9E5F-FEF7-7259-36AC-647EEA50F84C}"/>
              </a:ext>
            </a:extLst>
          </p:cNvPr>
          <p:cNvSpPr/>
          <p:nvPr/>
        </p:nvSpPr>
        <p:spPr>
          <a:xfrm>
            <a:off x="3630283" y="5878648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STATEMENTS</a:t>
            </a:r>
          </a:p>
        </p:txBody>
      </p:sp>
      <p:sp>
        <p:nvSpPr>
          <p:cNvPr id="9" name="ScopeModulesLabel">
            <a:extLst>
              <a:ext uri="{FF2B5EF4-FFF2-40B4-BE49-F238E27FC236}">
                <a16:creationId xmlns:a16="http://schemas.microsoft.com/office/drawing/2014/main" id="{F214C8BF-E53B-7F2D-0F6E-D5533DA7D7AE}"/>
              </a:ext>
            </a:extLst>
          </p:cNvPr>
          <p:cNvSpPr/>
          <p:nvPr/>
        </p:nvSpPr>
        <p:spPr>
          <a:xfrm>
            <a:off x="6452858" y="5878647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HELPDESK</a:t>
            </a:r>
          </a:p>
        </p:txBody>
      </p:sp>
      <p:sp>
        <p:nvSpPr>
          <p:cNvPr id="11" name="ScopeModulesLabel">
            <a:extLst>
              <a:ext uri="{FF2B5EF4-FFF2-40B4-BE49-F238E27FC236}">
                <a16:creationId xmlns:a16="http://schemas.microsoft.com/office/drawing/2014/main" id="{1C217137-CF57-1259-7C77-8A0159E3C442}"/>
              </a:ext>
            </a:extLst>
          </p:cNvPr>
          <p:cNvSpPr/>
          <p:nvPr/>
        </p:nvSpPr>
        <p:spPr>
          <a:xfrm>
            <a:off x="9365874" y="5878646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AP AUTOMATION</a:t>
            </a:r>
          </a:p>
        </p:txBody>
      </p:sp>
    </p:spTree>
    <p:extLst>
      <p:ext uri="{BB962C8B-B14F-4D97-AF65-F5344CB8AC3E}">
        <p14:creationId xmlns:p14="http://schemas.microsoft.com/office/powerpoint/2010/main" val="37495666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73A649E-5C11-4071-77BA-5D8EF77A62AA}"/>
              </a:ext>
            </a:extLst>
          </p:cNvPr>
          <p:cNvSpPr/>
          <p:nvPr/>
        </p:nvSpPr>
        <p:spPr>
          <a:xfrm>
            <a:off x="410128" y="4272598"/>
            <a:ext cx="5103237" cy="2096815"/>
          </a:xfrm>
          <a:prstGeom prst="roundRect">
            <a:avLst>
              <a:gd name="adj" fmla="val 6879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rgbClr val="CED1FF">
                  <a:alpha val="67000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3F84999-5C5C-D5A5-D0FF-96463AF19483}"/>
              </a:ext>
            </a:extLst>
          </p:cNvPr>
          <p:cNvSpPr/>
          <p:nvPr/>
        </p:nvSpPr>
        <p:spPr>
          <a:xfrm>
            <a:off x="410130" y="2205839"/>
            <a:ext cx="2970886" cy="1703015"/>
          </a:xfrm>
          <a:prstGeom prst="roundRect">
            <a:avLst>
              <a:gd name="adj" fmla="val 599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rgbClr val="CED1FF">
                  <a:alpha val="67000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04" name="Google Shape;1004;p35" title="world 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66491" y="728390"/>
            <a:ext cx="7497737" cy="4944050"/>
          </a:xfrm>
          <a:prstGeom prst="rect">
            <a:avLst/>
          </a:prstGeom>
          <a:noFill/>
          <a:ln>
            <a:noFill/>
          </a:ln>
        </p:spPr>
      </p:pic>
      <p:sp>
        <p:nvSpPr>
          <p:cNvPr id="1006" name="Google Shape;1006;p35"/>
          <p:cNvSpPr txBox="1"/>
          <p:nvPr/>
        </p:nvSpPr>
        <p:spPr>
          <a:xfrm>
            <a:off x="677216" y="2491006"/>
            <a:ext cx="2879602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LIVE REGIONS &amp; ENTITIES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b="1" dirty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1007" name="Google Shape;1007;p35"/>
          <p:cNvSpPr txBox="1"/>
          <p:nvPr/>
        </p:nvSpPr>
        <p:spPr>
          <a:xfrm>
            <a:off x="677200" y="2923527"/>
            <a:ext cx="2232488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Wingdings" pitchFamily="2" charset="2"/>
              <a:buChar char="ü"/>
            </a:pPr>
            <a:r>
              <a:rPr lang="en-US" sz="1600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North America</a:t>
            </a:r>
            <a:endParaRPr lang="en-GB" sz="1600" dirty="0"/>
          </a:p>
          <a:p>
            <a:pPr marL="88900"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</a:pPr>
            <a:endParaRPr lang="en-GB" sz="1600" dirty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Wingdings" pitchFamily="2" charset="2"/>
              <a:buChar char="ü"/>
            </a:pPr>
            <a:r>
              <a:rPr lang="en-US" sz="1600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Europe</a:t>
            </a:r>
            <a:endParaRPr sz="1600" dirty="0"/>
          </a:p>
        </p:txBody>
      </p:sp>
      <p:sp>
        <p:nvSpPr>
          <p:cNvPr id="1008" name="Google Shape;1008;p35"/>
          <p:cNvSpPr txBox="1"/>
          <p:nvPr/>
        </p:nvSpPr>
        <p:spPr>
          <a:xfrm>
            <a:off x="677200" y="4504607"/>
            <a:ext cx="2473201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ERP SYSTEMS</a:t>
            </a:r>
            <a:endParaRPr sz="1600" dirty="0"/>
          </a:p>
        </p:txBody>
      </p:sp>
      <p:sp>
        <p:nvSpPr>
          <p:cNvPr id="1009" name="Google Shape;1009;p35"/>
          <p:cNvSpPr txBox="1"/>
          <p:nvPr/>
        </p:nvSpPr>
        <p:spPr>
          <a:xfrm>
            <a:off x="2869136" y="4504607"/>
            <a:ext cx="2644229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WORKFLOW SYSTEMS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14" name="Google Shape;1014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89462" y="1306670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5" name="Google Shape;1015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01845" y="2444571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6" name="Google Shape;1016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12665" y="3865413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7" name="Google Shape;1017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54835" y="2509887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8" name="Google Shape;1018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51" y="3527988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9" name="Google Shape;1019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92788" y="4223672"/>
            <a:ext cx="427027" cy="61944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C27B034-5559-2E29-555C-057506F9F8A3}"/>
              </a:ext>
            </a:extLst>
          </p:cNvPr>
          <p:cNvSpPr/>
          <p:nvPr/>
        </p:nvSpPr>
        <p:spPr>
          <a:xfrm>
            <a:off x="689071" y="5040583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GB" sz="1200" dirty="0">
                <a:solidFill>
                  <a:srgbClr val="5D139F"/>
                </a:solidFill>
                <a:latin typeface="Barlow"/>
              </a:rPr>
              <a:t>ERP_1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5512F09-D764-18DC-16F6-98141C7212B5}"/>
              </a:ext>
            </a:extLst>
          </p:cNvPr>
          <p:cNvSpPr/>
          <p:nvPr/>
        </p:nvSpPr>
        <p:spPr>
          <a:xfrm>
            <a:off x="685321" y="5657300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GB" sz="1200" dirty="0">
                <a:solidFill>
                  <a:srgbClr val="5D139F"/>
                </a:solidFill>
                <a:latin typeface="Barlow"/>
              </a:rPr>
              <a:t>ERP_2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B929B7C-EFFE-21E7-98E4-409BE20D77F7}"/>
              </a:ext>
            </a:extLst>
          </p:cNvPr>
          <p:cNvSpPr/>
          <p:nvPr/>
        </p:nvSpPr>
        <p:spPr>
          <a:xfrm>
            <a:off x="2951573" y="5040583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GB" sz="1200" dirty="0">
                <a:solidFill>
                  <a:srgbClr val="5D139F"/>
                </a:solidFill>
                <a:latin typeface="Barlow"/>
              </a:rPr>
              <a:t>WORKFLOW_1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65B4B3B-DB05-D35F-8C46-C076C32494B3}"/>
              </a:ext>
            </a:extLst>
          </p:cNvPr>
          <p:cNvSpPr/>
          <p:nvPr/>
        </p:nvSpPr>
        <p:spPr>
          <a:xfrm>
            <a:off x="2947823" y="5657300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GB" sz="1200" dirty="0">
                <a:solidFill>
                  <a:srgbClr val="5D139F"/>
                </a:solidFill>
                <a:latin typeface="Barlow"/>
              </a:rPr>
              <a:t>WORKFLOW_2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C4CE7B4-64C1-F66E-4A74-40AF373D6F55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SCOPE</a:t>
            </a:r>
          </a:p>
        </p:txBody>
      </p:sp>
      <p:sp>
        <p:nvSpPr>
          <p:cNvPr id="6" name="TitleAccent">
            <a:extLst>
              <a:ext uri="{FF2B5EF4-FFF2-40B4-BE49-F238E27FC236}">
                <a16:creationId xmlns:a16="http://schemas.microsoft.com/office/drawing/2014/main" id="{D5A6B548-D40B-33B7-F599-F293E9C1523B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DFF8C120-1B62-7BC2-441B-94C874432C1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hankYou"/>
          <p:cNvSpPr/>
          <p:nvPr/>
        </p:nvSpPr>
        <p:spPr>
          <a:xfrm>
            <a:off x="1524000" y="2569830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THANK YOU</a:t>
            </a:r>
          </a:p>
        </p:txBody>
      </p:sp>
      <p:sp>
        <p:nvSpPr>
          <p:cNvPr id="11" name="Divider"/>
          <p:cNvSpPr/>
          <p:nvPr/>
        </p:nvSpPr>
        <p:spPr>
          <a:xfrm>
            <a:off x="4826000" y="3554187"/>
            <a:ext cx="2540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" name="ContactLabel 1"/>
          <p:cNvSpPr/>
          <p:nvPr/>
        </p:nvSpPr>
        <p:spPr>
          <a:xfrm>
            <a:off x="1016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EMAIL</a:t>
            </a:r>
          </a:p>
        </p:txBody>
      </p:sp>
      <p:sp>
        <p:nvSpPr>
          <p:cNvPr id="21" name="ContactVal 1"/>
          <p:cNvSpPr/>
          <p:nvPr/>
        </p:nvSpPr>
        <p:spPr>
          <a:xfrm>
            <a:off x="1016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email@company.com</a:t>
            </a:r>
          </a:p>
        </p:txBody>
      </p:sp>
      <p:sp>
        <p:nvSpPr>
          <p:cNvPr id="30" name="ContactLabel 2"/>
          <p:cNvSpPr/>
          <p:nvPr/>
        </p:nvSpPr>
        <p:spPr>
          <a:xfrm>
            <a:off x="4572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PHONE</a:t>
            </a:r>
          </a:p>
        </p:txBody>
      </p:sp>
      <p:sp>
        <p:nvSpPr>
          <p:cNvPr id="31" name="ContactVal 2"/>
          <p:cNvSpPr/>
          <p:nvPr/>
        </p:nvSpPr>
        <p:spPr>
          <a:xfrm>
            <a:off x="4572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+44 (555) 000-000</a:t>
            </a:r>
          </a:p>
        </p:txBody>
      </p:sp>
      <p:sp>
        <p:nvSpPr>
          <p:cNvPr id="40" name="ContactLabel 3"/>
          <p:cNvSpPr/>
          <p:nvPr/>
        </p:nvSpPr>
        <p:spPr>
          <a:xfrm>
            <a:off x="8128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WEBSITE</a:t>
            </a:r>
          </a:p>
        </p:txBody>
      </p:sp>
      <p:sp>
        <p:nvSpPr>
          <p:cNvPr id="41" name="ContactVal 3"/>
          <p:cNvSpPr/>
          <p:nvPr/>
        </p:nvSpPr>
        <p:spPr>
          <a:xfrm>
            <a:off x="8128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 err="1">
                <a:solidFill>
                  <a:srgbClr val="CCBBFF"/>
                </a:solidFill>
                <a:latin typeface="Barlow" pitchFamily="34" charset="0"/>
              </a:rPr>
              <a:t>www.xelix.com</a:t>
            </a:r>
            <a:endParaRPr lang="en-US" sz="1400" dirty="0">
              <a:solidFill>
                <a:srgbClr val="CCBBFF"/>
              </a:solidFill>
              <a:latin typeface="Barlow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6739659"/>
      </p:ext>
    </p:extLst>
  </p:cSld>
  <p:clrMapOvr>
    <a:masterClrMapping/>
  </p:clrMapOvr>
</p:sld>
</file>

<file path=ppt/theme/theme1.xml><?xml version="1.0" encoding="utf-8"?>
<a:theme xmlns:a="http://schemas.openxmlformats.org/drawingml/2006/main" name="Xelix Master Deck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3BB20A3-79EA-9C40-B39C-A00B07AA6B76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64dcc63-2721-4e8a-80e2-50413d703f2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9497</TotalTime>
  <Words>941</Words>
  <Application>Microsoft Macintosh PowerPoint</Application>
  <PresentationFormat>Widescreen</PresentationFormat>
  <Paragraphs>337</Paragraphs>
  <Slides>40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8" baseType="lpstr">
      <vt:lpstr>Barlow Black</vt:lpstr>
      <vt:lpstr>Wingdings</vt:lpstr>
      <vt:lpstr>Arial</vt:lpstr>
      <vt:lpstr>Barlow ExtraBold</vt:lpstr>
      <vt:lpstr>Barlow</vt:lpstr>
      <vt:lpstr>Calibri</vt:lpstr>
      <vt:lpstr>Noto Sans Symbols</vt:lpstr>
      <vt:lpstr>Xelix Master Deck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Steph McGonigle</dc:creator>
  <cp:lastModifiedBy>Jesse Newton</cp:lastModifiedBy>
  <cp:revision>14</cp:revision>
  <dcterms:created xsi:type="dcterms:W3CDTF">2023-04-12T13:14:20Z</dcterms:created>
  <dcterms:modified xsi:type="dcterms:W3CDTF">2026-04-30T16:27:21Z</dcterms:modified>
</cp:coreProperties>
</file>