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6"/>
  </p:notesMasterIdLst>
  <p:sldIdLst>
    <p:sldId id="717" r:id="rId2"/>
    <p:sldId id="786" r:id="rId3"/>
    <p:sldId id="802" r:id="rId4"/>
    <p:sldId id="326" r:id="rId5"/>
    <p:sldId id="375" r:id="rId6"/>
    <p:sldId id="806" r:id="rId7"/>
    <p:sldId id="805" r:id="rId8"/>
    <p:sldId id="718" r:id="rId9"/>
    <p:sldId id="740" r:id="rId10"/>
    <p:sldId id="741" r:id="rId11"/>
    <p:sldId id="742" r:id="rId12"/>
    <p:sldId id="743" r:id="rId13"/>
    <p:sldId id="756" r:id="rId14"/>
    <p:sldId id="791" r:id="rId15"/>
    <p:sldId id="335" r:id="rId16"/>
    <p:sldId id="774" r:id="rId17"/>
    <p:sldId id="775" r:id="rId18"/>
    <p:sldId id="788" r:id="rId19"/>
    <p:sldId id="799" r:id="rId20"/>
    <p:sldId id="803" r:id="rId21"/>
    <p:sldId id="793" r:id="rId22"/>
    <p:sldId id="748" r:id="rId23"/>
    <p:sldId id="757" r:id="rId24"/>
    <p:sldId id="776" r:id="rId25"/>
    <p:sldId id="751" r:id="rId26"/>
    <p:sldId id="794" r:id="rId27"/>
    <p:sldId id="807" r:id="rId28"/>
    <p:sldId id="753" r:id="rId29"/>
    <p:sldId id="795" r:id="rId30"/>
    <p:sldId id="759" r:id="rId31"/>
    <p:sldId id="760" r:id="rId32"/>
    <p:sldId id="796" r:id="rId33"/>
    <p:sldId id="797" r:id="rId34"/>
    <p:sldId id="787" r:id="rId35"/>
    <p:sldId id="801" r:id="rId36"/>
    <p:sldId id="789" r:id="rId37"/>
    <p:sldId id="804" r:id="rId38"/>
    <p:sldId id="798" r:id="rId39"/>
    <p:sldId id="721" r:id="rId40"/>
    <p:sldId id="800" r:id="rId41"/>
    <p:sldId id="385" r:id="rId42"/>
    <p:sldId id="720" r:id="rId43"/>
    <p:sldId id="369" r:id="rId44"/>
    <p:sldId id="320" r:id="rId45"/>
  </p:sldIdLst>
  <p:sldSz cx="12192000" cy="6858000"/>
  <p:notesSz cx="6858000" cy="9144000"/>
  <p:embeddedFontLst>
    <p:embeddedFont>
      <p:font typeface="Barlow" pitchFamily="2" charset="77"/>
      <p:regular r:id="rId47"/>
      <p:bold r:id="rId48"/>
      <p:italic r:id="rId49"/>
      <p:boldItalic r:id="rId50"/>
    </p:embeddedFont>
    <p:embeddedFont>
      <p:font typeface="Barlow Black" panose="00000A00000000000000" pitchFamily="2" charset="77"/>
      <p:bold r:id="rId51"/>
      <p:italic r:id="rId52"/>
      <p:boldItalic r:id="rId53"/>
    </p:embeddedFont>
    <p:embeddedFont>
      <p:font typeface="Barlow ExtraBold" panose="00000900000000000000" pitchFamily="2" charset="77"/>
      <p:bold r:id="rId54"/>
      <p:italic r:id="rId55"/>
      <p:boldItalic r:id="rId5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" roundtripDataSignature="AMtx7mhJZzuSbLNYNkeTgkXJyBEMnHXOE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ED1FF"/>
    <a:srgbClr val="EB3FC7"/>
    <a:srgbClr val="9241F7"/>
    <a:srgbClr val="5D139F"/>
    <a:srgbClr val="BDAFF1"/>
    <a:srgbClr val="D92398"/>
    <a:srgbClr val="A79BD7"/>
    <a:srgbClr val="F5F7FB"/>
    <a:srgbClr val="0027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5BCAB09-D571-4314-BB93-0DD3BD3F9BFD}">
  <a:tblStyle styleId="{D5BCAB09-D571-4314-BB93-0DD3BD3F9BF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83494330-313F-41B6-A52A-301C593EF15F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–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Themed Style 2 –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411"/>
    <p:restoredTop sz="95890"/>
  </p:normalViewPr>
  <p:slideViewPr>
    <p:cSldViewPr snapToGrid="0">
      <p:cViewPr varScale="1">
        <p:scale>
          <a:sx n="112" d="100"/>
          <a:sy n="112" d="100"/>
        </p:scale>
        <p:origin x="224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1.fntdata"/><Relationship Id="rId50" Type="http://schemas.openxmlformats.org/officeDocument/2006/relationships/font" Target="fonts/font4.fntdata"/><Relationship Id="rId55" Type="http://schemas.openxmlformats.org/officeDocument/2006/relationships/font" Target="fonts/font9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7.fntdata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2.fntdata"/><Relationship Id="rId56" Type="http://schemas.openxmlformats.org/officeDocument/2006/relationships/font" Target="fonts/font10.fntdata"/><Relationship Id="rId8" Type="http://schemas.openxmlformats.org/officeDocument/2006/relationships/slide" Target="slides/slide7.xml"/><Relationship Id="rId51" Type="http://schemas.openxmlformats.org/officeDocument/2006/relationships/font" Target="fonts/font5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3.fntdata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6.fntdata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31D89-B495-8CAC-B0CE-DECD69895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C7B02C-F383-2ACD-5816-31E13EED7B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793E32-F663-4FEC-2177-BD49F05181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A0EEBE-B1A4-3E7A-4D1C-521A2B899C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236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DC5D0-D9E0-405D-F250-9DC0C9777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9BCB58-C50C-B1B4-50E0-C870FB5B2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A67454-67D5-1B8D-602A-6BE7C817AE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39EB2-5475-C439-6B37-B4775545C1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3309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A7DD6-586B-2902-94D6-AA528DD74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3078A1-6F24-0D08-101C-D52F6F801C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4475DB-58E7-A60B-228B-072E5CC77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7BB270-9BD5-9F8A-462D-DAB8DE45EE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8751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D23A4F4-EA78-6A0E-C935-FD9FE2A2F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9F5B4660-A871-24AC-04DB-B3A19E830B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4158ABBA-6E24-5D4B-1913-37E0864191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93190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F21ED-4FCF-387B-F62E-313AACE7D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AB2AD8-F598-7F73-D092-3BEE9F0133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9F5438-3DD2-0F80-73C3-AD07B1169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9EF914-7266-AF73-D947-9F8CD7266C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89469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1874119-291F-772E-7971-DAE2A9A6E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E238BFF3-59BE-7BA4-C736-7368A92FC7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D6178D55-1DA3-D46F-B5BB-F7CDA7D134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0639590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11479A45-7DD2-EA92-9191-57EFC3BC2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7A623BD3-7F85-A7AD-DB2D-0ABBCF1A69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C7C1349B-3ADF-87B3-5F31-01591F3995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190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AE2339DA-0466-18ED-7C3A-00E6DF903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BA391776-B48C-F481-5454-F938B9B8D6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0D5E39C2-F011-CC75-F754-A1D7C9FCBB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453904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B3DAF-04E4-F35A-36A6-A86851415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225F4C-41BD-6623-4B14-F406C1D138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011501-4370-8E3A-B617-DCAC8C9D92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4201E4-EB8D-7B2E-34A5-0108C87B4B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25434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Layouts/_rels/slideLayout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Layouts/_rels/slideLayout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www.xelix.com/" TargetMode="External"/><Relationship Id="rId4" Type="http://schemas.openxmlformats.org/officeDocument/2006/relationships/hyperlink" Target="https://www.google.com/search?q=xelix&amp;oq=xelix&amp;aqs=chrome.0.35i39j46i175i199i512j69i65j69i60j69i65j69i60l2j69i65.725j0j4&amp;sourceid=chrome&amp;ie=UTF-8" TargetMode="Externa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 (Gradient)">
  <p:cSld name="3. Content: Text + image (Gradient)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4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45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5740969" cy="4776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" name="Google Shape;22;p4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3" name="Google Shape;23;p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5"/>
          <p:cNvSpPr>
            <a:spLocks noGrp="1"/>
          </p:cNvSpPr>
          <p:nvPr>
            <p:ph type="pic" idx="2"/>
          </p:nvPr>
        </p:nvSpPr>
        <p:spPr>
          <a:xfrm>
            <a:off x="6863513" y="1787314"/>
            <a:ext cx="4490287" cy="477667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 Logo">
  <p:cSld name="1. Logo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49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49" descr="A picture containing text, clipart, vector graphic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62531" y="2845386"/>
            <a:ext cx="3266939" cy="1167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">
  <p:cSld name="2. Section divider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0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50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4" name="Google Shape;44;p50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45" name="Google Shape;45;p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">
  <p:cSld name="2. Section divider + imag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51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51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49" name="Google Shape;49;p51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0" name="Google Shape;50;p51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1" name="Google Shape;51;p5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 + circle ">
  <p:cSld name="2. Section divider + image + circle 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52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52" descr="Shape, circle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52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52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7" name="Google Shape;57;p5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52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(Gradient)">
  <p:cSld name="3. Content: Text (Gradient)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53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5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2" name="Google Shape;62;p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5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Text (white)">
  <p:cSld name="1_3. Content: Text (white)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56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95" name="Google Shape;95;p5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56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Right)">
  <p:cSld name="3. Content: Did you know (Right)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57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5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57" descr="Shape, circl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57"/>
          <p:cNvSpPr txBox="1">
            <a:spLocks noGrp="1"/>
          </p:cNvSpPr>
          <p:nvPr>
            <p:ph type="title"/>
          </p:nvPr>
        </p:nvSpPr>
        <p:spPr>
          <a:xfrm>
            <a:off x="685800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02" name="Google Shape;102;p57"/>
          <p:cNvSpPr txBox="1">
            <a:spLocks noGrp="1"/>
          </p:cNvSpPr>
          <p:nvPr>
            <p:ph type="body" idx="1"/>
          </p:nvPr>
        </p:nvSpPr>
        <p:spPr>
          <a:xfrm>
            <a:off x="68580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Left)">
  <p:cSld name="3. Content: Did you know (Left)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5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5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58" descr="Shape, circl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173314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58"/>
          <p:cNvSpPr>
            <a:spLocks noGrp="1"/>
          </p:cNvSpPr>
          <p:nvPr>
            <p:ph type="pic" idx="2"/>
          </p:nvPr>
        </p:nvSpPr>
        <p:spPr>
          <a:xfrm>
            <a:off x="389214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58"/>
          <p:cNvSpPr txBox="1">
            <a:spLocks noGrp="1"/>
          </p:cNvSpPr>
          <p:nvPr>
            <p:ph type="body" idx="1"/>
          </p:nvPr>
        </p:nvSpPr>
        <p:spPr>
          <a:xfrm>
            <a:off x="578987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9" name="Google Shape;109;p58"/>
          <p:cNvSpPr txBox="1">
            <a:spLocks noGrp="1"/>
          </p:cNvSpPr>
          <p:nvPr>
            <p:ph type="title"/>
          </p:nvPr>
        </p:nvSpPr>
        <p:spPr>
          <a:xfrm>
            <a:off x="5789871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">
  <p:cSld name="3. Content: Text + image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6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6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8" name="Google Shape;128;p61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9" name="Google Shape;129;p61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3. Content: Text + image + circle">
  <p:cSld name="2_3. Content: Text + image + circle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62" descr="Shape, circle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6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62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34" name="Google Shape;134;p62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5" name="Google Shape;135;p62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circle">
  <p:cSld name="3. Content: Text + circle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63" descr="Shape, circle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6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39" name="Google Shape;139;p6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6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Product template">
  <p:cSld name="3. Content: Product template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6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64"/>
          <p:cNvSpPr txBox="1">
            <a:spLocks noGrp="1"/>
          </p:cNvSpPr>
          <p:nvPr>
            <p:ph type="title"/>
          </p:nvPr>
        </p:nvSpPr>
        <p:spPr>
          <a:xfrm>
            <a:off x="1870166" y="635000"/>
            <a:ext cx="983628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44" name="Google Shape;144;p64"/>
          <p:cNvSpPr>
            <a:spLocks noGrp="1"/>
          </p:cNvSpPr>
          <p:nvPr>
            <p:ph type="pic" idx="2"/>
          </p:nvPr>
        </p:nvSpPr>
        <p:spPr>
          <a:xfrm>
            <a:off x="5970588" y="2466975"/>
            <a:ext cx="5324475" cy="3195638"/>
          </a:xfrm>
          <a:prstGeom prst="rect">
            <a:avLst/>
          </a:prstGeom>
          <a:noFill/>
          <a:ln>
            <a:noFill/>
          </a:ln>
        </p:spPr>
      </p:sp>
      <p:sp>
        <p:nvSpPr>
          <p:cNvPr id="145" name="Google Shape;145;p64"/>
          <p:cNvSpPr txBox="1">
            <a:spLocks noGrp="1"/>
          </p:cNvSpPr>
          <p:nvPr>
            <p:ph type="body" idx="1"/>
          </p:nvPr>
        </p:nvSpPr>
        <p:spPr>
          <a:xfrm>
            <a:off x="850899" y="1734517"/>
            <a:ext cx="9250031" cy="414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6" name="Google Shape;146;p64"/>
          <p:cNvSpPr txBox="1">
            <a:spLocks noGrp="1"/>
          </p:cNvSpPr>
          <p:nvPr>
            <p:ph type="body" idx="3"/>
          </p:nvPr>
        </p:nvSpPr>
        <p:spPr>
          <a:xfrm>
            <a:off x="7261241" y="3955312"/>
            <a:ext cx="2546429" cy="471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7" name="Google Shape;147;p64"/>
          <p:cNvSpPr>
            <a:spLocks noGrp="1"/>
          </p:cNvSpPr>
          <p:nvPr>
            <p:ph type="pic" idx="4"/>
          </p:nvPr>
        </p:nvSpPr>
        <p:spPr>
          <a:xfrm>
            <a:off x="838200" y="646040"/>
            <a:ext cx="923925" cy="911693"/>
          </a:xfrm>
          <a:prstGeom prst="rect">
            <a:avLst/>
          </a:prstGeom>
          <a:noFill/>
          <a:ln>
            <a:noFill/>
          </a:ln>
        </p:spPr>
      </p:sp>
      <p:sp>
        <p:nvSpPr>
          <p:cNvPr id="148" name="Google Shape;148;p64"/>
          <p:cNvSpPr txBox="1">
            <a:spLocks noGrp="1"/>
          </p:cNvSpPr>
          <p:nvPr>
            <p:ph type="body" idx="5"/>
          </p:nvPr>
        </p:nvSpPr>
        <p:spPr>
          <a:xfrm>
            <a:off x="850900" y="2478178"/>
            <a:ext cx="4922948" cy="318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Large quote + headshot">
  <p:cSld name="3. Content: Large quote + headshot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6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65"/>
          <p:cNvSpPr txBox="1">
            <a:spLocks noGrp="1"/>
          </p:cNvSpPr>
          <p:nvPr>
            <p:ph type="title"/>
          </p:nvPr>
        </p:nvSpPr>
        <p:spPr>
          <a:xfrm>
            <a:off x="838200" y="1797845"/>
            <a:ext cx="9555480" cy="3125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52" name="Google Shape;152;p6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65"/>
          <p:cNvSpPr>
            <a:spLocks noGrp="1"/>
          </p:cNvSpPr>
          <p:nvPr>
            <p:ph type="pic" idx="2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54" name="Google Shape;154;p65"/>
          <p:cNvSpPr txBox="1">
            <a:spLocks noGrp="1"/>
          </p:cNvSpPr>
          <p:nvPr>
            <p:ph type="body" idx="1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55" name="Google Shape;155;p65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56" name="Google Shape;156;p65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7" name="Google Shape;157;p65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8" name="Google Shape;158;p65" descr="A picture containing text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9" name="Google Shape;159;p65" descr="A picture containing text, businesscard&#10;&#10;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0" name="Google Shape;160;p65" descr="Text&#10;&#10;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1" name="Google Shape;161;p65" descr="Text&#10;&#10;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2" name="Google Shape;162;p65"/>
          <p:cNvSpPr txBox="1">
            <a:spLocks noGrp="1"/>
          </p:cNvSpPr>
          <p:nvPr>
            <p:ph type="body" idx="3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Large quote + no headshot">
  <p:cSld name="1_3. Content: Large quote + no headshot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66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66"/>
          <p:cNvSpPr txBox="1">
            <a:spLocks noGrp="1"/>
          </p:cNvSpPr>
          <p:nvPr>
            <p:ph type="title"/>
          </p:nvPr>
        </p:nvSpPr>
        <p:spPr>
          <a:xfrm>
            <a:off x="838200" y="1797844"/>
            <a:ext cx="9555480" cy="347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66" name="Google Shape;166;p6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66"/>
          <p:cNvSpPr txBox="1">
            <a:spLocks noGrp="1"/>
          </p:cNvSpPr>
          <p:nvPr>
            <p:ph type="body" idx="1"/>
          </p:nvPr>
        </p:nvSpPr>
        <p:spPr>
          <a:xfrm>
            <a:off x="838200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68" name="Google Shape;168;p66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69" name="Google Shape;169;p66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0" name="Google Shape;170;p66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1" name="Google Shape;171;p66" descr="A picture containing text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" name="Google Shape;172;p66" descr="A picture containing text, businesscard&#10;&#10;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3" name="Google Shape;173;p66" descr="Text&#10;&#10;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4" name="Google Shape;174;p66" descr="Text&#10;&#10;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5" name="Google Shape;175;p66"/>
          <p:cNvSpPr txBox="1">
            <a:spLocks noGrp="1"/>
          </p:cNvSpPr>
          <p:nvPr>
            <p:ph type="body" idx="2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 Contact">
  <p:cSld name="4. Contact"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72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72"/>
          <p:cNvSpPr txBox="1"/>
          <p:nvPr/>
        </p:nvSpPr>
        <p:spPr>
          <a:xfrm>
            <a:off x="685800" y="4167383"/>
            <a:ext cx="7299702" cy="22467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Email: hello@xelix.com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Phone: + 44 (</a:t>
            </a:r>
            <a:r>
              <a:rPr lang="en-US" sz="2000" b="1" i="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0)20 3950 1506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Website: www.xelix.com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rlow"/>
              <a:buNone/>
            </a:pPr>
            <a:r>
              <a:rPr lang="en-US" sz="140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www.xelix.com</a:t>
            </a:r>
            <a:r>
              <a:rPr lang="en-US" sz="14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 © 2023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72"/>
          <p:cNvSpPr txBox="1"/>
          <p:nvPr/>
        </p:nvSpPr>
        <p:spPr>
          <a:xfrm>
            <a:off x="685800" y="2721106"/>
            <a:ext cx="5291919" cy="1323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rPr>
              <a:t>Contact us</a:t>
            </a:r>
            <a:endParaRPr sz="6000" b="1" i="0">
              <a:solidFill>
                <a:schemeClr val="dk1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82773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45000">
              <a:srgbClr val="6115A6"/>
            </a:gs>
            <a:gs pos="100000">
              <a:srgbClr val="030312"/>
            </a:gs>
          </a:gsLst>
          <a:lin ang="2399547" scaled="0"/>
          <a:tileRect/>
        </a:gra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81" r:id="rId7"/>
    <p:sldLayoutId id="2147483682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83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73" r:id="rId28"/>
    <p:sldLayoutId id="2147483674" r:id="rId29"/>
    <p:sldLayoutId id="2147483675" r:id="rId30"/>
    <p:sldLayoutId id="2147483676" r:id="rId31"/>
    <p:sldLayoutId id="2147483677" r:id="rId32"/>
    <p:sldLayoutId id="2147483678" r:id="rId33"/>
    <p:sldLayoutId id="2147483680" r:id="rId3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2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2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86740" y="401955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spc="800" dirty="0">
                <a:solidFill>
                  <a:srgbClr val="D92398"/>
                </a:solidFill>
                <a:latin typeface="Barlow Black" pitchFamily="34" charset="0"/>
              </a:rPr>
              <a:t>{EBR_DATE}</a:t>
            </a:r>
            <a:endParaRPr lang="en-US" dirty="0">
              <a:solidFill>
                <a:srgbClr val="D92398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10058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Executive Business Review
{CUSTOMER}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7FBE168-A42D-388C-D5D2-52D6795C17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15686"/>
            <a:ext cx="12192000" cy="6858000"/>
          </a:xfrm>
          <a:prstGeom prst="rect">
            <a:avLst/>
          </a:prstGeom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B0A0C23B-1DE9-0362-466D-7E18FCC3C87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D424E814-D3C5-5992-8644-6B3643B5C50D}"/>
              </a:ext>
            </a:extLst>
          </p:cNvPr>
          <p:cNvSpPr/>
          <p:nvPr/>
        </p:nvSpPr>
        <p:spPr>
          <a:xfrm>
            <a:off x="1865534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149A807E-8879-695B-B2F9-DA1FCDDD0A46}"/>
              </a:ext>
            </a:extLst>
          </p:cNvPr>
          <p:cNvSpPr/>
          <p:nvPr/>
        </p:nvSpPr>
        <p:spPr>
          <a:xfrm>
            <a:off x="4767943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4B47D64D-0ABC-9004-472B-6421B8BEAF73}"/>
              </a:ext>
            </a:extLst>
          </p:cNvPr>
          <p:cNvSpPr/>
          <p:nvPr/>
        </p:nvSpPr>
        <p:spPr>
          <a:xfrm>
            <a:off x="7670799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60B6953C-071C-D828-67EC-784473C41F54}"/>
              </a:ext>
            </a:extLst>
          </p:cNvPr>
          <p:cNvSpPr/>
          <p:nvPr/>
        </p:nvSpPr>
        <p:spPr>
          <a:xfrm>
            <a:off x="415470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1D445302-8306-83BE-0878-8E070D7EF41A}"/>
              </a:ext>
            </a:extLst>
          </p:cNvPr>
          <p:cNvSpPr/>
          <p:nvPr/>
        </p:nvSpPr>
        <p:spPr>
          <a:xfrm>
            <a:off x="3363684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0BECE4BE-C558-5D93-4FD0-A6CE68113B4A}"/>
              </a:ext>
            </a:extLst>
          </p:cNvPr>
          <p:cNvSpPr/>
          <p:nvPr/>
        </p:nvSpPr>
        <p:spPr>
          <a:xfrm>
            <a:off x="6291488" y="230895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B4123569-3909-88FE-A2A1-6BD5214F1231}"/>
              </a:ext>
            </a:extLst>
          </p:cNvPr>
          <p:cNvSpPr/>
          <p:nvPr/>
        </p:nvSpPr>
        <p:spPr>
          <a:xfrm>
            <a:off x="9219292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0437806-C688-87DC-E9D8-D69A1CCCB7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2" name="TitleLine"/>
          <p:cNvSpPr/>
          <p:nvPr/>
        </p:nvSpPr>
        <p:spPr>
          <a:xfrm>
            <a:off x="508000" y="1625442"/>
            <a:ext cx="1524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04" name="WaterNum 2"/>
          <p:cNvSpPr/>
          <p:nvPr/>
        </p:nvSpPr>
        <p:spPr>
          <a:xfrm>
            <a:off x="3579948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207" name="WaterNum 3"/>
          <p:cNvSpPr/>
          <p:nvPr/>
        </p:nvSpPr>
        <p:spPr>
          <a:xfrm>
            <a:off x="6575423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210" name="WaterNum 4"/>
          <p:cNvSpPr/>
          <p:nvPr/>
        </p:nvSpPr>
        <p:spPr>
          <a:xfrm>
            <a:off x="95504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04</a:t>
            </a:r>
          </a:p>
        </p:txBody>
      </p:sp>
      <p:sp>
        <p:nvSpPr>
          <p:cNvPr id="213" name="WaterNum 5"/>
          <p:cNvSpPr/>
          <p:nvPr/>
        </p:nvSpPr>
        <p:spPr>
          <a:xfrm>
            <a:off x="2159001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05</a:t>
            </a:r>
          </a:p>
        </p:txBody>
      </p:sp>
      <p:sp>
        <p:nvSpPr>
          <p:cNvPr id="216" name="WaterNum 6"/>
          <p:cNvSpPr/>
          <p:nvPr/>
        </p:nvSpPr>
        <p:spPr>
          <a:xfrm>
            <a:off x="5057997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06</a:t>
            </a:r>
          </a:p>
        </p:txBody>
      </p:sp>
      <p:sp>
        <p:nvSpPr>
          <p:cNvPr id="219" name="WaterNum 7"/>
          <p:cNvSpPr/>
          <p:nvPr/>
        </p:nvSpPr>
        <p:spPr>
          <a:xfrm>
            <a:off x="7962900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07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CFC1462-5089-37E7-4CFD-B96701EC4F16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WHAT WE WILL COVER TODAY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E8FE0F78-01C6-CBAF-E28A-5FC0CA39874F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AGENDA</a:t>
            </a:r>
          </a:p>
        </p:txBody>
      </p:sp>
      <p:sp>
        <p:nvSpPr>
          <p:cNvPr id="202" name="Text 1"/>
          <p:cNvSpPr/>
          <p:nvPr/>
        </p:nvSpPr>
        <p:spPr>
          <a:xfrm>
            <a:off x="650874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RECAP</a:t>
            </a:r>
          </a:p>
        </p:txBody>
      </p:sp>
      <p:sp>
        <p:nvSpPr>
          <p:cNvPr id="205" name="Text 2"/>
          <p:cNvSpPr/>
          <p:nvPr/>
        </p:nvSpPr>
        <p:spPr>
          <a:xfrm>
            <a:off x="3579948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EXEC SUMMARY</a:t>
            </a:r>
          </a:p>
        </p:txBody>
      </p:sp>
      <p:sp>
        <p:nvSpPr>
          <p:cNvPr id="208" name="Text 3"/>
          <p:cNvSpPr/>
          <p:nvPr/>
        </p:nvSpPr>
        <p:spPr>
          <a:xfrm>
            <a:off x="6526438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TRANSACTIONS</a:t>
            </a:r>
          </a:p>
        </p:txBody>
      </p:sp>
      <p:sp>
        <p:nvSpPr>
          <p:cNvPr id="211" name="Text 4"/>
          <p:cNvSpPr/>
          <p:nvPr/>
        </p:nvSpPr>
        <p:spPr>
          <a:xfrm>
            <a:off x="9550400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STATEMENTS</a:t>
            </a:r>
          </a:p>
        </p:txBody>
      </p:sp>
      <p:sp>
        <p:nvSpPr>
          <p:cNvPr id="214" name="Text 5"/>
          <p:cNvSpPr/>
          <p:nvPr/>
        </p:nvSpPr>
        <p:spPr>
          <a:xfrm>
            <a:off x="2159001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HELPDESK</a:t>
            </a:r>
          </a:p>
        </p:txBody>
      </p:sp>
      <p:sp>
        <p:nvSpPr>
          <p:cNvPr id="217" name="Text 6"/>
          <p:cNvSpPr/>
          <p:nvPr/>
        </p:nvSpPr>
        <p:spPr>
          <a:xfrm>
            <a:off x="5066845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SUPPORT TICKETS</a:t>
            </a:r>
          </a:p>
        </p:txBody>
      </p:sp>
      <p:sp>
        <p:nvSpPr>
          <p:cNvPr id="220" name="Text 7"/>
          <p:cNvSpPr/>
          <p:nvPr/>
        </p:nvSpPr>
        <p:spPr>
          <a:xfrm>
            <a:off x="7962900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NEXT STEPS</a:t>
            </a:r>
          </a:p>
        </p:txBody>
      </p:sp>
      <p:sp>
        <p:nvSpPr>
          <p:cNvPr id="201" name="WaterNum 1"/>
          <p:cNvSpPr/>
          <p:nvPr/>
        </p:nvSpPr>
        <p:spPr>
          <a:xfrm>
            <a:off x="6985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A79BD7">
                    <a:alpha val="35000"/>
                  </a:srgbClr>
                </a:solidFill>
                <a:latin typeface="Barlow Black" pitchFamily="34" charset="0"/>
              </a:rPr>
              <a:t>01</a:t>
            </a:r>
          </a:p>
        </p:txBody>
      </p:sp>
      <p:pic>
        <p:nvPicPr>
          <p:cNvPr id="13" name="XelixLogo" descr="image.png">
            <a:extLst>
              <a:ext uri="{FF2B5EF4-FFF2-40B4-BE49-F238E27FC236}">
                <a16:creationId xmlns:a16="http://schemas.microsoft.com/office/drawing/2014/main" id="{CC436ECA-BC3E-501A-BF9B-8AF75EB20B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75326" y="134404"/>
            <a:ext cx="435269" cy="155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442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{PREVIOUS_EBR_DATE}</a:t>
            </a:r>
          </a:p>
        </p:txBody>
      </p:sp>
      <p:sp>
        <p:nvSpPr>
          <p:cNvPr id="7" name="Text 5"/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PREVIOUS EBR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{CONTRACT_RENEWAL_DATE}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RENEWAL · {RENEWAL_STAKEHOLDERS}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{LIVE_REGIONS}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LIVE REGIONS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7874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{MAU}</a:t>
            </a:r>
          </a:p>
        </p:txBody>
      </p:sp>
      <p:sp>
        <p:nvSpPr>
          <p:cNvPr id="19" name="Text 17"/>
          <p:cNvSpPr/>
          <p:nvPr/>
        </p:nvSpPr>
        <p:spPr>
          <a:xfrm>
            <a:off x="7239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MONTHLY ACTIVE USERS</a:t>
            </a:r>
          </a:p>
        </p:txBody>
      </p:sp>
      <p:sp>
        <p:nvSpPr>
          <p:cNvPr id="20" name="Shape 18"/>
          <p:cNvSpPr/>
          <p:nvPr/>
        </p:nvSpPr>
        <p:spPr>
          <a:xfrm>
            <a:off x="43815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45593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{BUSIEST_MODULE}</a:t>
            </a:r>
          </a:p>
        </p:txBody>
      </p:sp>
      <p:sp>
        <p:nvSpPr>
          <p:cNvPr id="23" name="Text 21"/>
          <p:cNvSpPr/>
          <p:nvPr/>
        </p:nvSpPr>
        <p:spPr>
          <a:xfrm>
            <a:off x="44958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BUSIEST MODULE</a:t>
            </a:r>
          </a:p>
        </p:txBody>
      </p:sp>
      <p:sp>
        <p:nvSpPr>
          <p:cNvPr id="24" name="Shape 22"/>
          <p:cNvSpPr/>
          <p:nvPr/>
        </p:nvSpPr>
        <p:spPr>
          <a:xfrm>
            <a:off x="81661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83439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{AIV_USED}</a:t>
            </a:r>
          </a:p>
        </p:txBody>
      </p:sp>
      <p:sp>
        <p:nvSpPr>
          <p:cNvPr id="27" name="Text 25"/>
          <p:cNvSpPr/>
          <p:nvPr/>
        </p:nvSpPr>
        <p:spPr>
          <a:xfrm>
            <a:off x="82804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% AIV USED YTD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CD4732B4-A7CA-DA6D-4871-5015F425223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0C952927-C906-8E39-C0CF-1DAC50E6D1C3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ACCOUNT &amp; USAGE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B907C8-E171-5CA1-0657-0FF793298C7A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OVERVIEW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B9D73B-66D4-754E-A060-2ED564B1A07E}"/>
              </a:ext>
            </a:extLst>
          </p:cNvPr>
          <p:cNvSpPr/>
          <p:nvPr/>
        </p:nvSpPr>
        <p:spPr>
          <a:xfrm>
            <a:off x="6096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48D894-E957-EF40-BB72-59DB6FA72BB7}"/>
              </a:ext>
            </a:extLst>
          </p:cNvPr>
          <p:cNvSpPr/>
          <p:nvPr/>
        </p:nvSpPr>
        <p:spPr>
          <a:xfrm>
            <a:off x="43815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47F5C5B-74DA-8C4F-82C4-1510F97D14C0}"/>
              </a:ext>
            </a:extLst>
          </p:cNvPr>
          <p:cNvSpPr/>
          <p:nvPr/>
        </p:nvSpPr>
        <p:spPr>
          <a:xfrm>
            <a:off x="81661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F5227B-EFDB-E346-90CC-BB072759A987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AAD3EC4-B904-7A78-0783-33857EA3908C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F22D2E3-D471-2BFB-7E8E-B318C7EC92C0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5" name="XelixLogo" descr="image.png">
            <a:extLst>
              <a:ext uri="{FF2B5EF4-FFF2-40B4-BE49-F238E27FC236}">
                <a16:creationId xmlns:a16="http://schemas.microsoft.com/office/drawing/2014/main" id="{9618F45B-813F-8BAF-92B2-FEA24CF901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1152" y="6364224"/>
            <a:ext cx="783687" cy="2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404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/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ONE</a:t>
            </a:r>
          </a:p>
        </p:txBody>
      </p:sp>
      <p:sp>
        <p:nvSpPr>
          <p:cNvPr id="11" name="Title"/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</a:p>
        </p:txBody>
      </p:sp>
      <p:sp>
        <p:nvSpPr>
          <p:cNvPr id="12" name="Subtitle"/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Actions and discussion points from the last EBR
⚠ Delete this entire section (slides 3–4) if no previous EBR actions to recap</a:t>
            </a:r>
          </a:p>
        </p:txBody>
      </p:sp>
      <p:sp>
        <p:nvSpPr>
          <p:cNvPr id="13" name="Divider"/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2274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/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502920" y="1070626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200" b="1" dirty="0">
                <a:solidFill>
                  <a:srgbClr val="CCBBFF"/>
                </a:solidFill>
                <a:latin typeface="Barlow" pitchFamily="34" charset="0"/>
              </a:rPr>
              <a:t>Key actions and discussions from our last EBR</a:t>
            </a:r>
          </a:p>
          <a:p>
            <a:pPr marL="0" indent="0">
              <a:buNone/>
            </a:pPr>
            <a:endParaRPr lang="en-US" sz="3600" dirty="0"/>
          </a:p>
        </p:txBody>
      </p:sp>
      <p:sp>
        <p:nvSpPr>
          <p:cNvPr id="23" name="Text 19"/>
          <p:cNvSpPr/>
          <p:nvPr/>
        </p:nvSpPr>
        <p:spPr>
          <a:xfrm>
            <a:off x="5254828" y="497711"/>
            <a:ext cx="6476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{RECAP_1}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29" name="Shape 25"/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/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{RECAP_2}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34" name="Shape 30"/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EBE13E7C-E064-0906-480E-472E3DDE64C2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DBC1E652-2A0A-9D44-F749-CA6197A71281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436E3619-FD14-F2D3-0282-0B8CEDA145BD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ABDC25DB-31C1-D24E-7439-88902FEEA873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03</a:t>
            </a:r>
            <a:endParaRPr lang="en-US" sz="1300" dirty="0"/>
          </a:p>
        </p:txBody>
      </p:sp>
      <p:sp>
        <p:nvSpPr>
          <p:cNvPr id="68" name="Text 27">
            <a:extLst>
              <a:ext uri="{FF2B5EF4-FFF2-40B4-BE49-F238E27FC236}">
                <a16:creationId xmlns:a16="http://schemas.microsoft.com/office/drawing/2014/main" id="{9538CA2E-60B4-31AF-D809-B1A29EA74437}"/>
              </a:ext>
            </a:extLst>
          </p:cNvPr>
          <p:cNvSpPr/>
          <p:nvPr/>
        </p:nvSpPr>
        <p:spPr>
          <a:xfrm>
            <a:off x="5273934" y="467042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04</a:t>
            </a:r>
            <a:endParaRPr lang="en-US" sz="1300" dirty="0"/>
          </a:p>
        </p:txBody>
      </p:sp>
      <p:sp>
        <p:nvSpPr>
          <p:cNvPr id="3" name="Text 28">
            <a:extLst>
              <a:ext uri="{FF2B5EF4-FFF2-40B4-BE49-F238E27FC236}">
                <a16:creationId xmlns:a16="http://schemas.microsoft.com/office/drawing/2014/main" id="{F5C5C699-BACB-3C70-FB44-36BFC11F2E98}"/>
              </a:ext>
            </a:extLst>
          </p:cNvPr>
          <p:cNvSpPr/>
          <p:nvPr/>
        </p:nvSpPr>
        <p:spPr>
          <a:xfrm>
            <a:off x="6059241" y="3623818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{RECAP_3}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4" name="Shape 30">
            <a:extLst>
              <a:ext uri="{FF2B5EF4-FFF2-40B4-BE49-F238E27FC236}">
                <a16:creationId xmlns:a16="http://schemas.microsoft.com/office/drawing/2014/main" id="{DFC1D0EF-2174-726E-DC18-03D59A503E75}"/>
              </a:ext>
            </a:extLst>
          </p:cNvPr>
          <p:cNvSpPr/>
          <p:nvPr/>
        </p:nvSpPr>
        <p:spPr>
          <a:xfrm>
            <a:off x="5254827" y="421005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2022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5CD50-2F3C-377E-7313-F5ADABE24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D11C4C0-4E3E-4D77-75A8-A67C0DD99B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69A1A83C-2F5C-F004-C222-69FC15B32DE8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COMMITMENTS</a:t>
            </a:r>
            <a:endParaRPr lang="en-US" sz="1100" dirty="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F33D1345-D286-36D7-8D8C-9883D11CC538}"/>
              </a:ext>
            </a:extLst>
          </p:cNvPr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{XELIX_COMMITMENTS}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B6B881F6-75B5-291E-B44A-B7D09BB7ACD2}"/>
              </a:ext>
            </a:extLst>
          </p:cNvPr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07043799-3D4C-13C4-751A-4C49B861D985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3D2019A1-E0AB-F7B4-DC75-D41FC211C169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96E06D26-DFD8-E893-B016-B637F4AF17E0}"/>
              </a:ext>
            </a:extLst>
          </p:cNvPr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{CUSTOMER_COMMITMENTS}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4" name="Shape 30">
            <a:extLst>
              <a:ext uri="{FF2B5EF4-FFF2-40B4-BE49-F238E27FC236}">
                <a16:creationId xmlns:a16="http://schemas.microsoft.com/office/drawing/2014/main" id="{C3230A54-F852-847E-00DF-294C0DE0EA9D}"/>
              </a:ext>
            </a:extLst>
          </p:cNvPr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DF77FA66-3CAF-F337-6F19-1F6605DD019B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27A689E5-7D81-CAE8-8F91-37D4BF8247B6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065900A2-FFB9-8346-1C95-8F668ED0D708}"/>
              </a:ext>
            </a:extLst>
          </p:cNvPr>
          <p:cNvSpPr/>
          <p:nvPr/>
        </p:nvSpPr>
        <p:spPr>
          <a:xfrm>
            <a:off x="502920" y="1351915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FROM THE LAST EBR</a:t>
            </a:r>
          </a:p>
          <a:p>
            <a:pPr marL="0" indent="0">
              <a:buNone/>
            </a:pPr>
            <a:endParaRPr lang="en-US" sz="2800" dirty="0"/>
          </a:p>
        </p:txBody>
      </p:sp>
      <p:pic>
        <p:nvPicPr>
          <p:cNvPr id="65" name="Xelix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5384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5CD50-2F3C-377E-7313-F5ADABE24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D11C4C0-4E3E-4D77-75A8-A67C0DD99B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69A1A83C-2F5C-F004-C222-69FC15B32DE8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COMPANY UPDATES</a:t>
            </a:r>
            <a:endParaRPr lang="en-US" sz="1100" dirty="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F33D1345-D286-36D7-8D8C-9883D11CC538}"/>
              </a:ext>
            </a:extLst>
          </p:cNvPr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{XELIX_COMPANY_UPDATES}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B6B881F6-75B5-291E-B44A-B7D09BB7ACD2}"/>
              </a:ext>
            </a:extLst>
          </p:cNvPr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07043799-3D4C-13C4-751A-4C49B861D985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3D2019A1-E0AB-F7B4-DC75-D41FC211C169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96E06D26-DFD8-E893-B016-B637F4AF17E0}"/>
              </a:ext>
            </a:extLst>
          </p:cNvPr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{CUSTOMER_COMPANY_UPDATES}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4" name="Shape 30">
            <a:extLst>
              <a:ext uri="{FF2B5EF4-FFF2-40B4-BE49-F238E27FC236}">
                <a16:creationId xmlns:a16="http://schemas.microsoft.com/office/drawing/2014/main" id="{C3230A54-F852-847E-00DF-294C0DE0EA9D}"/>
              </a:ext>
            </a:extLst>
          </p:cNvPr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DF77FA66-3CAF-F337-6F19-1F6605DD019B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27A689E5-7D81-CAE8-8F91-37D4BF8247B6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065900A2-FFB9-8346-1C95-8F668ED0D708}"/>
              </a:ext>
            </a:extLst>
          </p:cNvPr>
          <p:cNvSpPr/>
          <p:nvPr/>
        </p:nvSpPr>
        <p:spPr>
          <a:xfrm>
            <a:off x="502920" y="1351915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WHAT HAS CHANGED</a:t>
            </a:r>
          </a:p>
          <a:p>
            <a:pPr marL="0" indent="0">
              <a:buNone/>
            </a:pPr>
            <a:endParaRPr lang="en-US" sz="2800" dirty="0"/>
          </a:p>
        </p:txBody>
      </p:sp>
      <p:pic>
        <p:nvPicPr>
          <p:cNvPr id="65" name="Xelix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5384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39A2D-8A5C-F886-441F-D81C93A55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F5EC48B-51FD-C7D8-EF7C-DD2CCA271D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5E722746-B633-3623-372B-CE38A9D3A14D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TWO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D7FABE1-4328-0EC6-740C-2AC7259F489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 SUMMARY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6F0996CE-9C83-823A-BBB2-25A11742F6ED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Goals &amp; KPIs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B7432AA8-1121-0672-A98E-CB4556B9ABB6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1152" y="6364224"/>
            <a:ext cx="783687" cy="2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1402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{DUP_VALUE_YTD}</a:t>
            </a:r>
          </a:p>
        </p:txBody>
      </p:sp>
      <p:sp>
        <p:nvSpPr>
          <p:cNvPr id="7" name="Text 5"/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DUPLICATES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{DUP_CAUGHT_VALUE}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CORRECTED AHEAD OF PAYRUN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{INV_ERRORS_COUNT}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ERRORS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7874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{DUP_COUNT_YTD}</a:t>
            </a:r>
          </a:p>
        </p:txBody>
      </p:sp>
      <p:sp>
        <p:nvSpPr>
          <p:cNvPr id="19" name="Text 17"/>
          <p:cNvSpPr/>
          <p:nvPr/>
        </p:nvSpPr>
        <p:spPr>
          <a:xfrm>
            <a:off x="7239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DUPLICATES</a:t>
            </a:r>
          </a:p>
        </p:txBody>
      </p:sp>
      <p:sp>
        <p:nvSpPr>
          <p:cNvPr id="20" name="Shape 18"/>
          <p:cNvSpPr/>
          <p:nvPr/>
        </p:nvSpPr>
        <p:spPr>
          <a:xfrm>
            <a:off x="43815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45593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{DUP_CAUGHT_COUNT}</a:t>
            </a:r>
          </a:p>
        </p:txBody>
      </p:sp>
      <p:sp>
        <p:nvSpPr>
          <p:cNvPr id="23" name="Text 21"/>
          <p:cNvSpPr/>
          <p:nvPr/>
        </p:nvSpPr>
        <p:spPr>
          <a:xfrm>
            <a:off x="44958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CORRECTED AHEAD OF PAYRUN</a:t>
            </a:r>
          </a:p>
        </p:txBody>
      </p:sp>
      <p:sp>
        <p:nvSpPr>
          <p:cNvPr id="24" name="Shape 22"/>
          <p:cNvSpPr/>
          <p:nvPr/>
        </p:nvSpPr>
        <p:spPr>
          <a:xfrm>
            <a:off x="81661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83439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{MOST_COMMON_ERROR}</a:t>
            </a:r>
          </a:p>
        </p:txBody>
      </p:sp>
      <p:sp>
        <p:nvSpPr>
          <p:cNvPr id="27" name="Text 25"/>
          <p:cNvSpPr/>
          <p:nvPr/>
        </p:nvSpPr>
        <p:spPr>
          <a:xfrm>
            <a:off x="82804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COMMON ERROR TYPE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CD4732B4-A7CA-DA6D-4871-5015F425223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0C952927-C906-8E39-C0CF-1DAC50E6D1C3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TRANSACTIONS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B907C8-E171-5CA1-0657-0FF793298C7A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B9D73B-66D4-754E-A060-2ED564B1A07E}"/>
              </a:ext>
            </a:extLst>
          </p:cNvPr>
          <p:cNvSpPr/>
          <p:nvPr/>
        </p:nvSpPr>
        <p:spPr>
          <a:xfrm>
            <a:off x="6096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48D894-E957-EF40-BB72-59DB6FA72BB7}"/>
              </a:ext>
            </a:extLst>
          </p:cNvPr>
          <p:cNvSpPr/>
          <p:nvPr/>
        </p:nvSpPr>
        <p:spPr>
          <a:xfrm>
            <a:off x="43815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47F5C5B-74DA-8C4F-82C4-1510F97D14C0}"/>
              </a:ext>
            </a:extLst>
          </p:cNvPr>
          <p:cNvSpPr/>
          <p:nvPr/>
        </p:nvSpPr>
        <p:spPr>
          <a:xfrm>
            <a:off x="81661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F5227B-EFDB-E346-90CC-BB072759A987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AAD3EC4-B904-7A78-0783-33857EA3908C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F22D2E3-D471-2BFB-7E8E-B318C7EC92C0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5" name="XelixLogo" descr="image.png">
            <a:extLst>
              <a:ext uri="{FF2B5EF4-FFF2-40B4-BE49-F238E27FC236}">
                <a16:creationId xmlns:a16="http://schemas.microsoft.com/office/drawing/2014/main" id="{9618F45B-813F-8BAF-92B2-FEA24CF901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1152" y="6364224"/>
            <a:ext cx="783687" cy="2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4041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4965A-CCBF-15CE-4412-F06470ADC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AccentBar">
            <a:extLst>
              <a:ext uri="{FF2B5EF4-FFF2-40B4-BE49-F238E27FC236}">
                <a16:creationId xmlns:a16="http://schemas.microsoft.com/office/drawing/2014/main" id="{069E8B05-DD3B-2E86-3A9D-EADB2E9BB7E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B4E62095-C337-6022-6CDA-DBECE14ABDF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HELPDESK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CE168C1-3865-63D9-AF93-0868089C2056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BD966196-4537-CF70-C6FA-4E1430CD7E72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0653CECF-EE45-EC1E-7A21-885F32228378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{TICKETS_TOTAL_YTD}</a:t>
            </a:r>
            <a:endParaRPr lang="en-US" sz="36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23DDEBC0-D71F-BE68-6162-18E2C792C696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TICKETS CREATED</a:t>
            </a:r>
          </a:p>
        </p:txBody>
      </p:sp>
      <p:sp>
        <p:nvSpPr>
          <p:cNvPr id="31" name="Shape 6">
            <a:extLst>
              <a:ext uri="{FF2B5EF4-FFF2-40B4-BE49-F238E27FC236}">
                <a16:creationId xmlns:a16="http://schemas.microsoft.com/office/drawing/2014/main" id="{424E9895-2D29-7DC5-C957-A3550026BC82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D3C47EDB-7CF3-6AC5-6015-60AA22385CB5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{PCT_RESOLVED}</a:t>
            </a:r>
            <a:endParaRPr lang="en-US" sz="3600" dirty="0"/>
          </a:p>
        </p:txBody>
      </p:sp>
      <p:sp>
        <p:nvSpPr>
          <p:cNvPr id="35" name="Text 9">
            <a:extLst>
              <a:ext uri="{FF2B5EF4-FFF2-40B4-BE49-F238E27FC236}">
                <a16:creationId xmlns:a16="http://schemas.microsoft.com/office/drawing/2014/main" id="{7D64F97F-E2E8-C541-B88E-01A86F97B755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% RESOLVED / COMPLETE</a:t>
            </a:r>
          </a:p>
        </p:txBody>
      </p:sp>
      <p:sp>
        <p:nvSpPr>
          <p:cNvPr id="36" name="Shape 10">
            <a:extLst>
              <a:ext uri="{FF2B5EF4-FFF2-40B4-BE49-F238E27FC236}">
                <a16:creationId xmlns:a16="http://schemas.microsoft.com/office/drawing/2014/main" id="{D35BB20E-72C5-CB56-20B4-3DCA94FBA91C}"/>
              </a:ext>
            </a:extLst>
          </p:cNvPr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7" name="Text 12">
            <a:extLst>
              <a:ext uri="{FF2B5EF4-FFF2-40B4-BE49-F238E27FC236}">
                <a16:creationId xmlns:a16="http://schemas.microsoft.com/office/drawing/2014/main" id="{BB84ED05-738D-BAA8-8AFF-15869F05A03A}"/>
              </a:ext>
            </a:extLst>
          </p:cNvPr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{GEN_AI_TICKETS}</a:t>
            </a:r>
            <a:endParaRPr lang="en-US" sz="3600" dirty="0"/>
          </a:p>
        </p:txBody>
      </p:sp>
      <p:sp>
        <p:nvSpPr>
          <p:cNvPr id="38" name="Text 13">
            <a:extLst>
              <a:ext uri="{FF2B5EF4-FFF2-40B4-BE49-F238E27FC236}">
                <a16:creationId xmlns:a16="http://schemas.microsoft.com/office/drawing/2014/main" id="{AB8369B7-D429-DC10-EE5F-B32C0B26521C}"/>
              </a:ext>
            </a:extLst>
          </p:cNvPr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% TICKETS REPLIED TO VIA GEN AI</a:t>
            </a:r>
          </a:p>
        </p:txBody>
      </p:sp>
      <p:sp>
        <p:nvSpPr>
          <p:cNvPr id="39" name="Shape 14">
            <a:extLst>
              <a:ext uri="{FF2B5EF4-FFF2-40B4-BE49-F238E27FC236}">
                <a16:creationId xmlns:a16="http://schemas.microsoft.com/office/drawing/2014/main" id="{D730D335-C980-09B8-67E5-9A094940AC5A}"/>
              </a:ext>
            </a:extLst>
          </p:cNvPr>
          <p:cNvSpPr/>
          <p:nvPr/>
        </p:nvSpPr>
        <p:spPr>
          <a:xfrm>
            <a:off x="2171701" y="4235460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2A1BD334-CFB1-747D-24F2-DB8355F4E9E4}"/>
              </a:ext>
            </a:extLst>
          </p:cNvPr>
          <p:cNvSpPr/>
          <p:nvPr/>
        </p:nvSpPr>
        <p:spPr>
          <a:xfrm>
            <a:off x="2349501" y="4425960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{TRIGGER_TICKETS}</a:t>
            </a:r>
          </a:p>
        </p:txBody>
      </p:sp>
      <p:sp>
        <p:nvSpPr>
          <p:cNvPr id="41" name="Text 17">
            <a:extLst>
              <a:ext uri="{FF2B5EF4-FFF2-40B4-BE49-F238E27FC236}">
                <a16:creationId xmlns:a16="http://schemas.microsoft.com/office/drawing/2014/main" id="{4D191E37-73A9-6B2A-011C-3BB9518B639A}"/>
              </a:ext>
            </a:extLst>
          </p:cNvPr>
          <p:cNvSpPr/>
          <p:nvPr/>
        </p:nvSpPr>
        <p:spPr>
          <a:xfrm>
            <a:off x="2286001" y="5492760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 RESOLVED USING TRIGGERS</a:t>
            </a:r>
          </a:p>
        </p:txBody>
      </p:sp>
      <p:sp>
        <p:nvSpPr>
          <p:cNvPr id="45" name="Shape 22">
            <a:extLst>
              <a:ext uri="{FF2B5EF4-FFF2-40B4-BE49-F238E27FC236}">
                <a16:creationId xmlns:a16="http://schemas.microsoft.com/office/drawing/2014/main" id="{1376A49D-2CE0-8A61-F9FD-F0B19D48036C}"/>
              </a:ext>
            </a:extLst>
          </p:cNvPr>
          <p:cNvSpPr/>
          <p:nvPr/>
        </p:nvSpPr>
        <p:spPr>
          <a:xfrm>
            <a:off x="6540500" y="4149698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6" name="Text 24">
            <a:extLst>
              <a:ext uri="{FF2B5EF4-FFF2-40B4-BE49-F238E27FC236}">
                <a16:creationId xmlns:a16="http://schemas.microsoft.com/office/drawing/2014/main" id="{379F2A2A-A7DE-5852-8C57-82A62DF8FC80}"/>
              </a:ext>
            </a:extLst>
          </p:cNvPr>
          <p:cNvSpPr/>
          <p:nvPr/>
        </p:nvSpPr>
        <p:spPr>
          <a:xfrm>
            <a:off x="6718300" y="4340198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{AUTO_CATEGORISED}</a:t>
            </a:r>
          </a:p>
        </p:txBody>
      </p:sp>
      <p:sp>
        <p:nvSpPr>
          <p:cNvPr id="47" name="Text 25">
            <a:extLst>
              <a:ext uri="{FF2B5EF4-FFF2-40B4-BE49-F238E27FC236}">
                <a16:creationId xmlns:a16="http://schemas.microsoft.com/office/drawing/2014/main" id="{CBD5AD03-05D8-E499-4526-60FFC598F32F}"/>
              </a:ext>
            </a:extLst>
          </p:cNvPr>
          <p:cNvSpPr/>
          <p:nvPr/>
        </p:nvSpPr>
        <p:spPr>
          <a:xfrm>
            <a:off x="6654800" y="5406998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AUTOMATICALLY CATEGORISED TICKETS (INC. CUSTOM CATEGORIES)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B89151E-54DE-50D2-6215-7291CA3DF9D7}"/>
              </a:ext>
            </a:extLst>
          </p:cNvPr>
          <p:cNvSpPr/>
          <p:nvPr/>
        </p:nvSpPr>
        <p:spPr>
          <a:xfrm>
            <a:off x="2171701" y="4235460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5855915-B2BA-FE37-0AFA-E5143F5B93CB}"/>
              </a:ext>
            </a:extLst>
          </p:cNvPr>
          <p:cNvSpPr/>
          <p:nvPr/>
        </p:nvSpPr>
        <p:spPr>
          <a:xfrm>
            <a:off x="6540500" y="4149698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A2F0360-C345-E121-439B-749F5F13235E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ABEB785-281A-555A-E92A-3F0D54A59454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6D5E814-C7E4-C97F-F2FC-B9C825216AA7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54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6329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210AD-10C9-D271-DDD4-13060748A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2">
            <a:extLst>
              <a:ext uri="{FF2B5EF4-FFF2-40B4-BE49-F238E27FC236}">
                <a16:creationId xmlns:a16="http://schemas.microsoft.com/office/drawing/2014/main" id="{7619C6C1-6A82-58C7-6FDF-515E124975AA}"/>
              </a:ext>
            </a:extLst>
          </p:cNvPr>
          <p:cNvSpPr/>
          <p:nvPr/>
        </p:nvSpPr>
        <p:spPr>
          <a:xfrm>
            <a:off x="1959426" y="4160125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2" name="Shape 6">
            <a:extLst>
              <a:ext uri="{FF2B5EF4-FFF2-40B4-BE49-F238E27FC236}">
                <a16:creationId xmlns:a16="http://schemas.microsoft.com/office/drawing/2014/main" id="{9614ABA9-89A6-EE58-0321-C7A288B8F22F}"/>
              </a:ext>
            </a:extLst>
          </p:cNvPr>
          <p:cNvSpPr/>
          <p:nvPr/>
        </p:nvSpPr>
        <p:spPr>
          <a:xfrm>
            <a:off x="6853208" y="4214372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2ADBEAF-24BB-3731-53AB-1489FD99CD13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5DD91F1-0545-4313-6FF9-EBAD1D9A9601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{PCT_SPEND_RECONCILED}</a:t>
            </a:r>
            <a:endParaRPr lang="en-US" sz="36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25DD708-F4B3-428B-4374-529DEEDE5E82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SPEND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2E084EAF-050A-FB10-10B2-2308179F882A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08D0E67-EAE0-70E4-CE1E-BCE2267C465C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{PCT_INVOICES_RECONCILED}</a:t>
            </a:r>
            <a:endParaRPr lang="en-US" sz="36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A1FD2CC-86F7-B89F-CBDC-D551EBB5E1F0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INVOICES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8DCA8EC-1B90-8B47-4C3B-EF997BF0031D}"/>
              </a:ext>
            </a:extLst>
          </p:cNvPr>
          <p:cNvSpPr/>
          <p:nvPr/>
        </p:nvSpPr>
        <p:spPr>
          <a:xfrm>
            <a:off x="2632526" y="4406026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{STATEMENTS_RECONCILED}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D819E5B4-B247-964D-77F4-2FD9858B863D}"/>
              </a:ext>
            </a:extLst>
          </p:cNvPr>
          <p:cNvSpPr/>
          <p:nvPr/>
        </p:nvSpPr>
        <p:spPr>
          <a:xfrm>
            <a:off x="2594426" y="5472826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STATEMENTS RECONCILED</a:t>
            </a: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77C090CE-C5D1-1EE0-94FC-938360954E3C}"/>
              </a:ext>
            </a:extLst>
          </p:cNvPr>
          <p:cNvSpPr/>
          <p:nvPr/>
        </p:nvSpPr>
        <p:spPr>
          <a:xfrm>
            <a:off x="7494558" y="4198784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Barlow" pitchFamily="34" charset="0"/>
              </a:rPr>
              <a:t>{MISSING_CREDITS_VALUE}</a:t>
            </a: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5340CC8B-D2DF-243F-83D4-F10A3F541920}"/>
              </a:ext>
            </a:extLst>
          </p:cNvPr>
          <p:cNvSpPr/>
          <p:nvPr/>
        </p:nvSpPr>
        <p:spPr>
          <a:xfrm>
            <a:off x="7456458" y="544456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 NOTES RECEIVED (DEPENDENT ON RECEIVING WORKFLOW DATA)</a:t>
            </a: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F10AF9F8-6AB5-7059-79D5-5090BCDAE97E}"/>
              </a:ext>
            </a:extLst>
          </p:cNvPr>
          <p:cNvSpPr/>
          <p:nvPr/>
        </p:nvSpPr>
        <p:spPr>
          <a:xfrm>
            <a:off x="8153400" y="2005167"/>
            <a:ext cx="3360056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F506F716-7721-A3DF-F2C3-8CBDF625162B}"/>
              </a:ext>
            </a:extLst>
          </p:cNvPr>
          <p:cNvSpPr/>
          <p:nvPr/>
        </p:nvSpPr>
        <p:spPr>
          <a:xfrm>
            <a:off x="8696778" y="2285352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{PCT_STATEMENTS_AUTOMATED}</a:t>
            </a: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E2B5F38-44DF-B2EB-E990-7AD734EA01C8}"/>
              </a:ext>
            </a:extLst>
          </p:cNvPr>
          <p:cNvSpPr/>
          <p:nvPr/>
        </p:nvSpPr>
        <p:spPr>
          <a:xfrm>
            <a:off x="8696778" y="3326283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STATEMENTS ARE AUTOMATED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DD32A8EF-83C1-2A03-5577-855B706D276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631F8DA0-8FCA-53F6-A20D-621F2E8D8680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STATEMENTS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C0458F6-3B27-975F-D8B3-3F76BED93EA3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09F046-428B-19AD-015F-8E0F7F506B33}"/>
              </a:ext>
            </a:extLst>
          </p:cNvPr>
          <p:cNvSpPr/>
          <p:nvPr/>
        </p:nvSpPr>
        <p:spPr>
          <a:xfrm>
            <a:off x="8153401" y="2094067"/>
            <a:ext cx="3360055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0CBE9C3-0732-EC11-F6CC-334765B4FDA1}"/>
              </a:ext>
            </a:extLst>
          </p:cNvPr>
          <p:cNvSpPr/>
          <p:nvPr/>
        </p:nvSpPr>
        <p:spPr>
          <a:xfrm>
            <a:off x="4401020" y="204961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90B1993-88CE-4648-32CE-BC9A0ADBC97E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634B4B4-CE5B-EB15-26B6-91E5AED52F84}"/>
              </a:ext>
            </a:extLst>
          </p:cNvPr>
          <p:cNvSpPr/>
          <p:nvPr/>
        </p:nvSpPr>
        <p:spPr>
          <a:xfrm>
            <a:off x="6956878" y="4247284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7F15816-2A79-A36C-CE9F-AC7071C79765}"/>
              </a:ext>
            </a:extLst>
          </p:cNvPr>
          <p:cNvSpPr/>
          <p:nvPr/>
        </p:nvSpPr>
        <p:spPr>
          <a:xfrm>
            <a:off x="1959426" y="4214372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37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6078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9405F-00DA-2BB4-4EBD-CCAF15751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12EB5C9-9A54-7E9C-5CD3-999886944CBF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1DCBFB86-C87D-63A6-E9CD-B716D6A6E9F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3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CCC27E9D-43BB-0723-1FCC-07775921E6FE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A71E5F34-B544-A660-CD92-8F48429774CA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2081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831E626-26D1-564B-9D54-74B41E4CCF32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503B65-82AC-544F-8D55-D4C2A66449B6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7A3292-CF3A-DF4F-8819-29B2412643B0}"/>
              </a:ext>
            </a:extLst>
          </p:cNvPr>
          <p:cNvSpPr txBox="1"/>
          <p:nvPr/>
        </p:nvSpPr>
        <p:spPr>
          <a:xfrm>
            <a:off x="508000" y="877539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
✏ Fill in Current Performance column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C066808-40D6-5F4D-8BCA-55427C062C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3539561"/>
              </p:ext>
            </p:extLst>
          </p:nvPr>
        </p:nvGraphicFramePr>
        <p:xfrm>
          <a:off x="508000" y="1684010"/>
          <a:ext cx="11161485" cy="4466993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3014383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3853777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473925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</a:tblGrid>
              <a:tr h="630973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Tracked in </a:t>
                      </a: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Barlow"/>
                        </a:rPr>
                        <a:t>Xelix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6615608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6761537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4873470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49496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5387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C3C98-9079-1957-AEE8-CF715A09F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F914E9CF-DAF2-695B-3566-0A365921EB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C306CFA2-B545-0BBF-32E4-A0FB34CE656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9B283D52-A04F-9A36-4F1C-4469C2233CF5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7AC9B1D5-6808-FD0C-E27D-7F78203D6CBA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{DUP_TREND_NARRATIVE}</a:t>
            </a:r>
          </a:p>
        </p:txBody>
      </p:sp>
      <p:sp>
        <p:nvSpPr>
          <p:cNvPr id="4" name="Shape 14">
            <a:extLst>
              <a:ext uri="{FF2B5EF4-FFF2-40B4-BE49-F238E27FC236}">
                <a16:creationId xmlns:a16="http://schemas.microsoft.com/office/drawing/2014/main" id="{A4904DC2-A143-B67E-E5B9-C503639ACFFF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5" name="Text 16">
            <a:extLst>
              <a:ext uri="{FF2B5EF4-FFF2-40B4-BE49-F238E27FC236}">
                <a16:creationId xmlns:a16="http://schemas.microsoft.com/office/drawing/2014/main" id="{2807F66C-943E-C21A-1B52-B790394D33B5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{DUP_COUNT_YTD}</a:t>
            </a:r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F1223AE9-C64D-5D4E-B24D-AEB52AD5ECDE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 invoices confirmed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8E8D20-2FC6-7564-62B0-5058063F7B2E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2A08FBB4-C1CD-ED1D-1336-E1CB4D539ABE}"/>
              </a:ext>
            </a:extLst>
          </p:cNvPr>
          <p:cNvSpPr/>
          <p:nvPr/>
        </p:nvSpPr>
        <p:spPr>
          <a:xfrm>
            <a:off x="7924800" y="443878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486824EC-6200-D3CA-D99C-61567138E50B}"/>
              </a:ext>
            </a:extLst>
          </p:cNvPr>
          <p:cNvSpPr/>
          <p:nvPr/>
        </p:nvSpPr>
        <p:spPr>
          <a:xfrm>
            <a:off x="8051800" y="454038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{DUP_VALUE_YTD}</a:t>
            </a:r>
          </a:p>
        </p:txBody>
      </p:sp>
      <p:sp>
        <p:nvSpPr>
          <p:cNvPr id="14" name="Text 17">
            <a:extLst>
              <a:ext uri="{FF2B5EF4-FFF2-40B4-BE49-F238E27FC236}">
                <a16:creationId xmlns:a16="http://schemas.microsoft.com/office/drawing/2014/main" id="{35948F82-19E7-6697-4AB3-1D88550582A5}"/>
              </a:ext>
            </a:extLst>
          </p:cNvPr>
          <p:cNvSpPr/>
          <p:nvPr/>
        </p:nvSpPr>
        <p:spPr>
          <a:xfrm>
            <a:off x="8013700" y="503490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Worth of duplicate invoices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E372BC0-1C27-0AF0-FC4E-9CB279FDFD48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7F9A52A0-9EDA-470B-DB8E-7F4C77AC2A56}"/>
              </a:ext>
            </a:extLst>
          </p:cNvPr>
          <p:cNvSpPr/>
          <p:nvPr/>
        </p:nvSpPr>
        <p:spPr>
          <a:xfrm>
            <a:off x="7924800" y="551180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7" name="Text 16">
            <a:extLst>
              <a:ext uri="{FF2B5EF4-FFF2-40B4-BE49-F238E27FC236}">
                <a16:creationId xmlns:a16="http://schemas.microsoft.com/office/drawing/2014/main" id="{8B3B3265-28D3-9DBA-0557-882E13FD3CBA}"/>
              </a:ext>
            </a:extLst>
          </p:cNvPr>
          <p:cNvSpPr/>
          <p:nvPr/>
        </p:nvSpPr>
        <p:spPr>
          <a:xfrm>
            <a:off x="8051800" y="561340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{DUP_TREND_PCT}</a:t>
            </a:r>
          </a:p>
        </p:txBody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C555C51E-657D-6FD9-AED8-0D9E1E35B8AD}"/>
              </a:ext>
            </a:extLst>
          </p:cNvPr>
          <p:cNvSpPr/>
          <p:nvPr/>
        </p:nvSpPr>
        <p:spPr>
          <a:xfrm>
            <a:off x="8013700" y="610792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Change from last quarter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788ACF5-F887-67A1-6C23-66B464735C0B}"/>
              </a:ext>
            </a:extLst>
          </p:cNvPr>
          <p:cNvSpPr/>
          <p:nvPr/>
        </p:nvSpPr>
        <p:spPr>
          <a:xfrm>
            <a:off x="7924800" y="551180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142" name="SS_14_0_PH"/>
          <p:cNvSpPr/>
          <p:nvPr/>
        </p:nvSpPr>
        <p:spPr>
          <a:xfrm>
            <a:off x="260000" y="702452"/>
            <a:ext cx="6912131" cy="5557606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43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2286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/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/>
          <p:cNvSpPr/>
          <p:nvPr/>
        </p:nvSpPr>
        <p:spPr>
          <a:xfrm>
            <a:off x="507999" y="5790142"/>
            <a:ext cx="10576767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Uncovering the root causes behind duplicate invoices</a:t>
            </a:r>
          </a:p>
        </p:txBody>
      </p:sp>
      <p:sp>
        <p:nvSpPr>
          <p:cNvPr id="9152" name="SS_15_0_PH"/>
          <p:cNvSpPr/>
          <p:nvPr/>
        </p:nvSpPr>
        <p:spPr>
          <a:xfrm>
            <a:off x="508000" y="702452"/>
            <a:ext cx="11176000" cy="4451632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5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5665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E810C1-DC7B-59E1-500B-958019E2A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5B77AA1-887D-107E-F782-F3F984A62A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22CFFFB2-2DA8-1BA5-3DB5-37BA03D8BD4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F06DA6D-30F1-4018-ECE5-2DC095819F52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CaptionTitle">
            <a:extLst>
              <a:ext uri="{FF2B5EF4-FFF2-40B4-BE49-F238E27FC236}">
                <a16:creationId xmlns:a16="http://schemas.microsoft.com/office/drawing/2014/main" id="{4F702680-3963-9C93-8519-157C4152DF54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{DUP_CAUGHT_COUNT} detected ahead of the payment run</a:t>
            </a: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67AC28A3-39C0-8B0D-C68B-9154F9522B57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 Payment, correction done before the payment run</a:t>
            </a:r>
          </a:p>
        </p:txBody>
      </p:sp>
      <p:sp>
        <p:nvSpPr>
          <p:cNvPr id="25" name="Shape 14">
            <a:extLst>
              <a:ext uri="{FF2B5EF4-FFF2-40B4-BE49-F238E27FC236}">
                <a16:creationId xmlns:a16="http://schemas.microsoft.com/office/drawing/2014/main" id="{7EAB9FE3-BD5B-1A6D-194A-E55071BAE569}"/>
              </a:ext>
            </a:extLst>
          </p:cNvPr>
          <p:cNvSpPr/>
          <p:nvPr/>
        </p:nvSpPr>
        <p:spPr>
          <a:xfrm>
            <a:off x="7924800" y="2885781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16">
            <a:extLst>
              <a:ext uri="{FF2B5EF4-FFF2-40B4-BE49-F238E27FC236}">
                <a16:creationId xmlns:a16="http://schemas.microsoft.com/office/drawing/2014/main" id="{C46DC005-CB8B-58A7-8633-ACB67ACD8FED}"/>
              </a:ext>
            </a:extLst>
          </p:cNvPr>
          <p:cNvSpPr/>
          <p:nvPr/>
        </p:nvSpPr>
        <p:spPr>
          <a:xfrm>
            <a:off x="8046720" y="3124617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{DUP_CAUGHT_VALUE}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A3A4092-8006-70C7-938C-7A753846B3BD}"/>
              </a:ext>
            </a:extLst>
          </p:cNvPr>
          <p:cNvSpPr/>
          <p:nvPr/>
        </p:nvSpPr>
        <p:spPr>
          <a:xfrm>
            <a:off x="7924800" y="2885780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162" name="SS_16_0_PH"/>
          <p:cNvSpPr/>
          <p:nvPr/>
        </p:nvSpPr>
        <p:spPr>
          <a:xfrm>
            <a:off x="260000" y="702452"/>
            <a:ext cx="6912131" cy="5557606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63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3000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1ED23B-F103-4EBE-AAA8-7CF5D7A56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CBE648C6-EB7E-738C-9130-B7E12B0B90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1D20EBA3-E6C3-48B6-294A-57A61F51331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B883780B-517D-0612-4C70-41AFBC7A914B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07328B3E-178C-A5A2-B1F9-8E612042442A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80CFBC30-605D-9276-252D-5675AA3A168B}"/>
              </a:ext>
            </a:extLst>
          </p:cNvPr>
          <p:cNvSpPr/>
          <p:nvPr/>
        </p:nvSpPr>
        <p:spPr>
          <a:xfrm>
            <a:off x="8046720" y="4854957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{INV_ERRORS_COUNT}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132644D4-B84E-6E8D-70E5-5514E0D3208D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Invoice errors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C99C1B-A451-2062-B36E-F97AFC4100F8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172" name="SS_17_0_PH"/>
          <p:cNvSpPr/>
          <p:nvPr/>
        </p:nvSpPr>
        <p:spPr>
          <a:xfrm>
            <a:off x="260000" y="702452"/>
            <a:ext cx="6912131" cy="5557606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73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5642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FA9D5-EF6B-6098-6775-A0ED21CB1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820C5580-E108-0ED3-3830-CA56C1E62C6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82582A55-3FFD-A5E8-63BE-9F37CA7F970F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70D0411C-B353-5F55-E2C1-9C94B0659DB9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046D4653-B120-FF41-9C8C-600DCE96430C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invoice error types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C8AF35D9-D9C6-93B9-5C3F-3347760006AE}"/>
              </a:ext>
            </a:extLst>
          </p:cNvPr>
          <p:cNvSpPr/>
          <p:nvPr/>
        </p:nvSpPr>
        <p:spPr>
          <a:xfrm>
            <a:off x="6178938" y="5878315"/>
            <a:ext cx="424007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16F03190-B7ED-B6BD-2941-1F0669FDD2E5}"/>
              </a:ext>
            </a:extLst>
          </p:cNvPr>
          <p:cNvSpPr/>
          <p:nvPr/>
        </p:nvSpPr>
        <p:spPr>
          <a:xfrm>
            <a:off x="6293595" y="6086990"/>
            <a:ext cx="3957987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Error type recovery breakdown</a:t>
            </a:r>
          </a:p>
        </p:txBody>
      </p:sp>
      <p:sp>
        <p:nvSpPr>
          <p:cNvPr id="9183" name="SS_18_0_PH"/>
          <p:cNvSpPr/>
          <p:nvPr/>
        </p:nvSpPr>
        <p:spPr>
          <a:xfrm>
            <a:off x="507999" y="1135310"/>
            <a:ext cx="5426269" cy="4524095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sp>
        <p:nvSpPr>
          <p:cNvPr id="9184" name="SS_18_1_PH"/>
          <p:cNvSpPr/>
          <p:nvPr/>
        </p:nvSpPr>
        <p:spPr>
          <a:xfrm>
            <a:off x="6178938" y="1135310"/>
            <a:ext cx="5426269" cy="4524095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85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0561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4" name="RightPanel"/>
          <p:cNvSpPr/>
          <p:nvPr/>
        </p:nvSpPr>
        <p:spPr>
          <a:xfrm>
            <a:off x="6858000" y="0"/>
            <a:ext cx="5334000" cy="6858000"/>
          </a:xfrm>
          <a:prstGeom prst="rect">
            <a:avLst/>
          </a:prstGeom>
          <a:solidFill>
            <a:srgbClr val="1E0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ccentBar">
            <a:extLst>
              <a:ext uri="{FF2B5EF4-FFF2-40B4-BE49-F238E27FC236}">
                <a16:creationId xmlns:a16="http://schemas.microsoft.com/office/drawing/2014/main" id="{1D20EBA3-E6C3-48B6-294A-57A61F51331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B883780B-517D-0612-4C70-41AFBC7A914B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5D1EFD21-0978-03CE-6BA4-49854F90FED4}"/>
              </a:ext>
            </a:extLst>
          </p:cNvPr>
          <p:cNvSpPr/>
          <p:nvPr/>
        </p:nvSpPr>
        <p:spPr>
          <a:xfrm>
            <a:off x="7315200" y="914400"/>
            <a:ext cx="4114800" cy="2743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invoice errors by root cause</a:t>
            </a:r>
          </a:p>
        </p:txBody>
      </p:sp>
      <p:sp>
        <p:nvSpPr>
          <p:cNvPr id="9172" name="SS_17_0_PH"/>
          <p:cNvSpPr/>
          <p:nvPr/>
        </p:nvSpPr>
        <p:spPr>
          <a:xfrm>
            <a:off x="256032" y="704088"/>
            <a:ext cx="6400800" cy="5577840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73" name="XelixLogo" descr="image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{VALUE_REC_DUPES}</a:t>
            </a:r>
          </a:p>
        </p:txBody>
      </p:sp>
      <p:sp>
        <p:nvSpPr>
          <p:cNvPr id="7" name="Text 5"/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RECOVERED – DUPLICATES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{VALUE_REC_ERRORS}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RECOVERED – ERRORS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{VALUE_REC_HIST_DUPES}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HISTORICAL DUPLICATES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7874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{VALUE_REC_HIST_ERRORS}</a:t>
            </a:r>
          </a:p>
        </p:txBody>
      </p:sp>
      <p:sp>
        <p:nvSpPr>
          <p:cNvPr id="19" name="Text 17"/>
          <p:cNvSpPr/>
          <p:nvPr/>
        </p:nvSpPr>
        <p:spPr>
          <a:xfrm>
            <a:off x="7239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HISTORICAL ERRORS</a:t>
            </a:r>
          </a:p>
        </p:txBody>
      </p:sp>
      <p:sp>
        <p:nvSpPr>
          <p:cNvPr id="20" name="Shape 18"/>
          <p:cNvSpPr/>
          <p:nvPr/>
        </p:nvSpPr>
        <p:spPr>
          <a:xfrm>
            <a:off x="43815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45593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{ERROR_TYPE_COUNT}</a:t>
            </a:r>
          </a:p>
        </p:txBody>
      </p:sp>
      <p:sp>
        <p:nvSpPr>
          <p:cNvPr id="23" name="Text 21"/>
          <p:cNvSpPr/>
          <p:nvPr/>
        </p:nvSpPr>
        <p:spPr>
          <a:xfrm>
            <a:off x="44958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DISTINCT ERROR TYPES</a:t>
            </a:r>
          </a:p>
        </p:txBody>
      </p:sp>
      <p:sp>
        <p:nvSpPr>
          <p:cNvPr id="24" name="Shape 22"/>
          <p:cNvSpPr/>
          <p:nvPr/>
        </p:nvSpPr>
        <p:spPr>
          <a:xfrm>
            <a:off x="81661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83439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{INV_ERRORS_CAUGHT}</a:t>
            </a:r>
          </a:p>
        </p:txBody>
      </p:sp>
      <p:sp>
        <p:nvSpPr>
          <p:cNvPr id="27" name="Text 25"/>
          <p:cNvSpPr/>
          <p:nvPr/>
        </p:nvSpPr>
        <p:spPr>
          <a:xfrm>
            <a:off x="82804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INVOICE ERRORS CAUGHT AHEAD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CD4732B4-A7CA-DA6D-4871-5015F425223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0C952927-C906-8E39-C0CF-1DAC50E6D1C3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RECOVERY &amp; ERRORS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B907C8-E171-5CA1-0657-0FF793298C7A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TRANSACTIONS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B9D73B-66D4-754E-A060-2ED564B1A07E}"/>
              </a:ext>
            </a:extLst>
          </p:cNvPr>
          <p:cNvSpPr/>
          <p:nvPr/>
        </p:nvSpPr>
        <p:spPr>
          <a:xfrm>
            <a:off x="6096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48D894-E957-EF40-BB72-59DB6FA72BB7}"/>
              </a:ext>
            </a:extLst>
          </p:cNvPr>
          <p:cNvSpPr/>
          <p:nvPr/>
        </p:nvSpPr>
        <p:spPr>
          <a:xfrm>
            <a:off x="43815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47F5C5B-74DA-8C4F-82C4-1510F97D14C0}"/>
              </a:ext>
            </a:extLst>
          </p:cNvPr>
          <p:cNvSpPr/>
          <p:nvPr/>
        </p:nvSpPr>
        <p:spPr>
          <a:xfrm>
            <a:off x="81661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F5227B-EFDB-E346-90CC-BB072759A987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AAD3EC4-B904-7A78-0783-33857EA3908C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F22D2E3-D471-2BFB-7E8E-B318C7EC92C0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5" name="XelixLogo" descr="image.png">
            <a:extLst>
              <a:ext uri="{FF2B5EF4-FFF2-40B4-BE49-F238E27FC236}">
                <a16:creationId xmlns:a16="http://schemas.microsoft.com/office/drawing/2014/main" id="{9618F45B-813F-8BAF-92B2-FEA24CF901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1152" y="6364224"/>
            <a:ext cx="783687" cy="2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4041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5CD50-2F3C-377E-7313-F5ADABE24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D11C4C0-4E3E-4D77-75A8-A67C0DD99B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69A1A83C-2F5C-F004-C222-69FC15B32DE8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  <a:endParaRPr lang="en-US" sz="1100" dirty="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F33D1345-D286-36D7-8D8C-9883D11CC538}"/>
              </a:ext>
            </a:extLst>
          </p:cNvPr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{TRANSACTIONS_SR_1}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B6B881F6-75B5-291E-B44A-B7D09BB7ACD2}"/>
              </a:ext>
            </a:extLst>
          </p:cNvPr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07043799-3D4C-13C4-751A-4C49B861D985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3D2019A1-E0AB-F7B4-DC75-D41FC211C169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96E06D26-DFD8-E893-B016-B637F4AF17E0}"/>
              </a:ext>
            </a:extLst>
          </p:cNvPr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{TRANSACTIONS_SR_2}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4" name="Shape 30">
            <a:extLst>
              <a:ext uri="{FF2B5EF4-FFF2-40B4-BE49-F238E27FC236}">
                <a16:creationId xmlns:a16="http://schemas.microsoft.com/office/drawing/2014/main" id="{C3230A54-F852-847E-00DF-294C0DE0EA9D}"/>
              </a:ext>
            </a:extLst>
          </p:cNvPr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DF77FA66-3CAF-F337-6F19-1F6605DD019B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27A689E5-7D81-CAE8-8F91-37D4BF8247B6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065900A2-FFB9-8346-1C95-8F668ED0D708}"/>
              </a:ext>
            </a:extLst>
          </p:cNvPr>
          <p:cNvSpPr/>
          <p:nvPr/>
        </p:nvSpPr>
        <p:spPr>
          <a:xfrm>
            <a:off x="502920" y="1351915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RECOMMENDATIONS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pic>
        <p:nvPicPr>
          <p:cNvPr id="65" name="Xelix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5384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B1749-43F5-CED5-3407-D20A850D9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0DEC32F-1A7C-0D54-4687-C1583E08DB7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89668B59-70D2-E063-5AED-8BC2D7F8837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4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7BB18BFD-C1F8-3426-5394-15DC81081ACD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6969ECF1-1CFA-FD48-F6F7-CF8348A02261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59868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EDCFCE15-2183-78FB-E611-22A602D61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737B400-5E5F-45F8-8CD2-5E7BAE1092C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C7A67-DAC3-808C-5A9C-ED0425D70209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077EA8-2128-F4AE-E0E2-10700BD292AD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  <a:p>
            <a:pPr algn="l"/>
            <a:r>
              <a:rPr lang="en-GB" sz="800" i="1" dirty="0">
                <a:solidFill>
                  <a:srgbClr val="FFAACC"/>
                </a:solidFill>
                <a:latin typeface="Barlow"/>
              </a:rPr>
              <a:t>✏ Fill in Current Performance column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2D2EF58-98DB-B788-498D-49A54A67DD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2600671"/>
              </p:ext>
            </p:extLst>
          </p:nvPr>
        </p:nvGraphicFramePr>
        <p:xfrm>
          <a:off x="508000" y="1820564"/>
          <a:ext cx="10072914" cy="3907532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</a:tblGrid>
              <a:tr h="551947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Tracked in Xelix?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67111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67111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8104842"/>
                  </a:ext>
                </a:extLst>
              </a:tr>
              <a:tr h="67111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7364015"/>
                  </a:ext>
                </a:extLst>
              </a:tr>
              <a:tr h="67111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8336242"/>
                  </a:ext>
                </a:extLst>
              </a:tr>
              <a:tr h="67111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48360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34765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0587A3-0DB4-266C-1F2B-C98C5B538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84D3AD54-1A17-D334-6028-E502CC7AC5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390525" y="25400"/>
            <a:ext cx="4771869" cy="68326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028BF0E1-14A0-384B-2E5E-C6C64A876D6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3360A132-0472-8BFA-E5A3-1E4AB73E20BF}"/>
              </a:ext>
            </a:extLst>
          </p:cNvPr>
          <p:cNvSpPr/>
          <p:nvPr/>
        </p:nvSpPr>
        <p:spPr>
          <a:xfrm>
            <a:off x="7970520" y="274169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D2AF4B5C-818F-BFD5-CAC2-637628A5722F}"/>
              </a:ext>
            </a:extLst>
          </p:cNvPr>
          <p:cNvSpPr/>
          <p:nvPr/>
        </p:nvSpPr>
        <p:spPr>
          <a:xfrm>
            <a:off x="7962900" y="466417"/>
            <a:ext cx="362712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Month-on-month growth in reconciliations: {MOM_GROWTH}  |  Vendors reconciled: {PCT_VENDORS_RECONCILED}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590C7543-95A5-B80E-AD3F-B1CA0A796A00}"/>
              </a:ext>
            </a:extLst>
          </p:cNvPr>
          <p:cNvSpPr/>
          <p:nvPr/>
        </p:nvSpPr>
        <p:spPr>
          <a:xfrm>
            <a:off x="7924800" y="357058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D813804C-3F57-FDFA-7C7B-E8648FDC48F0}"/>
              </a:ext>
            </a:extLst>
          </p:cNvPr>
          <p:cNvSpPr/>
          <p:nvPr/>
        </p:nvSpPr>
        <p:spPr>
          <a:xfrm>
            <a:off x="8046720" y="3655576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  <a:latin typeface="Barlow" pitchFamily="34" charset="0"/>
              </a:rPr>
              <a:t>{MISSING_CREDITS_VALUE}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E3621AD1-3D55-13E7-F9B3-484056CFB025}"/>
              </a:ext>
            </a:extLst>
          </p:cNvPr>
          <p:cNvSpPr/>
          <p:nvPr/>
        </p:nvSpPr>
        <p:spPr>
          <a:xfrm>
            <a:off x="8008620" y="4030096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credits received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2104FB-4DE7-F768-4858-DDD4B597B865}"/>
              </a:ext>
            </a:extLst>
          </p:cNvPr>
          <p:cNvSpPr/>
          <p:nvPr/>
        </p:nvSpPr>
        <p:spPr>
          <a:xfrm>
            <a:off x="7924800" y="358895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Shape 14">
            <a:extLst>
              <a:ext uri="{FF2B5EF4-FFF2-40B4-BE49-F238E27FC236}">
                <a16:creationId xmlns:a16="http://schemas.microsoft.com/office/drawing/2014/main" id="{F6BABC59-CF1E-D61B-7353-85A9C960FA50}"/>
              </a:ext>
            </a:extLst>
          </p:cNvPr>
          <p:cNvSpPr/>
          <p:nvPr/>
        </p:nvSpPr>
        <p:spPr>
          <a:xfrm>
            <a:off x="7924800" y="4780936"/>
            <a:ext cx="3759200" cy="143736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DFE9FE3-2109-BEA8-821F-9566E9A7464E}"/>
              </a:ext>
            </a:extLst>
          </p:cNvPr>
          <p:cNvSpPr/>
          <p:nvPr/>
        </p:nvSpPr>
        <p:spPr>
          <a:xfrm>
            <a:off x="7924800" y="4780936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BE5342F6-09B3-70F7-CF1C-1EFA780D1BAF}"/>
              </a:ext>
            </a:extLst>
          </p:cNvPr>
          <p:cNvSpPr/>
          <p:nvPr/>
        </p:nvSpPr>
        <p:spPr>
          <a:xfrm>
            <a:off x="8046720" y="4882536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Barlow" pitchFamily="34" charset="0"/>
              </a:rPr>
              <a:t>{VENDORS_PCT_SPEND}</a:t>
            </a:r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C2CA9B0E-B20E-A5EC-5341-A78A7C3C618B}"/>
              </a:ext>
            </a:extLst>
          </p:cNvPr>
          <p:cNvSpPr/>
          <p:nvPr/>
        </p:nvSpPr>
        <p:spPr>
          <a:xfrm>
            <a:off x="7970520" y="5339736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spend</a:t>
            </a:r>
          </a:p>
        </p:txBody>
      </p:sp>
      <p:sp>
        <p:nvSpPr>
          <p:cNvPr id="9222" name="SS_22_0_PH"/>
          <p:cNvSpPr/>
          <p:nvPr/>
        </p:nvSpPr>
        <p:spPr>
          <a:xfrm>
            <a:off x="260000" y="702452"/>
            <a:ext cx="6912131" cy="5557606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223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6185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0C2AC-FB5C-292D-A14A-7013B71CB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564476A-EDB6-B4EE-2233-F4D36322351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6DF01D9-7159-C31E-68FD-CA95ADB9BA6E}"/>
              </a:ext>
            </a:extLst>
          </p:cNvPr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B1DD0184-3926-5219-BCCD-771984E9181D}"/>
              </a:ext>
            </a:extLst>
          </p:cNvPr>
          <p:cNvSpPr/>
          <p:nvPr/>
        </p:nvSpPr>
        <p:spPr>
          <a:xfrm>
            <a:off x="507999" y="5790142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invoice reconciliation compares across the industry: {PCT_INVOICES_RECONCILED} (industry benchmark {INDUSTRY_BENCHMARK})</a:t>
            </a:r>
          </a:p>
        </p:txBody>
      </p:sp>
      <p:sp>
        <p:nvSpPr>
          <p:cNvPr id="9232" name="SS_23_0_PH"/>
          <p:cNvSpPr/>
          <p:nvPr/>
        </p:nvSpPr>
        <p:spPr>
          <a:xfrm>
            <a:off x="508000" y="702452"/>
            <a:ext cx="11176000" cy="4451632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23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3658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869A7-D1D8-494F-FE52-3A26D503B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EF9D2B17-E716-6AEB-161E-A66513DD115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AD915CD-BB79-99AE-52EA-624DF1DF48AB}"/>
              </a:ext>
            </a:extLst>
          </p:cNvPr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A5B166A3-C5D3-4857-19E3-4053F065236A}"/>
              </a:ext>
            </a:extLst>
          </p:cNvPr>
          <p:cNvSpPr/>
          <p:nvPr/>
        </p:nvSpPr>
        <p:spPr>
          <a:xfrm>
            <a:off x="507999" y="5790142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spend reconciliation compares across the industry: {PCT_SPEND_RECONCILED} (industry benchmark {INDUSTRY_BENCHMARK})</a:t>
            </a:r>
          </a:p>
        </p:txBody>
      </p:sp>
      <p:sp>
        <p:nvSpPr>
          <p:cNvPr id="14" name="SS_24_0_PH"/>
          <p:cNvSpPr/>
          <p:nvPr/>
        </p:nvSpPr>
        <p:spPr>
          <a:xfrm>
            <a:off x="342122" y="502484"/>
            <a:ext cx="11507756" cy="4628914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15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8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18FE8-378E-76C2-CE68-1D23DB7F4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5E4E6AF0-CBEC-B703-2C5F-64D2E759E6B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D457A4CF-31BD-8132-3408-E4BD79EAEE52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E8CD6915-9BB8-2800-A578-9AA9E19C89C1}"/>
              </a:ext>
            </a:extLst>
          </p:cNvPr>
          <p:cNvSpPr/>
          <p:nvPr/>
        </p:nvSpPr>
        <p:spPr>
          <a:xfrm>
            <a:off x="507999" y="732755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Invoice coverage across statements: {INVOICE_COVERAGE}</a:t>
            </a:r>
          </a:p>
        </p:txBody>
      </p:sp>
      <p:sp>
        <p:nvSpPr>
          <p:cNvPr id="9252" name="SS_INVCOV_0_PH"/>
          <p:cNvSpPr/>
          <p:nvPr/>
        </p:nvSpPr>
        <p:spPr>
          <a:xfrm>
            <a:off x="2175434" y="1414710"/>
            <a:ext cx="7603267" cy="5159094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25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4424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18FE8-378E-76C2-CE68-1D23DB7F4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5E4E6AF0-CBEC-B703-2C5F-64D2E759E6B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D457A4CF-31BD-8132-3408-E4BD79EAEE52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E8CD6915-9BB8-2800-A578-9AA9E19C89C1}"/>
              </a:ext>
            </a:extLst>
          </p:cNvPr>
          <p:cNvSpPr/>
          <p:nvPr/>
        </p:nvSpPr>
        <p:spPr>
          <a:xfrm>
            <a:off x="507999" y="732755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 Automation</a:t>
            </a:r>
          </a:p>
        </p:txBody>
      </p:sp>
      <p:sp>
        <p:nvSpPr>
          <p:cNvPr id="9252" name="SS_25_0_PH"/>
          <p:cNvSpPr/>
          <p:nvPr/>
        </p:nvSpPr>
        <p:spPr>
          <a:xfrm>
            <a:off x="2175434" y="1414710"/>
            <a:ext cx="7603267" cy="5159094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25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4424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B7ED0-B066-FB82-6CEF-D3E43DE24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F770EDAA-0444-1DC6-CD8A-01FF1C21FF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7D63DFF8-5A5D-C7C7-492B-3C6F794B936B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  <a:endParaRPr lang="en-US" sz="1100" dirty="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39292D0D-54D5-9634-1242-1DFAC830EBFF}"/>
              </a:ext>
            </a:extLst>
          </p:cNvPr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{STATEMENTS_SR_1}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37357355-43D8-3599-67C2-8525F03113FD}"/>
              </a:ext>
            </a:extLst>
          </p:cNvPr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3A59CF08-FA21-D94F-E4F3-0254E57F20A7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697EC631-705B-21D1-32F3-A74B4CDF1DDD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1B4EA154-1AB6-C2B0-BA0E-68D5BB329818}"/>
              </a:ext>
            </a:extLst>
          </p:cNvPr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{STATEMENTS_SR_2}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4" name="Shape 30">
            <a:extLst>
              <a:ext uri="{FF2B5EF4-FFF2-40B4-BE49-F238E27FC236}">
                <a16:creationId xmlns:a16="http://schemas.microsoft.com/office/drawing/2014/main" id="{8B21245F-1A80-CFA1-68FE-785226669170}"/>
              </a:ext>
            </a:extLst>
          </p:cNvPr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F84C51DC-4466-4F13-94C1-161A88FA2E41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E921E901-FFEE-AC05-7F74-B9F5B45CC616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3FF2901E-3468-F768-D707-781A9F901F89}"/>
              </a:ext>
            </a:extLst>
          </p:cNvPr>
          <p:cNvSpPr/>
          <p:nvPr/>
        </p:nvSpPr>
        <p:spPr>
          <a:xfrm>
            <a:off x="502920" y="1351915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RECOMMENDATIONS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pic>
        <p:nvPicPr>
          <p:cNvPr id="65" name="Xelix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0880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3528E-74C4-BA8E-6CE7-6699E88D6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191D3A21-C438-A795-09EA-2F9B5CA918C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CB158DDC-BC7E-BF56-547A-4C217BC84413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5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96EA724C-411F-ADE9-AD2A-D37E92F5043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85A4AFD3-DD50-F271-13BF-82AFB116825B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7581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FDB3826F-88B1-6D53-52C1-77E11E793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D2C1BFB-5852-9E17-512B-3CE0A51C6397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3CD4DF-23A5-7360-88DC-3440496FB65B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68091-3EA3-3FA5-10CE-C7611DA673EF}"/>
              </a:ext>
            </a:extLst>
          </p:cNvPr>
          <p:cNvSpPr txBox="1"/>
          <p:nvPr/>
        </p:nvSpPr>
        <p:spPr>
          <a:xfrm>
            <a:off x="508000" y="827071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 – CUSTOMER OWNED
✏ Fill in Current Performance column</a:t>
            </a:r>
            <a:endParaRPr lang="en-GB" sz="800" i="1" dirty="0">
              <a:solidFill>
                <a:srgbClr val="FFAACC"/>
              </a:solidFill>
              <a:latin typeface="Barlow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3CB936C-2747-786A-8209-B15F751805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4952264"/>
              </p:ext>
            </p:extLst>
          </p:nvPr>
        </p:nvGraphicFramePr>
        <p:xfrm>
          <a:off x="454166" y="1810512"/>
          <a:ext cx="11283667" cy="427185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3047380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5056357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1883864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29606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</a:tblGrid>
              <a:tr h="60340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Tracked in </a:t>
                      </a: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Barlow"/>
                        </a:rPr>
                        <a:t>Xelix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?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1451995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7906347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8577372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40956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432054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C06B3997-3B31-6DDC-0D6D-D61923C6A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4167722-587F-78C1-8ECD-9FADD52DD3C0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B70E89-1684-6C35-F650-DF9C164B7550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D28F30-8EF1-221A-49DC-0585747CA947}"/>
              </a:ext>
            </a:extLst>
          </p:cNvPr>
          <p:cNvSpPr txBox="1"/>
          <p:nvPr/>
        </p:nvSpPr>
        <p:spPr>
          <a:xfrm>
            <a:off x="508000" y="970577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 – CUSTOMER &amp; XELIX OWNED
✏ Fill in Current Performance column</a:t>
            </a:r>
            <a:endParaRPr lang="en-GB" sz="800" i="1" dirty="0">
              <a:solidFill>
                <a:srgbClr val="FFAACC"/>
              </a:solidFill>
              <a:latin typeface="Barlow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B896D2D-F706-7800-EA00-1CE226496C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8951142"/>
              </p:ext>
            </p:extLst>
          </p:nvPr>
        </p:nvGraphicFramePr>
        <p:xfrm>
          <a:off x="454166" y="1809273"/>
          <a:ext cx="11283667" cy="280447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3047380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5056357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1883864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29606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</a:tblGrid>
              <a:tr h="60340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Tracked in </a:t>
                      </a: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Barlow"/>
                        </a:rPr>
                        <a:t>Xelix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?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 lang="en-US" sz="1400" b="1" dirty="0">
                        <a:solidFill>
                          <a:schemeClr val="lt1"/>
                        </a:solidFill>
                        <a:latin typeface="Barlow ExtraBold"/>
                        <a:ea typeface="Barlow ExtraBold"/>
                        <a:cs typeface="Barlow ExtraBold"/>
                        <a:sym typeface="Barlow ExtraBold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1451995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i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79063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80975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BB29B2BE-0827-CE22-2461-61D33A9B3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32851E9-F3F3-8D5F-9C68-2F1666DFF04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BB05B9-755E-9DE9-4BD1-2316630715BB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277368-C49D-95D4-EEE3-903380CBCD79}"/>
              </a:ext>
            </a:extLst>
          </p:cNvPr>
          <p:cNvSpPr txBox="1"/>
          <p:nvPr/>
        </p:nvSpPr>
        <p:spPr>
          <a:xfrm>
            <a:off x="508000" y="970577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 – XELIX OWNED
✏ Fill in Current Performance column</a:t>
            </a:r>
            <a:endParaRPr lang="en-GB" sz="800" i="1" dirty="0">
              <a:solidFill>
                <a:srgbClr val="FFAACC"/>
              </a:solidFill>
              <a:latin typeface="Barlow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E0E89B8-E335-5399-DB6B-B977E7BC3A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5194316"/>
              </p:ext>
            </p:extLst>
          </p:nvPr>
        </p:nvGraphicFramePr>
        <p:xfrm>
          <a:off x="454166" y="1809273"/>
          <a:ext cx="11283667" cy="280447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3047380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5056357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1883864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29606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</a:tblGrid>
              <a:tr h="60340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Tracked in </a:t>
                      </a: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Barlow"/>
                        </a:rPr>
                        <a:t>Xelix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?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1451995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i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79063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340387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E6EDC-5D6D-4B17-C731-37ACD62A4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E4C2A0C2-AA42-0CD2-EC6D-C5C232C5DED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C88AFB95-549A-92E2-A71E-C1A07DB39B30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E3AA85CF-3624-DAAD-521D-F4AD9B792FD4}"/>
              </a:ext>
            </a:extLst>
          </p:cNvPr>
          <p:cNvSpPr/>
          <p:nvPr/>
        </p:nvSpPr>
        <p:spPr>
          <a:xfrm>
            <a:off x="4391741" y="5963120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9BAB22CE-EAAB-9609-80FD-69F1FB8C1164}"/>
              </a:ext>
            </a:extLst>
          </p:cNvPr>
          <p:cNvSpPr/>
          <p:nvPr/>
        </p:nvSpPr>
        <p:spPr>
          <a:xfrm>
            <a:off x="4978347" y="611408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Average handling time (days)</a:t>
            </a:r>
          </a:p>
        </p:txBody>
      </p:sp>
      <p:sp>
        <p:nvSpPr>
          <p:cNvPr id="9302" name="SS_30_0_PH"/>
          <p:cNvSpPr/>
          <p:nvPr/>
        </p:nvSpPr>
        <p:spPr>
          <a:xfrm>
            <a:off x="3016864" y="743920"/>
            <a:ext cx="6158272" cy="5134395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30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26941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6014B-3B6C-9C1A-D407-E6265EE15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97BF88C1-2F4E-23F3-FFE0-6EFF6DD20485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2ECD2613-04CB-A491-3A44-68C8DB547F99}"/>
              </a:ext>
            </a:extLst>
          </p:cNvPr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03236547-DAAB-AF6F-3F67-0062065BC45D}"/>
              </a:ext>
            </a:extLst>
          </p:cNvPr>
          <p:cNvSpPr/>
          <p:nvPr/>
        </p:nvSpPr>
        <p:spPr>
          <a:xfrm>
            <a:off x="507999" y="5790142"/>
            <a:ext cx="10576767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Gen AI automation activity</a:t>
            </a:r>
          </a:p>
        </p:txBody>
      </p:sp>
      <p:sp>
        <p:nvSpPr>
          <p:cNvPr id="9152" name="SS_15_0_PH">
            <a:extLst>
              <a:ext uri="{FF2B5EF4-FFF2-40B4-BE49-F238E27FC236}">
                <a16:creationId xmlns:a16="http://schemas.microsoft.com/office/drawing/2014/main" id="{4AB27757-1791-2FBC-49ED-285B795B2AEA}"/>
              </a:ext>
            </a:extLst>
          </p:cNvPr>
          <p:cNvSpPr/>
          <p:nvPr/>
        </p:nvSpPr>
        <p:spPr>
          <a:xfrm>
            <a:off x="508000" y="702452"/>
            <a:ext cx="11176000" cy="4451632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53" name="XelixLogo" descr="image.png">
            <a:extLst>
              <a:ext uri="{FF2B5EF4-FFF2-40B4-BE49-F238E27FC236}">
                <a16:creationId xmlns:a16="http://schemas.microsoft.com/office/drawing/2014/main" id="{9FE118D4-7CBE-79D5-4DD7-5AC0D5807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6209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27FDA-9C9A-AFDA-8085-C5E956302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791EAB3-7A91-8D64-068F-1C211814E53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0893EAC7-F777-4E7D-518B-BA289C4C241B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D1423F49-EBF9-6B12-9E49-B6F69486BEEB}"/>
              </a:ext>
            </a:extLst>
          </p:cNvPr>
          <p:cNvSpPr/>
          <p:nvPr/>
        </p:nvSpPr>
        <p:spPr>
          <a:xfrm>
            <a:off x="4208141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E59A566F-C21D-75E6-1735-1630731C6FAF}"/>
              </a:ext>
            </a:extLst>
          </p:cNvPr>
          <p:cNvSpPr/>
          <p:nvPr/>
        </p:nvSpPr>
        <p:spPr>
          <a:xfrm>
            <a:off x="4322799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ticket type</a:t>
            </a:r>
          </a:p>
        </p:txBody>
      </p:sp>
      <p:sp>
        <p:nvSpPr>
          <p:cNvPr id="9312" name="SS_31_0_PH"/>
          <p:cNvSpPr/>
          <p:nvPr/>
        </p:nvSpPr>
        <p:spPr>
          <a:xfrm>
            <a:off x="507999" y="1135310"/>
            <a:ext cx="11357936" cy="4524095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31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70296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{AHT_CURRENT}</a:t>
            </a:r>
          </a:p>
        </p:txBody>
      </p:sp>
      <p:sp>
        <p:nvSpPr>
          <p:cNvPr id="7" name="Text 5"/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AVG HANDLING TIME (CURRENT)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{AHT_PREVIOUS}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AVG HANDLING TIME (PREVIOUS)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{AHT_DECREASE}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HANDLING TIME DECREASE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7874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{SLA_COMPLIANCE}</a:t>
            </a:r>
          </a:p>
        </p:txBody>
      </p:sp>
      <p:sp>
        <p:nvSpPr>
          <p:cNvPr id="19" name="Text 17"/>
          <p:cNvSpPr/>
          <p:nvPr/>
        </p:nvSpPr>
        <p:spPr>
          <a:xfrm>
            <a:off x="7239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SLA COMPLIANCE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CD4732B4-A7CA-DA6D-4871-5015F425223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0C952927-C906-8E39-C0CF-1DAC50E6D1C3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HANDLING TIME &amp; SLA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B907C8-E171-5CA1-0657-0FF793298C7A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HELPDESK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B9D73B-66D4-754E-A060-2ED564B1A07E}"/>
              </a:ext>
            </a:extLst>
          </p:cNvPr>
          <p:cNvSpPr/>
          <p:nvPr/>
        </p:nvSpPr>
        <p:spPr>
          <a:xfrm>
            <a:off x="6096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F5227B-EFDB-E346-90CC-BB072759A987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AAD3EC4-B904-7A78-0783-33857EA3908C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F22D2E3-D471-2BFB-7E8E-B318C7EC92C0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5" name="XelixLogo" descr="image.png">
            <a:extLst>
              <a:ext uri="{FF2B5EF4-FFF2-40B4-BE49-F238E27FC236}">
                <a16:creationId xmlns:a16="http://schemas.microsoft.com/office/drawing/2014/main" id="{9618F45B-813F-8BAF-92B2-FEA24CF901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1152" y="6364224"/>
            <a:ext cx="783687" cy="2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4041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01198-B251-F448-962A-F40D8FBE1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150DD211-BDB6-1DF4-299E-8A07F8947E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22B865E3-4AEE-4C5C-B278-A69452F7E2DE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  <a:endParaRPr lang="en-US" sz="1100" dirty="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67E3EA1E-B4CF-92AB-A4EE-C4FEC15A2B1F}"/>
              </a:ext>
            </a:extLst>
          </p:cNvPr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{HELPDESK_SR_1}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62EC8C3C-95D0-6723-9E1E-D38C67084918}"/>
              </a:ext>
            </a:extLst>
          </p:cNvPr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E8072393-734B-96DE-0370-696C820EE048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CBF8F21-5564-31CA-B3E4-7A7D5499249D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F11C41BC-6E9A-7DD0-665E-8D9160BEEF51}"/>
              </a:ext>
            </a:extLst>
          </p:cNvPr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{HELPDESK_SR_2}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4" name="Shape 30">
            <a:extLst>
              <a:ext uri="{FF2B5EF4-FFF2-40B4-BE49-F238E27FC236}">
                <a16:creationId xmlns:a16="http://schemas.microsoft.com/office/drawing/2014/main" id="{0C411EE7-8E0A-F605-4E4D-B9715465FE56}"/>
              </a:ext>
            </a:extLst>
          </p:cNvPr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E2BB1831-B480-5F02-990F-C04C4A1B6002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91E0F1E2-9FE0-1780-DD60-D7DF1E709D9E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3568C148-838D-E6F6-5FA7-34C56FE1A2CF}"/>
              </a:ext>
            </a:extLst>
          </p:cNvPr>
          <p:cNvSpPr/>
          <p:nvPr/>
        </p:nvSpPr>
        <p:spPr>
          <a:xfrm>
            <a:off x="502920" y="1351915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RECOMMENDATIONS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pic>
        <p:nvPicPr>
          <p:cNvPr id="65" name="Xelix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45802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C0515-0B95-6C6C-AAB4-13E529E1C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068B3050-A291-03A0-E740-C9ECAD11B6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60267EEC-1452-A6DB-4A9A-D6246DF41B5E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SIX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905FB16-8508-7131-CA26-D4CCC2A04EA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SUPPORT TICKETS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46AF4B5-C237-FC1D-3BCE-B39E331FAC6E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Tickets from the last 12 months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3D46E47A-54BB-9461-3ED0-FC81C0ED893C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5751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AccentBar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2064" y="228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91E8C"/>
                </a:solidFill>
              </a:rPr>
              <a:t>SUPPORT TICKETS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" y="5486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Ongoing Projects &amp; Escalations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" y="1097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A8F0"/>
                </a:solidFill>
              </a:rPr>
              <a:t>Active projects and progress updates</a:t>
            </a:r>
          </a:p>
        </p:txBody>
      </p:sp>
      <p:sp>
        <p:nvSpPr>
          <p:cNvPr id="20" name="Oval 19"/>
          <p:cNvSpPr/>
          <p:nvPr/>
        </p:nvSpPr>
        <p:spPr>
          <a:xfrm>
            <a:off x="411480" y="1691640"/>
            <a:ext cx="594360" cy="594360"/>
          </a:xfrm>
          <a:prstGeom prst="ellipse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16459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{PROJECT_1_TITLE}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202996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A8F0"/>
                </a:solidFill>
              </a:rPr>
              <a:t>{PROJECT_1_DETAIL}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926080"/>
            <a:ext cx="11369040" cy="13716"/>
          </a:xfrm>
          <a:prstGeom prst="rect">
            <a:avLst/>
          </a:prstGeom>
          <a:solidFill>
            <a:srgbClr val="604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411480" y="3108960"/>
            <a:ext cx="594360" cy="594360"/>
          </a:xfrm>
          <a:prstGeom prst="ellipse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063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{PROJECT_2_TITLE}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4472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A8F0"/>
                </a:solidFill>
              </a:rPr>
              <a:t>{PROJECT_2_DETAIL}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343400"/>
            <a:ext cx="11369040" cy="13716"/>
          </a:xfrm>
          <a:prstGeom prst="rect">
            <a:avLst/>
          </a:prstGeom>
          <a:solidFill>
            <a:srgbClr val="604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411480" y="4526280"/>
            <a:ext cx="594360" cy="594360"/>
          </a:xfrm>
          <a:prstGeom prst="ellipse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4805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{PROJECT_3_TITLE}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486460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A8F0"/>
                </a:solidFill>
              </a:rPr>
              <a:t>{PROJECT_3_DETAIL}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5760720"/>
            <a:ext cx="11369040" cy="13716"/>
          </a:xfrm>
          <a:prstGeom prst="rect">
            <a:avLst/>
          </a:prstGeom>
          <a:solidFill>
            <a:srgbClr val="604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359400" y="4876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TICKET VOLUMES</a:t>
            </a:r>
            <a:endParaRPr lang="en-US" sz="1100" dirty="0">
              <a:solidFill>
                <a:srgbClr val="D92398"/>
              </a:solidFill>
            </a:endParaRPr>
          </a:p>
        </p:txBody>
      </p:sp>
      <p:sp>
        <p:nvSpPr>
          <p:cNvPr id="6" name="Text 2"/>
          <p:cNvSpPr/>
          <p:nvPr/>
        </p:nvSpPr>
        <p:spPr>
          <a:xfrm>
            <a:off x="466344" y="974309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2800" b="1" dirty="0">
                <a:solidFill>
                  <a:srgbClr val="CCBBFF"/>
                </a:solidFill>
                <a:latin typeface="Barlow" pitchFamily="34" charset="0"/>
              </a:rPr>
              <a:t>Metrics from {EBR_PERIOD}</a:t>
            </a:r>
            <a:endParaRPr lang="en-US" sz="2800" b="1" dirty="0"/>
          </a:p>
        </p:txBody>
      </p:sp>
      <p:sp>
        <p:nvSpPr>
          <p:cNvPr id="9" name="Shape 5"/>
          <p:cNvSpPr/>
          <p:nvPr/>
        </p:nvSpPr>
        <p:spPr>
          <a:xfrm>
            <a:off x="502920" y="4849587"/>
            <a:ext cx="73152" cy="1554480"/>
          </a:xfrm>
          <a:prstGeom prst="rect">
            <a:avLst/>
          </a:prstGeom>
          <a:solidFill>
            <a:srgbClr val="D92398"/>
          </a:solidFill>
          <a:ln w="12700">
            <a:solidFill>
              <a:srgbClr val="D923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685800" y="5058165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spc="500" dirty="0">
                <a:solidFill>
                  <a:srgbClr val="CCBAFF"/>
                </a:solidFill>
                <a:latin typeface="Barlow Black" pitchFamily="34" charset="0"/>
              </a:rPr>
              <a:t>TICKETS RAISED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685800" y="5441477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{TICKETS_RAISED}</a:t>
            </a:r>
            <a:endParaRPr lang="en-US" sz="4200" dirty="0"/>
          </a:p>
        </p:txBody>
      </p:sp>
      <p:sp>
        <p:nvSpPr>
          <p:cNvPr id="21" name="Text 17"/>
          <p:cNvSpPr/>
          <p:nvPr/>
        </p:nvSpPr>
        <p:spPr>
          <a:xfrm>
            <a:off x="5359400" y="22673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new support tickets                   </a:t>
            </a:r>
          </a:p>
        </p:txBody>
      </p:sp>
      <p:sp>
        <p:nvSpPr>
          <p:cNvPr id="22" name="Text 18"/>
          <p:cNvSpPr/>
          <p:nvPr/>
        </p:nvSpPr>
        <p:spPr>
          <a:xfrm>
            <a:off x="10248900" y="23244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{TICKETS_OPEN}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5359400" y="27245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open </a:t>
            </a:r>
          </a:p>
        </p:txBody>
      </p:sp>
      <p:sp>
        <p:nvSpPr>
          <p:cNvPr id="24" name="Text 20"/>
          <p:cNvSpPr/>
          <p:nvPr/>
        </p:nvSpPr>
        <p:spPr>
          <a:xfrm>
            <a:off x="10248900" y="27816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{TICKETS_WAITING_XELIX}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5359400" y="3362897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5"/>
          <p:cNvSpPr/>
          <p:nvPr/>
        </p:nvSpPr>
        <p:spPr>
          <a:xfrm>
            <a:off x="5359400" y="41281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waiting on </a:t>
            </a:r>
            <a:r>
              <a:rPr lang="en-US" sz="1200" dirty="0" err="1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endParaRPr lang="en-US" sz="1200" dirty="0">
              <a:solidFill>
                <a:srgbClr val="0B0F2C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30" name="Text 26"/>
          <p:cNvSpPr/>
          <p:nvPr/>
        </p:nvSpPr>
        <p:spPr>
          <a:xfrm>
            <a:off x="10248900" y="41852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{TICKETS_WAITING_CUSTOMER}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5359400" y="45853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waiting for Customer</a:t>
            </a:r>
          </a:p>
        </p:txBody>
      </p:sp>
      <p:sp>
        <p:nvSpPr>
          <p:cNvPr id="32" name="Text 28"/>
          <p:cNvSpPr/>
          <p:nvPr/>
        </p:nvSpPr>
        <p:spPr>
          <a:xfrm>
            <a:off x="10248900" y="46424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{TICKETS_CLOSED}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5359400" y="5332292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4"/>
          <p:cNvSpPr/>
          <p:nvPr/>
        </p:nvSpPr>
        <p:spPr>
          <a:xfrm>
            <a:off x="5359400" y="60190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closed</a:t>
            </a:r>
            <a:endParaRPr lang="en-US" sz="1400" dirty="0"/>
          </a:p>
        </p:txBody>
      </p:sp>
      <p:sp>
        <p:nvSpPr>
          <p:cNvPr id="39" name="Text 35"/>
          <p:cNvSpPr/>
          <p:nvPr/>
        </p:nvSpPr>
        <p:spPr>
          <a:xfrm>
            <a:off x="10248900" y="60761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D92398"/>
          </a:solidFill>
          <a:ln w="12700">
            <a:solidFill>
              <a:srgbClr val="D9239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</a:rPr>
              <a:t>{TICKETS_TOTAL_YTD}</a:t>
            </a:r>
            <a:endParaRPr lang="en-US" sz="13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A0773D5A-99C2-F8B1-9DA5-14981DEB2872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SUPPORT TICKETS</a:t>
            </a:r>
            <a:endParaRPr lang="en-US" sz="1100" dirty="0">
              <a:solidFill>
                <a:srgbClr val="D9239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883049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15041-36F9-5792-BB06-1A01E749F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D6E94A02-6CCC-12E4-A6A4-79A7BA3E27C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2D5B978F-D049-88C9-F1B7-5332C6B56C89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SEVEN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83DF60F-54D1-ABB1-4356-19ABA962135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NEXT STEPS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6B6BAB6-48AB-BC39-2571-A65CC2E26B1B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Recommendations</a:t>
            </a:r>
            <a:endParaRPr lang="en-US" sz="1600" dirty="0">
              <a:solidFill>
                <a:srgbClr val="CCBBFF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FE994BB0-813C-E08B-BFF2-E8219EA5CBAE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26197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15" name="Timeline"/>
          <p:cNvSpPr/>
          <p:nvPr/>
        </p:nvSpPr>
        <p:spPr>
          <a:xfrm>
            <a:off x="508000" y="3048000"/>
            <a:ext cx="11176000" cy="381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20" name="Node 1"/>
          <p:cNvSpPr/>
          <p:nvPr/>
        </p:nvSpPr>
        <p:spPr>
          <a:xfrm>
            <a:off x="1270000" y="2813050"/>
            <a:ext cx="508000" cy="508000"/>
          </a:xfrm>
          <a:prstGeom prst="ellipse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01</a:t>
            </a:r>
          </a:p>
        </p:txBody>
      </p:sp>
      <p:sp>
        <p:nvSpPr>
          <p:cNvPr id="21" name="Step 1"/>
          <p:cNvSpPr/>
          <p:nvPr/>
        </p:nvSpPr>
        <p:spPr>
          <a:xfrm>
            <a:off x="508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{ACTION_1}</a:t>
            </a:r>
          </a:p>
        </p:txBody>
      </p:sp>
      <p:sp>
        <p:nvSpPr>
          <p:cNvPr id="30" name="Node 2"/>
          <p:cNvSpPr/>
          <p:nvPr/>
        </p:nvSpPr>
        <p:spPr>
          <a:xfrm>
            <a:off x="562935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31" name="Step 2"/>
          <p:cNvSpPr/>
          <p:nvPr/>
        </p:nvSpPr>
        <p:spPr>
          <a:xfrm>
            <a:off x="486735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{ACTION_2}</a:t>
            </a:r>
          </a:p>
        </p:txBody>
      </p:sp>
      <p:sp>
        <p:nvSpPr>
          <p:cNvPr id="40" name="Node 3"/>
          <p:cNvSpPr/>
          <p:nvPr/>
        </p:nvSpPr>
        <p:spPr>
          <a:xfrm>
            <a:off x="10265155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41" name="Step 3"/>
          <p:cNvSpPr/>
          <p:nvPr/>
        </p:nvSpPr>
        <p:spPr>
          <a:xfrm>
            <a:off x="9503155" y="3761268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{ACTION_3}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B2811D6-8708-C8C4-E20E-91041F8A555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TIMELINE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DE50F09C-2895-C238-D98C-FDC037157C7B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  <p:sp>
        <p:nvSpPr>
          <p:cNvPr id="2" name="TitleAccent">
            <a:extLst>
              <a:ext uri="{FF2B5EF4-FFF2-40B4-BE49-F238E27FC236}">
                <a16:creationId xmlns:a16="http://schemas.microsoft.com/office/drawing/2014/main" id="{1304778E-BAF3-FB8C-4D23-85559BD1EB57}"/>
              </a:ext>
            </a:extLst>
          </p:cNvPr>
          <p:cNvSpPr/>
          <p:nvPr/>
        </p:nvSpPr>
        <p:spPr>
          <a:xfrm>
            <a:off x="502920" y="1675068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42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24612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hankYou"/>
          <p:cNvSpPr/>
          <p:nvPr/>
        </p:nvSpPr>
        <p:spPr>
          <a:xfrm>
            <a:off x="1524000" y="2569830"/>
            <a:ext cx="9144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THANK YOU</a:t>
            </a:r>
          </a:p>
        </p:txBody>
      </p:sp>
      <p:sp>
        <p:nvSpPr>
          <p:cNvPr id="11" name="Divider"/>
          <p:cNvSpPr/>
          <p:nvPr/>
        </p:nvSpPr>
        <p:spPr>
          <a:xfrm>
            <a:off x="4826000" y="3554187"/>
            <a:ext cx="2540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2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739659"/>
      </p:ext>
    </p:extLst>
  </p:cSld>
  <p:clrMapOvr>
    <a:masterClrMapping/>
  </p:clrMapOvr>
</p:sld>
</file>

<file path=ppt/theme/theme1.xml><?xml version="1.0" encoding="utf-8"?>
<a:theme xmlns:a="http://schemas.openxmlformats.org/drawingml/2006/main" name="Xelix Master Deck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3BB20A3-79EA-9C40-B39C-A00B07AA6B76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64dcc63-2721-4e8a-80e2-50413d703f2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9575</TotalTime>
  <Words>1158</Words>
  <Application>Microsoft Macintosh PowerPoint</Application>
  <PresentationFormat>Widescreen</PresentationFormat>
  <Paragraphs>288</Paragraphs>
  <Slides>44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0" baseType="lpstr">
      <vt:lpstr>Arial</vt:lpstr>
      <vt:lpstr>Barlow ExtraBold</vt:lpstr>
      <vt:lpstr>Calibri</vt:lpstr>
      <vt:lpstr>Barlow Black</vt:lpstr>
      <vt:lpstr>Barlow</vt:lpstr>
      <vt:lpstr>Xelix Master Deck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Steph McGonigle</dc:creator>
  <cp:lastModifiedBy>Ore Sanniowo</cp:lastModifiedBy>
  <cp:revision>25</cp:revision>
  <dcterms:created xsi:type="dcterms:W3CDTF">2023-04-12T13:14:20Z</dcterms:created>
  <dcterms:modified xsi:type="dcterms:W3CDTF">2026-06-18T09:06:03Z</dcterms:modified>
</cp:coreProperties>
</file>