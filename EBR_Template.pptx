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slides/slide47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802" r:id="rId57"/>
    <p:sldId id="326" r:id="rId4"/>
    <p:sldId id="375" r:id="rId5"/>
    <p:sldId id="806" r:id="rId61"/>
    <p:sldId id="805" r:id="rId60"/>
    <p:sldId id="718" r:id="rId6"/>
    <p:sldId id="740" r:id="rId7"/>
    <p:sldId id="741" r:id="rId8"/>
    <p:sldId id="742" r:id="rId9"/>
    <p:sldId id="743" r:id="rId10"/>
    <p:sldId id="756" r:id="rId11"/>
    <p:sldId id="791" r:id="rId12"/>
    <p:sldId id="335" r:id="rId14"/>
    <p:sldId id="774" r:id="rId15"/>
    <p:sldId id="775" r:id="rId17"/>
    <p:sldId id="788" r:id="rId18"/>
    <p:sldId id="799" r:id="rId19"/>
    <p:sldId id="803" r:id="rId58"/>
    <p:sldId id="793" r:id="rId20"/>
    <p:sldId id="748" r:id="rId21"/>
    <p:sldId id="757" r:id="rId22"/>
    <p:sldId id="776" r:id="rId23"/>
    <p:sldId id="751" r:id="rId24"/>
    <p:sldId id="794" r:id="rId25"/>
    <p:sldId id="753" r:id="rId26"/>
    <p:sldId id="795" r:id="rId27"/>
    <p:sldId id="759" r:id="rId28"/>
    <p:sldId id="760" r:id="rId29"/>
    <p:sldId id="796" r:id="rId30"/>
    <p:sldId id="797" r:id="rId31"/>
    <p:sldId id="787" r:id="rId32"/>
    <p:sldId id="801" r:id="rId33"/>
    <p:sldId id="789" r:id="rId34"/>
    <p:sldId id="804" r:id="rId59"/>
    <p:sldId id="798" r:id="rId35"/>
    <p:sldId id="721" r:id="rId36"/>
    <p:sldId id="800" r:id="rId37"/>
    <p:sldId id="385" r:id="rId38"/>
    <p:sldId id="720" r:id="rId39"/>
    <p:sldId id="369" r:id="rId40"/>
    <p:sldId id="808" r:id="rId63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11"/>
    <p:restoredTop sz="95890"/>
  </p:normalViewPr>
  <p:slideViewPr>
    <p:cSldViewPr snapToGrid="0">
      <p:cViewPr varScale="1">
        <p:scale>
          <a:sx n="112" d="100"/>
          <a:sy n="112" d="100"/>
        </p:scale>
        <p:origin x="22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28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3.xml"/><Relationship Id="rId31" Type="http://schemas.openxmlformats.org/officeDocument/2006/relationships/slide" Target="slides/slide34.xml"/><Relationship Id="rId32" Type="http://schemas.openxmlformats.org/officeDocument/2006/relationships/slide" Target="slides/slide35.xml"/><Relationship Id="rId33" Type="http://schemas.openxmlformats.org/officeDocument/2006/relationships/slide" Target="slides/slide36.xml"/><Relationship Id="rId34" Type="http://schemas.openxmlformats.org/officeDocument/2006/relationships/slide" Target="slides/slide37.xml"/><Relationship Id="rId35" Type="http://schemas.openxmlformats.org/officeDocument/2006/relationships/slide" Target="slides/slide39.xml"/><Relationship Id="rId36" Type="http://schemas.openxmlformats.org/officeDocument/2006/relationships/slide" Target="slides/slide40.xml"/><Relationship Id="rId37" Type="http://schemas.openxmlformats.org/officeDocument/2006/relationships/slide" Target="slides/slide41.xml"/><Relationship Id="rId38" Type="http://schemas.openxmlformats.org/officeDocument/2006/relationships/slide" Target="slides/slide42.xml"/><Relationship Id="rId39" Type="http://schemas.openxmlformats.org/officeDocument/2006/relationships/slide" Target="slides/slide43.xml"/><Relationship Id="rId40" Type="http://schemas.openxmlformats.org/officeDocument/2006/relationships/slide" Target="slides/slide44.xml"/><Relationship Id="rId41" Type="http://schemas.openxmlformats.org/officeDocument/2006/relationships/slide" Target="slides/slide45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.xml"/><Relationship Id="rId58" Type="http://schemas.openxmlformats.org/officeDocument/2006/relationships/slide" Target="slides/slide22.xml"/><Relationship Id="rId59" Type="http://schemas.openxmlformats.org/officeDocument/2006/relationships/slide" Target="slides/slide38.xml"/><Relationship Id="rId60" Type="http://schemas.openxmlformats.org/officeDocument/2006/relationships/slide" Target="slides/slide7.xml"/><Relationship Id="rId61" Type="http://schemas.openxmlformats.org/officeDocument/2006/relationships/slide" Target="slides/slide6.xml"/><Relationship Id="rId63" Type="http://schemas.openxmlformats.org/officeDocument/2006/relationships/slide" Target="slides/slide4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31D89-B495-8CAC-B0CE-DECD6989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B02C-F383-2ACD-5816-31E13EED7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3E32-F663-4FEC-2177-BD49F0518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0EEBE-B1A4-3E7A-4D1C-521A2B899C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236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1ED-4FCF-387B-F62E-313AACE7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AB2AD8-F598-7F73-D092-3BEE9F0133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F5438-3DD2-0F80-73C3-AD07B1169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EF914-7266-AF73-D947-9F8CD7266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894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11479A45-7DD2-EA92-9191-57EFC3BC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7A623BD3-7F85-A7AD-DB2D-0ABBCF1A69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C7C1349B-3ADF-87B3-5F31-01591F399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19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AE2339DA-0466-18ED-7C3A-00E6DF903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BA391776-B48C-F481-5454-F938B9B8D6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0D5E39C2-F011-CC75-F754-A1D7C9FCB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45390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B3DAF-04E4-F35A-36A6-A86851415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25F4C-41BD-6623-4B14-F406C1D13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11501-4370-8E3A-B617-DCAC8C9D9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201E4-EB8D-7B2E-34A5-0108C87B4B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2543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31D89-B495-8CAC-B0CE-DECD6989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B02C-F383-2ACD-5816-31E13EED7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3E32-F663-4FEC-2177-BD49F0518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0EEBE-B1A4-3E7A-4D1C-521A2B899C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23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31D89-B495-8CAC-B0CE-DECD69895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B02C-F383-2ACD-5816-31E13EED7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93E32-F663-4FEC-2177-BD49F0518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0EEBE-B1A4-3E7A-4D1C-521A2B899C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23680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  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  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  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  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  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  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  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  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  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  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  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  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  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  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  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  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  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  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  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  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  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  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  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  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  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  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  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  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  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  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  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  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  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  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  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  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  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 xml:space="preserve"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sv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e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2.jpeg"/><Relationship Id="rId3" Type="http://schemas.openxmlformats.org/officeDocument/2006/relationships/image" Target="../media/image2.png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eg"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2.png"/></Relationships>
</file>

<file path=ppt/slides/_rels/slide47.xml.rels><?xml version="1.0" encoding="UTF-8"?><Relationships xmlns="http://schemas.openxmlformats.org/package/2006/relationships"><Relationship Id="rId2" Type="http://schemas.openxmlformats.org/officeDocument/2006/relationships/hyperlink" Target="https://xelix.com/in-person/accounts-payable-summer-social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{EBR_DATE}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
{CUSTOMER}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5686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  <p:pic>
        <p:nvPicPr>
          <p:cNvPr id="13" name="XelixLogo" descr="image.png">
            <a:extLst>
              <a:ext uri="{FF2B5EF4-FFF2-40B4-BE49-F238E27FC236}">
                <a16:creationId xmlns:a16="http://schemas.microsoft.com/office/drawing/2014/main" id="{CC436ECA-BC3E-501A-BF9B-8AF75EB20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5326" y="134404"/>
            <a:ext cx="435269" cy="15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{PREVIOUS_EBR_DATE}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PREVIOUS EBR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{CONTRACT_RENEWAL_DATE}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RENEWAL DATE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{LIVE_REGIONS}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LIVE REGIONS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{MAU}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MONTHLY ACTIVE USERS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{BUSIEST_MODULE}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BUSIEST MODULE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{AIV_USED}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AIV USED YTD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ACCOUNT &amp; USAGE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OVERVIEW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
⚠ Delete this entire section (slides 3–4) if no previous EBR actions to recap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{RECAP_1}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{RECAP_2}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28">
            <a:extLst>
              <a:ext uri="{FF2B5EF4-FFF2-40B4-BE49-F238E27FC236}">
                <a16:creationId xmlns:a16="http://schemas.microsoft.com/office/drawing/2014/main" id="{F5C5C699-BACB-3C70-FB44-36BFC11F2E98}"/>
              </a:ext>
            </a:extLst>
          </p:cNvPr>
          <p:cNvSpPr/>
          <p:nvPr/>
        </p:nvSpPr>
        <p:spPr>
          <a:xfrm>
            <a:off x="6059241" y="3623818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{RECAP_3}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" name="Shape 30">
            <a:extLst>
              <a:ext uri="{FF2B5EF4-FFF2-40B4-BE49-F238E27FC236}">
                <a16:creationId xmlns:a16="http://schemas.microsoft.com/office/drawing/2014/main" id="{DFC1D0EF-2174-726E-DC18-03D59A503E75}"/>
              </a:ext>
            </a:extLst>
          </p:cNvPr>
          <p:cNvSpPr/>
          <p:nvPr/>
        </p:nvSpPr>
        <p:spPr>
          <a:xfrm>
            <a:off x="5254827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COMMITMENTS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{XELIX_COMMITMENTS}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{CUSTOMER_COMMITMENTS}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FROM THE LAST EBR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/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COMPANY UPDATES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{XELIX_COMPANY_UPDATES}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{CUSTOMER_COMPANY_UPDATES}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HAS CHANGED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/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 xml:space="preserve"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{DUP_CAUGHT_VALUE}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ERRORS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{DUP_CAUGHT_COUNT}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CORRECTED AHEAD OF PAYRUN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{MOST_COMMON_ERROR}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{TICKETS_TOTAL_YTD}</a:t>
            </a:r>
            <a:endParaRPr lang="en-US" sz="3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CREATED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{PCT_RESOLVED}</a:t>
            </a:r>
            <a:endParaRPr lang="en-US" sz="3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RESOLVED / COMPLETE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{GEN_AI_TICKETS}</a:t>
            </a:r>
            <a:endParaRPr lang="en-US" sz="3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% TICKETS REPLIED TO VIA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{TRIGGER_TICKETS}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RESOLVED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{AUTO_CATEGORISED}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AUTOMATICALLY CATEGORISED TICKETS (INC. CUSTOM CATEGORIES)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4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>
            <a:extLst>
              <a:ext uri="{FF2B5EF4-FFF2-40B4-BE49-F238E27FC236}">
                <a16:creationId xmlns:a16="http://schemas.microsoft.com/office/drawing/2014/main" id="{7619C6C1-6A82-58C7-6FDF-515E124975AA}"/>
              </a:ext>
            </a:extLst>
          </p:cNvPr>
          <p:cNvSpPr/>
          <p:nvPr/>
        </p:nvSpPr>
        <p:spPr>
          <a:xfrm>
            <a:off x="587824" y="418684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9614ABA9-89A6-EE58-0321-C7A288B8F22F}"/>
              </a:ext>
            </a:extLst>
          </p:cNvPr>
          <p:cNvSpPr/>
          <p:nvPr/>
        </p:nvSpPr>
        <p:spPr>
          <a:xfrm>
            <a:off x="4403270" y="4165076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{PCT_SPEND_RECONCILED}</a:t>
            </a:r>
            <a:endParaRPr lang="en-US" sz="3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{PCT_INVOICES_RECONCILED}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1193801" y="4392386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{STATEMENTS_RECONCILED}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1155701" y="5459186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 RECONCILED</a:t>
            </a: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4940306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4902206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RECEIVED (DEPENDENT ON RECEIVING WORKFLOW DATA)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8222344" y="4191000"/>
            <a:ext cx="3360056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8784773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{PCT_STATEMENTS_AUTOMATED}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8746673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8204202" y="4191000"/>
            <a:ext cx="3360055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634B4B4-CE5B-EB15-26B6-91E5AED52F84}"/>
              </a:ext>
            </a:extLst>
          </p:cNvPr>
          <p:cNvSpPr/>
          <p:nvPr/>
        </p:nvSpPr>
        <p:spPr>
          <a:xfrm>
            <a:off x="4401020" y="417142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F15816-2A79-A36C-CE9F-AC7071C79765}"/>
              </a:ext>
            </a:extLst>
          </p:cNvPr>
          <p:cNvSpPr/>
          <p:nvPr/>
        </p:nvSpPr>
        <p:spPr>
          <a:xfrm>
            <a:off x="581474" y="4193198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37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508000" y="877539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
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539561"/>
              </p:ext>
            </p:extLst>
          </p:nvPr>
        </p:nvGraphicFramePr>
        <p:xfrm>
          <a:off x="508000" y="1684010"/>
          <a:ext cx="11161485" cy="4466993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14383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385377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473925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30973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 xml:space="preserve"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 xml:space="preserve"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615608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761537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4873470"/>
                  </a:ext>
                </a:extLst>
              </a:tr>
              <a:tr h="76720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949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C3C98-9079-1957-AEE8-CF715A09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914E9CF-DAF2-695B-3566-0A365921EB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C306CFA2-B545-0BBF-32E4-A0FB34CE656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9B283D52-A04F-9A36-4F1C-4469C2233CF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7AC9B1D5-6808-FD0C-E27D-7F78203D6CBA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{DUP_TREND_NARRATIVE}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A4904DC2-A143-B67E-E5B9-C503639ACFFF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2807F66C-943E-C21A-1B52-B790394D33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{DUP_COUNT_YTD}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F1223AE9-C64D-5D4E-B24D-AEB52AD5ECDE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8E8D20-2FC6-7564-62B0-5058063F7B2E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08FBB4-C1CD-ED1D-1336-E1CB4D539ABE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486824EC-6200-D3CA-D99C-61567138E50B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{DUP_VALUE_YTD}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35948F82-19E7-6697-4AB3-1D88550582A5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372BC0-1C27-0AF0-FC4E-9CB279FDFD48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F9A52A0-9EDA-470B-DB8E-7F4C77AC2A5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8B3B3265-28D3-9DBA-0557-882E13FD3CBA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{DUP_TREND_PCT}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555C51E-657D-6FD9-AED8-0D9E1E35B8AD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88ACF5-F887-67A1-6C23-66B464735C0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42" name="SS_14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4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286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  <p:sp>
        <p:nvSpPr>
          <p:cNvPr id="9152" name="SS_15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{DUP_CAUGHT_COUNT}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{DUP_CAUGHT_VALUE}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62" name="SS_16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6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{INV_ERRORS_COUNT}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172" name="SS_17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Error type recovery breakdown</a:t>
            </a:r>
          </a:p>
        </p:txBody>
      </p:sp>
      <p:sp>
        <p:nvSpPr>
          <p:cNvPr id="9183" name="SS_18_0_PH"/>
          <p:cNvSpPr/>
          <p:nvPr/>
        </p:nvSpPr>
        <p:spPr>
          <a:xfrm>
            <a:off x="507999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sp>
        <p:nvSpPr>
          <p:cNvPr id="9184" name="SS_18_1_PH"/>
          <p:cNvSpPr/>
          <p:nvPr/>
        </p:nvSpPr>
        <p:spPr>
          <a:xfrm>
            <a:off x="6178938" y="1135310"/>
            <a:ext cx="5426269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8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4" name="RightPanel"/>
          <p:cNvSpPr/>
          <p:nvPr/>
        </p:nvSpPr>
        <p:spPr>
          <a:xfrm>
            <a:off x="6858000" y="0"/>
            <a:ext cx="5334000" cy="6858000"/>
          </a:xfrm>
          <a:prstGeom prst="rect">
            <a:avLst/>
          </a:prstGeom>
          <a:solidFill>
            <a:srgbClr val="1E0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315200" y="914400"/>
            <a:ext cx="4114800" cy="274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errors by root cause</a:t>
            </a:r>
          </a:p>
        </p:txBody>
      </p:sp>
      <p:sp>
        <p:nvSpPr>
          <p:cNvPr id="9172" name="SS_17_0_PH"/>
          <p:cNvSpPr/>
          <p:nvPr/>
        </p:nvSpPr>
        <p:spPr>
          <a:xfrm>
            <a:off x="256032" y="704088"/>
            <a:ext cx="6400800" cy="5577840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73" name="XelixLogo" descr="imag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{VALUE_REC_HIST_DUPES}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HISTORICAL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{VALUE_REC_HIST_ERRORS}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HISTORICAL ERRORS</a:t>
            </a:r>
          </a:p>
        </p:txBody>
      </p:sp>
      <p:sp>
        <p:nvSpPr>
          <p:cNvPr id="24" name="Shape 22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{INV_ERRORS_CAUGHT}</a:t>
            </a:r>
          </a:p>
        </p:txBody>
      </p:sp>
      <p:sp>
        <p:nvSpPr>
          <p:cNvPr id="27" name="Text 25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 CAUGHT AHEAD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RECOVERY &amp; ERRORS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19988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4381500" y="19988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CD50-2F3C-377E-7313-F5ADABE2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D11C4C0-4E3E-4D77-75A8-A67C0DD99B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9A1A83C-2F5C-F004-C222-69FC15B32DE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F33D1345-D286-36D7-8D8C-9883D11CC538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6B881F6-75B5-291E-B44A-B7D09BB7ACD2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07043799-3D4C-13C4-751A-4C49B861D985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3D2019A1-E0AB-F7B4-DC75-D41FC211C169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96E06D26-DFD8-E893-B016-B637F4AF17E0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{TRANSACTIONS_SR_2}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C3230A54-F852-847E-00DF-294C0DE0EA9D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DF77FA66-3CAF-F337-6F19-1F6605DD019B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27A689E5-7D81-CAE8-8F91-37D4BF8247B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065900A2-FFB9-8346-1C95-8F668ED0D708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 xml:space="preserve"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8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  <a:p>
            <a:pPr algn="l"/>
            <a:r>
              <a:rPr lang="en-GB" sz="800" i="1" dirty="0">
                <a:solidFill>
                  <a:srgbClr val="FFAACC"/>
                </a:solidFill>
                <a:latin typeface="Barlow"/>
              </a:rPr>
              <a:t>✏ Fill in Current Performance column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600671"/>
              </p:ext>
            </p:extLst>
          </p:nvPr>
        </p:nvGraphicFramePr>
        <p:xfrm>
          <a:off x="508000" y="1820564"/>
          <a:ext cx="11176000" cy="3907532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Tracked in Xelix?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1048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7364015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8336242"/>
                  </a:ext>
                </a:extLst>
              </a:tr>
              <a:tr h="67111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8360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reconciliations: {MOM_GROWTH}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8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9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Barlow" pitchFamily="34" charset="0"/>
              </a:rPr>
              <a:t>{MISSING_CREDITS_VALUE}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44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8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222" name="SS_22_0_PH"/>
          <p:cNvSpPr/>
          <p:nvPr/>
        </p:nvSpPr>
        <p:spPr>
          <a:xfrm>
            <a:off x="260000" y="702452"/>
            <a:ext cx="6912131" cy="5557606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23" name="Xelix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invoice reconciliation compares across the industry: {PCT_INVOICES_RECONCILED}</a:t>
            </a:r>
          </a:p>
        </p:txBody>
      </p:sp>
      <p:sp>
        <p:nvSpPr>
          <p:cNvPr id="9232" name="SS_23_0_PH"/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3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69A7-D1D8-494F-FE52-3A26D503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F9D2B17-E716-6AEB-161E-A66513DD115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AD915CD-BB79-99AE-52EA-624DF1DF48AB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A5B166A3-C5D3-4857-19E3-4053F065236A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spend reconciliation compares across the industry: {PCT_SPEND_RECONCILED}</a:t>
            </a:r>
          </a:p>
        </p:txBody>
      </p:sp>
      <p:sp>
        <p:nvSpPr>
          <p:cNvPr id="14" name="SS_24_0_PH"/>
          <p:cNvSpPr/>
          <p:nvPr/>
        </p:nvSpPr>
        <p:spPr>
          <a:xfrm>
            <a:off x="342122" y="502484"/>
            <a:ext cx="11507756" cy="462891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15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8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 Automation</a:t>
            </a:r>
          </a:p>
        </p:txBody>
      </p:sp>
      <p:sp>
        <p:nvSpPr>
          <p:cNvPr id="9252" name="SS_25_0_PH"/>
          <p:cNvSpPr/>
          <p:nvPr/>
        </p:nvSpPr>
        <p:spPr>
          <a:xfrm>
            <a:off x="2175434" y="1414710"/>
            <a:ext cx="7603267" cy="5159094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25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7ED0-B066-FB82-6CEF-D3E43DE2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770EDAA-0444-1DC6-CD8A-01FF1C21FF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7D63DFF8-5A5D-C7C7-492B-3C6F794B936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39292D0D-54D5-9634-1242-1DFAC830EBF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37357355-43D8-3599-67C2-8525F03113FD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3A59CF08-FA21-D94F-E4F3-0254E57F20A7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697EC631-705B-21D1-32F3-A74B4CDF1DD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1B4EA154-1AB6-C2B0-BA0E-68D5BB329818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{STATEMENTS_SR_2}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8B21245F-1A80-CFA1-68FE-785226669170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F84C51DC-4466-4F13-94C1-161A88FA2E4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E921E901-FFEE-AC05-7F74-B9F5B45CC616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FF2901E-3468-F768-D707-781A9F901F89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 xml:space="preserve"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880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508000" y="827071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52264"/>
              </p:ext>
            </p:extLst>
          </p:nvPr>
        </p:nvGraphicFramePr>
        <p:xfrm>
          <a:off x="454166" y="1810512"/>
          <a:ext cx="11283667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 xml:space="preserve"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577372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095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C06B3997-3B31-6DDC-0D6D-D61923C6A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167722-587F-78C1-8ECD-9FADD52DD3C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B70E89-1684-6C35-F650-DF9C164B7550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28F30-8EF1-221A-49DC-0585747CA947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CUSTOMER &amp;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B896D2D-F706-7800-EA00-1CE226496C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951142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 xml:space="preserve"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80975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BB29B2BE-0827-CE22-2461-61D33A9B3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2851E9-F3F3-8D5F-9C68-2F1666DFF0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B05B9-755E-9DE9-4BD1-2316630715B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7368-C49D-95D4-EEE3-903380CBCD79}"/>
              </a:ext>
            </a:extLst>
          </p:cNvPr>
          <p:cNvSpPr txBox="1"/>
          <p:nvPr/>
        </p:nvSpPr>
        <p:spPr>
          <a:xfrm>
            <a:off x="508000" y="970577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 – XELIX OWNED
✏ Fill in Current Performance column</a:t>
            </a:r>
            <a:endParaRPr lang="en-GB" sz="800" i="1" dirty="0">
              <a:solidFill>
                <a:srgbClr val="FFAACC"/>
              </a:solidFill>
              <a:latin typeface="Barlow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0E89B8-E335-5399-DB6B-B977E7BC3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194316"/>
              </p:ext>
            </p:extLst>
          </p:nvPr>
        </p:nvGraphicFramePr>
        <p:xfrm>
          <a:off x="454166" y="1809273"/>
          <a:ext cx="11283667" cy="280447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3047380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5056357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1883864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29606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 xml:space="preserve">Tracked in </a:t>
                      </a:r>
                      <a:r>
                        <a:rPr lang="en-US" sz="1400" b="1" dirty="0" err="1">
                          <a:solidFill>
                            <a:srgbClr val="FFFFFF"/>
                          </a:solidFill>
                          <a:latin typeface="Barlow"/>
                        </a:rPr>
                        <a:t>Xelix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451995"/>
                  </a:ext>
                </a:extLst>
              </a:tr>
              <a:tr h="7336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endParaRPr b="1" i="1" dirty="0">
                        <a:solidFill>
                          <a:schemeClr val="bg1"/>
                        </a:solidFill>
                        <a:latin typeface="Barlow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790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4038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4391741" y="5963120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4978347" y="611408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9302" name="SS_30_0_PH"/>
          <p:cNvSpPr/>
          <p:nvPr/>
        </p:nvSpPr>
        <p:spPr>
          <a:xfrm>
            <a:off x="3016864" y="743920"/>
            <a:ext cx="6158272" cy="51343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0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014B-3B6C-9C1A-D407-E6265EE15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97BF88C1-2F4E-23F3-FFE0-6EFF6DD20485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2ECD2613-04CB-A491-3A44-68C8DB547F99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03236547-DAAB-AF6F-3F67-0062065BC45D}"/>
              </a:ext>
            </a:extLst>
          </p:cNvPr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Gen AI automation activity</a:t>
            </a:r>
          </a:p>
        </p:txBody>
      </p:sp>
      <p:sp>
        <p:nvSpPr>
          <p:cNvPr id="9152" name="SS_15_0_PH">
            <a:extLst>
              <a:ext uri="{FF2B5EF4-FFF2-40B4-BE49-F238E27FC236}">
                <a16:creationId xmlns:a16="http://schemas.microsoft.com/office/drawing/2014/main" id="{4AB27757-1791-2FBC-49ED-285B795B2AEA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153" name="XelixLogo" descr="image.png">
            <a:extLst>
              <a:ext uri="{FF2B5EF4-FFF2-40B4-BE49-F238E27FC236}">
                <a16:creationId xmlns:a16="http://schemas.microsoft.com/office/drawing/2014/main" id="{9FE118D4-7CBE-79D5-4DD7-5AC0D5807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209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4208141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43227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9312" name="SS_31_0_PH"/>
          <p:cNvSpPr/>
          <p:nvPr/>
        </p:nvSpPr>
        <p:spPr>
          <a:xfrm>
            <a:off x="507999" y="1135310"/>
            <a:ext cx="11357936" cy="4524095"/>
          </a:xfrm>
          <a:prstGeom prst="rect">
            <a:avLst/>
          </a:prstGeom>
          <a:solidFill>
            <a:srgbClr val="2A2A3E"/>
          </a:solidFill>
          <a:ln w="19050">
            <a:solidFill>
              <a:srgbClr val="9B5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C8A8F0"/>
                </a:solidFill>
              </a:rPr>
              <a:t>[ Insert Screenshot ]</a:t>
            </a:r>
          </a:p>
        </p:txBody>
      </p:sp>
      <p:pic>
        <p:nvPicPr>
          <p:cNvPr id="9313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{AHT_CURRENT}</a:t>
            </a:r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AVG HANDLING TIME (CURRENT)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{AHT_DECREASE}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HANDLING TIME DECREASE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Barlow" pitchFamily="34" charset="0"/>
              </a:rPr>
              <a:t>{SLA_COMPLIANCE}</a:t>
            </a:r>
          </a:p>
        </p:txBody>
      </p:sp>
      <p:sp>
        <p:nvSpPr>
          <p:cNvPr id="19" name="Text 17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SLA COMPLIANCE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HANDLING TIME &amp; SLA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4381500" y="19988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5" name="XelixLogo" descr="image.png">
            <a:extLst>
              <a:ext uri="{FF2B5EF4-FFF2-40B4-BE49-F238E27FC236}">
                <a16:creationId xmlns:a16="http://schemas.microsoft.com/office/drawing/2014/main" id="{9618F45B-813F-8BAF-92B2-FEA24CF90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152" y="6364224"/>
            <a:ext cx="783687" cy="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01198-B251-F448-962A-F40D8FBE1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50DD211-BDB6-1DF4-299E-8A07F8947E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2B865E3-4AEE-4C5C-B278-A69452F7E2DE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  <a:endParaRPr lang="en-US" sz="11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67E3EA1E-B4CF-92AB-A4EE-C4FEC15A2B1F}"/>
              </a:ext>
            </a:extLst>
          </p:cNvPr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{HELPDESK_SR_1}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62EC8C3C-95D0-6723-9E1E-D38C67084918}"/>
              </a:ext>
            </a:extLst>
          </p:cNvPr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E8072393-734B-96DE-0370-696C820EE048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CBF8F21-5564-31CA-B3E4-7A7D5499249D}"/>
              </a:ext>
            </a:extLst>
          </p:cNvPr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F11C41BC-6E9A-7DD0-665E-8D9160BEEF51}"/>
              </a:ext>
            </a:extLst>
          </p:cNvPr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{HELPDESK_SR_2}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4" name="Shape 30">
            <a:extLst>
              <a:ext uri="{FF2B5EF4-FFF2-40B4-BE49-F238E27FC236}">
                <a16:creationId xmlns:a16="http://schemas.microsoft.com/office/drawing/2014/main" id="{0C411EE7-8E0A-F605-4E4D-B9715465FE56}"/>
              </a:ext>
            </a:extLst>
          </p:cNvPr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2BB1831-B480-5F02-990F-C04C4A1B600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91E0F1E2-9FE0-1780-DD60-D7DF1E709D9E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3568C148-838D-E6F6-5FA7-34C56FE1A2CF}"/>
              </a:ext>
            </a:extLst>
          </p:cNvPr>
          <p:cNvSpPr/>
          <p:nvPr/>
        </p:nvSpPr>
        <p:spPr>
          <a:xfrm>
            <a:off x="502920" y="1351915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RECOMMENDATIONS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 xml:space="preserve"> </a:t>
            </a:r>
            <a:endParaRPr lang="en-US" sz="2800" dirty="0"/>
          </a:p>
        </p:txBody>
      </p:sp>
      <p:pic>
        <p:nvPicPr>
          <p:cNvPr id="65" name="Xelix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5802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ccentBa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" y="228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91E8C"/>
                </a:solidFill>
              </a:rPr>
              <a:t>SUPPORT TICKETS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486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Ongoing Projects &amp; Escalations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Active projects and progress updates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169164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1645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{PROJECT_1_TITLE}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0299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{PROJECT_1_DETAIL}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92608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11480" y="310896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{PROJECT_2_TITLE}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44728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{PROJECT_2_DETAIL}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34340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11480" y="4526280"/>
            <a:ext cx="594360" cy="594360"/>
          </a:xfrm>
          <a:prstGeom prst="ellipse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480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{PROJECT_3_TITLE}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6460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A8F0"/>
                </a:solidFill>
              </a:rPr>
              <a:t>{PROJECT_3_DETAIL}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760720"/>
            <a:ext cx="11369040" cy="13716"/>
          </a:xfrm>
          <a:prstGeom prst="rect">
            <a:avLst/>
          </a:prstGeom>
          <a:solidFill>
            <a:srgbClr val="604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{EBR_PERIOD}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{TICKETS_RAISED}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 xml:space="preserve"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{TICKETS_OPEN}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 xml:space="preserve"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{TICKETS_WAITING_XELIX}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 xml:space="preserve"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{TICKETS_WAITING_CUSTOMER}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Customer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{TICKETS_CLOSED}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{TICKETS_TOTAL_YTD}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4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{ACTION_1}</a:t>
            </a:r>
          </a:p>
        </p:txBody>
      </p:sp>
      <p:sp>
        <p:nvSpPr>
          <p:cNvPr id="30" name="Node 2"/>
          <p:cNvSpPr/>
          <p:nvPr/>
        </p:nvSpPr>
        <p:spPr>
          <a:xfrm>
            <a:off x="562935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486735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{ACTION_2}</a:t>
            </a:r>
          </a:p>
        </p:txBody>
      </p:sp>
      <p:sp>
        <p:nvSpPr>
          <p:cNvPr id="40" name="Node 3"/>
          <p:cNvSpPr/>
          <p:nvPr/>
        </p:nvSpPr>
        <p:spPr>
          <a:xfrm>
            <a:off x="10265155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9503155" y="3761268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{ACTION_3}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4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pic>
        <p:nvPicPr>
          <p:cNvPr id="12" name="Xelix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6364224"/>
            <a:ext cx="1005840" cy="359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8">
          <a:extLst>
            <a:ext uri="{FF2B5EF4-FFF2-40B4-BE49-F238E27FC236}">
              <a16:creationId xmlns:a16="http://schemas.microsoft.com/office/drawing/2014/main" id="{4DFA0CBC-00B6-6562-E725-7FF896117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p38">
            <a:extLst>
              <a:ext uri="{FF2B5EF4-FFF2-40B4-BE49-F238E27FC236}">
                <a16:creationId xmlns:a16="http://schemas.microsoft.com/office/drawing/2014/main" id="{FC220157-A89E-F353-9CC4-8CF1F284CC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1764" y="667658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Barlow ExtraBold"/>
              <a:buNone/>
            </a:pPr>
            <a:r>
              <a:rPr lang="en-US" sz="4200" dirty="0">
                <a:latin typeface="Barlow ExtraBold"/>
                <a:ea typeface="Barlow ExtraBold"/>
                <a:cs typeface="Barlow ExtraBold"/>
                <a:sym typeface="Barlow ExtraBold"/>
              </a:rPr>
              <a:t>Upcoming events – Q3</a:t>
            </a:r>
            <a:endParaRPr sz="4200" dirty="0">
              <a:latin typeface="Barlow ExtraBold"/>
              <a:ea typeface="Barlow ExtraBold"/>
              <a:cs typeface="Barlow ExtraBold"/>
              <a:sym typeface="Barlow ExtraBold"/>
            </a:endParaRPr>
          </a:p>
        </p:txBody>
      </p:sp>
      <p:grpSp>
        <p:nvGrpSpPr>
          <p:cNvPr id="2" name="Google Shape;1054;p39">
            <a:extLst>
              <a:ext uri="{FF2B5EF4-FFF2-40B4-BE49-F238E27FC236}">
                <a16:creationId xmlns:a16="http://schemas.microsoft.com/office/drawing/2014/main" id="{7289D9EA-37F1-B151-FEFA-DC1B00E828A5}"/>
              </a:ext>
            </a:extLst>
          </p:cNvPr>
          <p:cNvGrpSpPr/>
          <p:nvPr/>
        </p:nvGrpSpPr>
        <p:grpSpPr>
          <a:xfrm>
            <a:off x="2521478" y="1723346"/>
            <a:ext cx="7149043" cy="4244373"/>
            <a:chOff x="469564" y="2062753"/>
            <a:chExt cx="4409584" cy="3142569"/>
          </a:xfrm>
          <a:gradFill>
            <a:gsLst>
              <a:gs pos="0">
                <a:srgbClr val="D92398">
                  <a:alpha val="76403"/>
                </a:srgbClr>
              </a:gs>
              <a:gs pos="29000">
                <a:srgbClr val="EB3FC7">
                  <a:alpha val="38353"/>
                </a:srgbClr>
              </a:gs>
              <a:gs pos="66000">
                <a:srgbClr val="E450FB">
                  <a:alpha val="16618"/>
                </a:srgbClr>
              </a:gs>
              <a:gs pos="100000">
                <a:srgbClr val="9243F7">
                  <a:alpha val="0"/>
                </a:srgbClr>
              </a:gs>
            </a:gsLst>
            <a:lin ang="3000000" scaled="0"/>
          </a:gradFill>
        </p:grpSpPr>
        <p:sp>
          <p:nvSpPr>
            <p:cNvPr id="3" name="Google Shape;1055;p39">
              <a:extLst>
                <a:ext uri="{FF2B5EF4-FFF2-40B4-BE49-F238E27FC236}">
                  <a16:creationId xmlns:a16="http://schemas.microsoft.com/office/drawing/2014/main" id="{AEB4DD6F-DC17-8C49-DE0B-5BDB49A63CFC}"/>
                </a:ext>
              </a:extLst>
            </p:cNvPr>
            <p:cNvSpPr/>
            <p:nvPr/>
          </p:nvSpPr>
          <p:spPr>
            <a:xfrm>
              <a:off x="469564" y="2062753"/>
              <a:ext cx="2091226" cy="3142569"/>
            </a:xfrm>
            <a:prstGeom prst="roundRect">
              <a:avLst>
                <a:gd name="adj" fmla="val 9541"/>
              </a:avLst>
            </a:prstGeom>
            <a:gradFill>
              <a:gsLst>
                <a:gs pos="0">
                  <a:srgbClr val="D92398">
                    <a:alpha val="76403"/>
                  </a:srgbClr>
                </a:gs>
                <a:gs pos="29000">
                  <a:srgbClr val="EB3FC7">
                    <a:alpha val="38353"/>
                  </a:srgbClr>
                </a:gs>
                <a:gs pos="66000">
                  <a:srgbClr val="E450FB">
                    <a:alpha val="16618"/>
                  </a:srgbClr>
                </a:gs>
                <a:gs pos="100000">
                  <a:srgbClr val="9243F7">
                    <a:alpha val="0"/>
                  </a:srgbClr>
                </a:gs>
              </a:gsLst>
              <a:lin ang="3000000" scaled="0"/>
            </a:gradFill>
            <a:ln w="25400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4" name="Google Shape;1056;p39">
              <a:extLst>
                <a:ext uri="{FF2B5EF4-FFF2-40B4-BE49-F238E27FC236}">
                  <a16:creationId xmlns:a16="http://schemas.microsoft.com/office/drawing/2014/main" id="{2F92B28B-DE7F-F2F0-833E-E282D766CF8A}"/>
                </a:ext>
              </a:extLst>
            </p:cNvPr>
            <p:cNvSpPr txBox="1"/>
            <p:nvPr/>
          </p:nvSpPr>
          <p:spPr>
            <a:xfrm>
              <a:off x="657573" y="3325633"/>
              <a:ext cx="1633747" cy="10366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lang="en-GB" sz="1600" b="1" dirty="0">
                  <a:solidFill>
                    <a:schemeClr val="lt1"/>
                  </a:solidFill>
                  <a:latin typeface="Barlow" pitchFamily="2" charset="77"/>
                  <a:ea typeface="Barlow"/>
                  <a:cs typeface="Barlow"/>
                  <a:sym typeface="Barlow"/>
                </a:rPr>
                <a:t xml:space="preserve">Date: </a:t>
              </a:r>
              <a:r>
                <a:rPr lang="en-GB" sz="1600" dirty="0">
                  <a:solidFill>
                    <a:schemeClr val="lt1"/>
                  </a:solidFill>
                  <a:latin typeface="Barlow" pitchFamily="2" charset="77"/>
                  <a:ea typeface="Barlow"/>
                  <a:cs typeface="Barlow"/>
                  <a:sym typeface="Barlow"/>
                </a:rPr>
                <a:t>[Date]</a:t>
              </a:r>
            </a:p>
            <a:p>
              <a:pPr marL="0" marR="0" lvl="0" indent="0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lang="en-GB" sz="1600" b="1" dirty="0">
                  <a:solidFill>
                    <a:schemeClr val="lt1"/>
                  </a:solidFill>
                  <a:latin typeface="Barlow" pitchFamily="2" charset="77"/>
                  <a:sym typeface="Barlow"/>
                </a:rPr>
                <a:t xml:space="preserve">Time: </a:t>
              </a:r>
              <a:r>
                <a:rPr lang="en-GB" sz="1600" dirty="0">
                  <a:solidFill>
                    <a:schemeClr val="lt1"/>
                  </a:solidFill>
                  <a:latin typeface="Barlow" pitchFamily="2" charset="77"/>
                  <a:sym typeface="Barlow"/>
                </a:rPr>
                <a:t>[Time]</a:t>
              </a:r>
            </a:p>
            <a:p>
              <a:pPr marL="0" marR="0" lvl="0" indent="0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lang="en-GB" sz="1600" b="1" dirty="0">
                  <a:solidFill>
                    <a:schemeClr val="lt1"/>
                  </a:solidFill>
                  <a:latin typeface="Barlow" pitchFamily="2" charset="77"/>
                  <a:sym typeface="Barlow"/>
                </a:rPr>
                <a:t xml:space="preserve">Venue: </a:t>
              </a:r>
              <a:r>
                <a:rPr lang="en-GB" sz="1600" dirty="0">
                  <a:solidFill>
                    <a:schemeClr val="lt1"/>
                  </a:solidFill>
                  <a:latin typeface="Barlow" pitchFamily="2" charset="77"/>
                  <a:sym typeface="Barlow"/>
                </a:rPr>
                <a:t>[Venue]</a:t>
              </a:r>
              <a:br>
                <a:rPr lang="en-GB" sz="1600" b="1" dirty="0">
                  <a:solidFill>
                    <a:schemeClr val="lt1"/>
                  </a:solidFill>
                  <a:latin typeface="Barlow" pitchFamily="2" charset="77"/>
                  <a:sym typeface="Barlow"/>
                </a:rPr>
              </a:br>
              <a:endParaRPr lang="en-GB" sz="1600" b="1" dirty="0">
                <a:solidFill>
                  <a:schemeClr val="lt1"/>
                </a:solidFill>
                <a:latin typeface="Barlow" pitchFamily="2" charset="77"/>
                <a:sym typeface="Barlow"/>
              </a:endParaRPr>
            </a:p>
            <a:p>
              <a:pPr marL="0" marR="0" lvl="0" indent="0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lang="en-GB" sz="1600" b="1" dirty="0">
                  <a:solidFill>
                    <a:schemeClr val="lt1"/>
                  </a:solidFill>
                  <a:latin typeface="Barlow" pitchFamily="2" charset="77"/>
                  <a:sym typeface="Barlow"/>
                </a:rPr>
                <a:t>RSVP by [Date]</a:t>
              </a:r>
            </a:p>
            <a:p>
              <a:pPr marL="0" marR="0" lvl="0" indent="0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dirty="0">
                <a:latin typeface="Barlow" pitchFamily="2" charset="77"/>
              </a:endParaRPr>
            </a:p>
          </p:txBody>
        </p:sp>
        <p:sp>
          <p:nvSpPr>
            <p:cNvPr id="5" name="Google Shape;1057;p39">
              <a:extLst>
                <a:ext uri="{FF2B5EF4-FFF2-40B4-BE49-F238E27FC236}">
                  <a16:creationId xmlns:a16="http://schemas.microsoft.com/office/drawing/2014/main" id="{8F6D34A4-0BFB-54BB-0DBA-D261A9659F23}"/>
                </a:ext>
              </a:extLst>
            </p:cNvPr>
            <p:cNvSpPr/>
            <p:nvPr/>
          </p:nvSpPr>
          <p:spPr>
            <a:xfrm>
              <a:off x="593535" y="2208490"/>
              <a:ext cx="1786162" cy="384836"/>
            </a:xfrm>
            <a:prstGeom prst="roundRect">
              <a:avLst>
                <a:gd name="adj" fmla="val 16667"/>
              </a:avLst>
            </a:prstGeom>
            <a:solidFill>
              <a:srgbClr val="D92398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solidFill>
                    <a:schemeClr val="lt1"/>
                  </a:solidFill>
                  <a:latin typeface="Barlow"/>
                  <a:ea typeface="Barlow"/>
                  <a:cs typeface="Barlow"/>
                  <a:sym typeface="Barlow"/>
                </a:rPr>
                <a:t xml:space="preserve"> [Event Name]</a:t>
              </a:r>
              <a:endParaRPr dirty="0"/>
            </a:p>
          </p:txBody>
        </p:sp>
        <p:sp>
          <p:nvSpPr>
            <p:cNvPr id="6" name="Google Shape;1058;p39">
              <a:extLst>
                <a:ext uri="{FF2B5EF4-FFF2-40B4-BE49-F238E27FC236}">
                  <a16:creationId xmlns:a16="http://schemas.microsoft.com/office/drawing/2014/main" id="{C0717BAC-C97E-36D3-AB54-98B7C23457C6}"/>
                </a:ext>
              </a:extLst>
            </p:cNvPr>
            <p:cNvSpPr/>
            <p:nvPr/>
          </p:nvSpPr>
          <p:spPr>
            <a:xfrm>
              <a:off x="2787922" y="2062753"/>
              <a:ext cx="2091226" cy="3142569"/>
            </a:xfrm>
            <a:prstGeom prst="roundRect">
              <a:avLst>
                <a:gd name="adj" fmla="val 9541"/>
              </a:avLst>
            </a:prstGeom>
            <a:grpFill/>
            <a:ln w="25400" cap="flat" cmpd="sng">
              <a:noFill/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endParaRPr>
            </a:p>
          </p:txBody>
        </p:sp>
        <p:sp>
          <p:nvSpPr>
            <p:cNvPr id="7" name="Google Shape;1059;p39">
              <a:extLst>
                <a:ext uri="{FF2B5EF4-FFF2-40B4-BE49-F238E27FC236}">
                  <a16:creationId xmlns:a16="http://schemas.microsoft.com/office/drawing/2014/main" id="{20B4415D-4584-7F83-992F-B33910C62085}"/>
                </a:ext>
              </a:extLst>
            </p:cNvPr>
            <p:cNvSpPr txBox="1"/>
            <p:nvPr/>
          </p:nvSpPr>
          <p:spPr>
            <a:xfrm>
              <a:off x="3016661" y="3079419"/>
              <a:ext cx="1633747" cy="178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endParaRPr sz="16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" name="Google Shape;1057;p39">
            <a:extLst>
              <a:ext uri="{FF2B5EF4-FFF2-40B4-BE49-F238E27FC236}">
                <a16:creationId xmlns:a16="http://schemas.microsoft.com/office/drawing/2014/main" id="{C86D849F-77FA-2594-ABD7-CA390BAB4A49}"/>
              </a:ext>
            </a:extLst>
          </p:cNvPr>
          <p:cNvSpPr/>
          <p:nvPr/>
        </p:nvSpPr>
        <p:spPr>
          <a:xfrm>
            <a:off x="6489455" y="1920179"/>
            <a:ext cx="2895817" cy="519762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b="1" dirty="0">
                <a:solidFill>
                  <a:schemeClr val="lt1"/>
                </a:solidFill>
                <a:latin typeface="Barlow"/>
              </a:rPr>
              <a:t>[Event Name]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2FC51F-7BD0-2B55-47A7-C6488786E090}"/>
              </a:ext>
            </a:extLst>
          </p:cNvPr>
          <p:cNvSpPr txBox="1"/>
          <p:nvPr/>
        </p:nvSpPr>
        <p:spPr>
          <a:xfrm>
            <a:off x="3000752" y="2529580"/>
            <a:ext cx="24939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>
                <a:solidFill>
                  <a:schemeClr val="bg1"/>
                </a:solidFill>
                <a:latin typeface="Barlow" pitchFamily="2" charset="77"/>
              </a:rPr>
              <a:t xml:space="preserve">[Short event description] </a:t>
            </a:r>
            <a:endParaRPr lang="en-US" sz="1200" b="1" i="1" dirty="0">
              <a:solidFill>
                <a:schemeClr val="bg1"/>
              </a:solidFill>
              <a:latin typeface="Barlow" pitchFamily="2" charset="77"/>
            </a:endParaRPr>
          </a:p>
        </p:txBody>
      </p:sp>
      <p:sp>
        <p:nvSpPr>
          <p:cNvPr id="13" name="Google Shape;320;p5">
            <a:extLst>
              <a:ext uri="{FF2B5EF4-FFF2-40B4-BE49-F238E27FC236}">
                <a16:creationId xmlns:a16="http://schemas.microsoft.com/office/drawing/2014/main" id="{A8C22889-37A1-1DED-5DE4-889DB592B256}"/>
              </a:ext>
            </a:extLst>
          </p:cNvPr>
          <p:cNvSpPr/>
          <p:nvPr/>
        </p:nvSpPr>
        <p:spPr>
          <a:xfrm>
            <a:off x="2826290" y="5120375"/>
            <a:ext cx="1351994" cy="384836"/>
          </a:xfrm>
          <a:prstGeom prst="roundRect">
            <a:avLst>
              <a:gd name="adj" fmla="val 16667"/>
            </a:avLst>
          </a:prstGeom>
          <a:solidFill>
            <a:srgbClr val="01A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2"/>
              </a:rPr>
              <a:t>RSVP &gt;</a:t>
            </a:r>
            <a:endParaRPr dirty="0"/>
          </a:p>
        </p:txBody>
      </p:sp>
      <p:sp>
        <p:nvSpPr>
          <p:cNvPr id="14" name="Google Shape;1056;p39">
            <a:extLst>
              <a:ext uri="{FF2B5EF4-FFF2-40B4-BE49-F238E27FC236}">
                <a16:creationId xmlns:a16="http://schemas.microsoft.com/office/drawing/2014/main" id="{91649AFC-9E55-52EB-5538-A8D1C781CCE4}"/>
              </a:ext>
            </a:extLst>
          </p:cNvPr>
          <p:cNvSpPr txBox="1"/>
          <p:nvPr/>
        </p:nvSpPr>
        <p:spPr>
          <a:xfrm>
            <a:off x="6578798" y="3428998"/>
            <a:ext cx="2648714" cy="140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600" b="1" dirty="0">
                <a:solidFill>
                  <a:schemeClr val="lt1"/>
                </a:solidFill>
                <a:latin typeface="Barlow" pitchFamily="2" charset="77"/>
                <a:ea typeface="Barlow"/>
                <a:cs typeface="Barlow"/>
                <a:sym typeface="Barlow"/>
              </a:rPr>
              <a:t xml:space="preserve">Date: </a:t>
            </a:r>
            <a:r>
              <a:rPr lang="en-GB" sz="1600" dirty="0">
                <a:solidFill>
                  <a:schemeClr val="lt1"/>
                </a:solidFill>
                <a:latin typeface="Barlow" pitchFamily="2" charset="77"/>
                <a:ea typeface="Barlow"/>
                <a:cs typeface="Barlow"/>
                <a:sym typeface="Barlow"/>
              </a:rPr>
              <a:t>[Date]</a:t>
            </a:r>
          </a:p>
          <a:p>
            <a:pPr>
              <a:lnSpc>
                <a:spcPct val="90000"/>
              </a:lnSpc>
              <a:buClr>
                <a:schemeClr val="lt1"/>
              </a:buClr>
              <a:buSzPts val="1400"/>
            </a:pPr>
            <a:r>
              <a:rPr lang="en-GB" sz="1600" b="1" dirty="0">
                <a:solidFill>
                  <a:schemeClr val="lt1"/>
                </a:solidFill>
                <a:latin typeface="Barlow" pitchFamily="2" charset="77"/>
                <a:sym typeface="Barlow"/>
              </a:rPr>
              <a:t xml:space="preserve">Location: </a:t>
            </a:r>
            <a:r>
              <a:rPr lang="en-GB" sz="1600" dirty="0">
                <a:solidFill>
                  <a:schemeClr val="lt1"/>
                </a:solidFill>
                <a:latin typeface="Barlow" pitchFamily="2" charset="77"/>
              </a:rPr>
              <a:t>[Location]</a:t>
            </a:r>
          </a:p>
          <a:p>
            <a:pPr marL="0" marR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600" b="1" dirty="0" err="1">
                <a:solidFill>
                  <a:schemeClr val="lt1"/>
                </a:solidFill>
                <a:latin typeface="Barlow" pitchFamily="2" charset="77"/>
                <a:sym typeface="Barlow"/>
              </a:rPr>
              <a:t>Xelix</a:t>
            </a:r>
            <a:r>
              <a:rPr lang="en-GB" sz="1600" b="1" dirty="0">
                <a:solidFill>
                  <a:schemeClr val="lt1"/>
                </a:solidFill>
                <a:latin typeface="Barlow" pitchFamily="2" charset="77"/>
                <a:sym typeface="Barlow"/>
              </a:rPr>
              <a:t xml:space="preserve"> booth: [Booth]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236C62-BAC2-D97A-48BC-B8D0CAD76CBB}"/>
              </a:ext>
            </a:extLst>
          </p:cNvPr>
          <p:cNvSpPr txBox="1"/>
          <p:nvPr/>
        </p:nvSpPr>
        <p:spPr>
          <a:xfrm>
            <a:off x="6690372" y="2526328"/>
            <a:ext cx="24939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>
                <a:solidFill>
                  <a:schemeClr val="bg1"/>
                </a:solidFill>
                <a:latin typeface="Barlow" pitchFamily="2" charset="77"/>
              </a:rPr>
              <a:t xml:space="preserve">[Short event description] </a:t>
            </a:r>
            <a:endParaRPr lang="en-US" sz="1200" b="1" i="1" dirty="0">
              <a:solidFill>
                <a:schemeClr val="bg1"/>
              </a:solidFill>
              <a:latin typeface="Barlow" pitchFamily="2" charset="77"/>
            </a:endParaRPr>
          </a:p>
        </p:txBody>
      </p:sp>
      <p:sp>
        <p:nvSpPr>
          <p:cNvPr id="16" name="Google Shape;320;p5">
            <a:extLst>
              <a:ext uri="{FF2B5EF4-FFF2-40B4-BE49-F238E27FC236}">
                <a16:creationId xmlns:a16="http://schemas.microsoft.com/office/drawing/2014/main" id="{C18B8B00-16FD-3155-ECC3-9E0847E31D05}"/>
              </a:ext>
            </a:extLst>
          </p:cNvPr>
          <p:cNvSpPr/>
          <p:nvPr/>
        </p:nvSpPr>
        <p:spPr>
          <a:xfrm>
            <a:off x="6585368" y="5076544"/>
            <a:ext cx="3016042" cy="384836"/>
          </a:xfrm>
          <a:prstGeom prst="roundRect">
            <a:avLst>
              <a:gd name="adj" fmla="val 16667"/>
            </a:avLst>
          </a:prstGeom>
          <a:solidFill>
            <a:srgbClr val="01A7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bg1"/>
                </a:solidFill>
                <a:latin typeface="Barlow" pitchFamily="2" charset="77"/>
              </a:rPr>
              <a:t>[Optional note]</a:t>
            </a:r>
            <a:endParaRPr sz="1200" dirty="0">
              <a:solidFill>
                <a:schemeClr val="bg1"/>
              </a:solidFill>
              <a:latin typeface="Barlow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16091030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9571</TotalTime>
  <Words>1053</Words>
  <Application>Microsoft Macintosh PowerPoint</Application>
  <PresentationFormat>Widescreen</PresentationFormat>
  <Paragraphs>259</Paragraphs>
  <Slides>40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Barlow</vt:lpstr>
      <vt:lpstr>Barlow ExtraBold</vt:lpstr>
      <vt:lpstr>Calibri</vt:lpstr>
      <vt:lpstr>Barlow Black</vt:lpstr>
      <vt:lpstr>Arial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Ore Sanniowo</cp:lastModifiedBy>
  <cp:revision>24</cp:revision>
  <dcterms:created xsi:type="dcterms:W3CDTF">2023-04-12T13:14:20Z</dcterms:created>
  <dcterms:modified xsi:type="dcterms:W3CDTF">2026-06-12T14:06:40Z</dcterms:modified>
</cp:coreProperties>
</file>