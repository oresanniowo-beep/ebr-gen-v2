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2"/>
  </p:notesMasterIdLst>
  <p:sldIdLst>
    <p:sldId id="717" r:id="rId2"/>
    <p:sldId id="786" r:id="rId3"/>
    <p:sldId id="326" r:id="rId4"/>
    <p:sldId id="330" r:id="rId5"/>
    <p:sldId id="375" r:id="rId6"/>
    <p:sldId id="718" r:id="rId7"/>
    <p:sldId id="383" r:id="rId8"/>
    <p:sldId id="790" r:id="rId58"/>
    <p:sldId id="740" r:id="rId11"/>
    <p:sldId id="741" r:id="rId12"/>
    <p:sldId id="742" r:id="rId13"/>
    <p:sldId id="743" r:id="rId14"/>
    <p:sldId id="756" r:id="rId15"/>
    <p:sldId id="773" r:id="rId16"/>
    <p:sldId id="335" r:id="rId17"/>
    <p:sldId id="774" r:id="rId18"/>
    <p:sldId id="775" r:id="rId19"/>
    <p:sldId id="788" r:id="rId20"/>
    <p:sldId id="779" r:id="rId21"/>
    <p:sldId id="748" r:id="rId22"/>
    <p:sldId id="757" r:id="rId23"/>
    <p:sldId id="776" r:id="rId24"/>
    <p:sldId id="751" r:id="rId25"/>
    <p:sldId id="777" r:id="rId26"/>
    <p:sldId id="753" r:id="rId27"/>
    <p:sldId id="780" r:id="rId28"/>
    <p:sldId id="759" r:id="rId29"/>
    <p:sldId id="760" r:id="rId30"/>
    <p:sldId id="778" r:id="rId31"/>
    <p:sldId id="787" r:id="rId32"/>
    <p:sldId id="789" r:id="rId33"/>
    <p:sldId id="781" r:id="rId34"/>
    <p:sldId id="721" r:id="rId35"/>
    <p:sldId id="385" r:id="rId36"/>
    <p:sldId id="720" r:id="rId37"/>
    <p:sldId id="369" r:id="rId38"/>
    <p:sldId id="772" r:id="rId39"/>
    <p:sldId id="295" r:id="rId40"/>
    <p:sldId id="320" r:id="rId41"/>
  </p:sldIdLst>
  <p:sldSz cx="12192000" cy="6858000"/>
  <p:notesSz cx="6858000" cy="9144000"/>
  <p:embeddedFontLst>
    <p:embeddedFont>
      <p:font typeface="Barlow" pitchFamily="2" charset="77"/>
      <p:regular r:id="rId43"/>
      <p:bold r:id="rId44"/>
      <p:italic r:id="rId45"/>
      <p:boldItalic r:id="rId46"/>
    </p:embeddedFont>
    <p:embeddedFont>
      <p:font typeface="Barlow Black" panose="00000A00000000000000" pitchFamily="2" charset="77"/>
      <p:bold r:id="rId47"/>
      <p:italic r:id="rId48"/>
      <p:boldItalic r:id="rId49"/>
    </p:embeddedFont>
    <p:embeddedFont>
      <p:font typeface="Barlow ExtraBold" panose="00000900000000000000" pitchFamily="2" charset="77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hJZzuSbLNYNkeTgkXJyBEMnHXO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D1FF"/>
    <a:srgbClr val="EB3FC7"/>
    <a:srgbClr val="9241F7"/>
    <a:srgbClr val="5D139F"/>
    <a:srgbClr val="BDAFF1"/>
    <a:srgbClr val="D92398"/>
    <a:srgbClr val="A79BD7"/>
    <a:srgbClr val="F5F7FB"/>
    <a:srgbClr val="002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BCAB09-D571-4314-BB93-0DD3BD3F9BFD}">
  <a:tblStyle styleId="{D5BCAB09-D571-4314-BB93-0DD3BD3F9BF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3494330-313F-41B6-A52A-301C593EF15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16"/>
    <p:restoredTop sz="95890"/>
  </p:normalViewPr>
  <p:slideViewPr>
    <p:cSldViewPr snapToGrid="0">
      <p:cViewPr>
        <p:scale>
          <a:sx n="99" d="100"/>
          <a:sy n="99" d="100"/>
        </p:scale>
        <p:origin x="105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9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notesMaster" Target="notesMasters/notesMaster1.xml"/><Relationship Id="rId43" Type="http://schemas.openxmlformats.org/officeDocument/2006/relationships/font" Target="fonts/font1.fntdata"/><Relationship Id="rId44" Type="http://schemas.openxmlformats.org/officeDocument/2006/relationships/font" Target="fonts/font2.fntdata"/><Relationship Id="rId45" Type="http://schemas.openxmlformats.org/officeDocument/2006/relationships/font" Target="fonts/font3.fntdata"/><Relationship Id="rId46" Type="http://schemas.openxmlformats.org/officeDocument/2006/relationships/font" Target="fonts/font4.fntdata"/><Relationship Id="rId47" Type="http://schemas.openxmlformats.org/officeDocument/2006/relationships/font" Target="fonts/font5.fntdata"/><Relationship Id="rId48" Type="http://schemas.openxmlformats.org/officeDocument/2006/relationships/font" Target="fonts/font6.fntdata"/><Relationship Id="rId49" Type="http://schemas.openxmlformats.org/officeDocument/2006/relationships/font" Target="fonts/font7.fntdata"/><Relationship Id="rId50" Type="http://schemas.openxmlformats.org/officeDocument/2006/relationships/font" Target="fonts/font8.fntdata"/><Relationship Id="rId51" Type="http://schemas.openxmlformats.org/officeDocument/2006/relationships/font" Target="fonts/font9.fntdata"/><Relationship Id="rId52" Type="http://schemas.openxmlformats.org/officeDocument/2006/relationships/font" Target="fonts/font10.fntdata"/><Relationship Id="rId58" Type="http://schemas.openxmlformats.org/officeDocument/2006/relationships/slide" Target="slides/slide8.xml"/><Relationship Id="rId64" Type="http://customschemas.google.com/relationships/presentationmetadata" Target="metadata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C5D0-D9E0-405D-F250-9DC0C977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BCB58-C50C-B1B4-50E0-C870FB5B2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67454-67D5-1B8D-602A-6BE7C817A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39EB2-5475-C439-6B37-B4775545C1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30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A7DD6-586B-2902-94D6-AA528DD7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078A1-6F24-0D08-101C-D52F6F801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475DB-58E7-A60B-228B-072E5CC77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B270-9BD5-9F8A-462D-DAB8DE45E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75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9cd380aa6_0_1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g3c9cd380aa6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>
          <a:extLst>
            <a:ext uri="{FF2B5EF4-FFF2-40B4-BE49-F238E27FC236}">
              <a16:creationId xmlns:a16="http://schemas.microsoft.com/office/drawing/2014/main" id="{5D23A4F4-EA78-6A0E-C935-FD9FE2A2F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9cd380aa6_0_183:notes">
            <a:extLst>
              <a:ext uri="{FF2B5EF4-FFF2-40B4-BE49-F238E27FC236}">
                <a16:creationId xmlns:a16="http://schemas.microsoft.com/office/drawing/2014/main" id="{9F5B4660-A871-24AC-04DB-B3A19E830B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g3c9cd380aa6_0_183:notes">
            <a:extLst>
              <a:ext uri="{FF2B5EF4-FFF2-40B4-BE49-F238E27FC236}">
                <a16:creationId xmlns:a16="http://schemas.microsoft.com/office/drawing/2014/main" id="{4158ABBA-6E24-5D4B-1913-37E0864191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9319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>
          <a:extLst>
            <a:ext uri="{FF2B5EF4-FFF2-40B4-BE49-F238E27FC236}">
              <a16:creationId xmlns:a16="http://schemas.microsoft.com/office/drawing/2014/main" id="{51874119-291F-772E-7971-DAE2A9A6E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9cd380aa6_0_183:notes">
            <a:extLst>
              <a:ext uri="{FF2B5EF4-FFF2-40B4-BE49-F238E27FC236}">
                <a16:creationId xmlns:a16="http://schemas.microsoft.com/office/drawing/2014/main" id="{E238BFF3-59BE-7BA4-C736-7368A92FC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g3c9cd380aa6_0_183:notes">
            <a:extLst>
              <a:ext uri="{FF2B5EF4-FFF2-40B4-BE49-F238E27FC236}">
                <a16:creationId xmlns:a16="http://schemas.microsoft.com/office/drawing/2014/main" id="{D6178D55-1DA3-D46F-B5BB-F7CDA7D13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6395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F283-B97C-B940-569E-ED443B065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BEC69-52FB-5285-2E56-7DED7FDE6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9839D-80D8-CF6A-2DA9-6BD5E775F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08F1B-C937-2803-FCD4-0975EA9B46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94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google.com/search?q=xelix&amp;oq=xelix&amp;aqs=chrome.0.35i39j46i175i199i512j69i65j69i60j69i65j69i60l2j69i65.725j0j4&amp;sourceid=chrome&amp;ie=UTF-8" TargetMode="External"/><Relationship Id="rId5" Type="http://schemas.openxmlformats.org/officeDocument/2006/relationships/hyperlink" Target="http://www.xelix.com/" TargetMode="Externa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Text + image (Gradient)">
  <p:cSld name="3. Content: Text + image (Gradient)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5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5"/>
          <p:cNvSpPr txBox="1">
            <a:spLocks noGrp="1"/>
          </p:cNvSpPr>
          <p:nvPr>
            <p:ph type="body" idx="1"/>
          </p:nvPr>
        </p:nvSpPr>
        <p:spPr>
          <a:xfrm>
            <a:off x="850900" y="1787314"/>
            <a:ext cx="5740969" cy="4776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45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3" name="Google Shape;2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5"/>
          <p:cNvSpPr>
            <a:spLocks noGrp="1"/>
          </p:cNvSpPr>
          <p:nvPr>
            <p:ph type="pic" idx="2"/>
          </p:nvPr>
        </p:nvSpPr>
        <p:spPr>
          <a:xfrm>
            <a:off x="6863513" y="1787314"/>
            <a:ext cx="4490287" cy="477667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Logo">
  <p:cSld name="1. Logo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49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9" descr="A picture containing text,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2531" y="2845386"/>
            <a:ext cx="3266939" cy="1167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divider">
  <p:cSld name="2. Section divi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0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0"/>
          <p:cNvSpPr txBox="1">
            <a:spLocks noGrp="1"/>
          </p:cNvSpPr>
          <p:nvPr>
            <p:ph type="title"/>
          </p:nvPr>
        </p:nvSpPr>
        <p:spPr>
          <a:xfrm>
            <a:off x="685800" y="3081683"/>
            <a:ext cx="6987209" cy="172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arlow Black"/>
              <a:buNone/>
              <a:defRPr sz="60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body" idx="1"/>
          </p:nvPr>
        </p:nvSpPr>
        <p:spPr>
          <a:xfrm>
            <a:off x="685800" y="5003800"/>
            <a:ext cx="6987209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5" name="Google Shape;45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divider + image">
  <p:cSld name="2. Section divider + imag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1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1"/>
          <p:cNvSpPr>
            <a:spLocks noGrp="1"/>
          </p:cNvSpPr>
          <p:nvPr>
            <p:ph type="pic" idx="2"/>
          </p:nvPr>
        </p:nvSpPr>
        <p:spPr>
          <a:xfrm>
            <a:off x="6738729" y="987425"/>
            <a:ext cx="4860235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51"/>
          <p:cNvSpPr txBox="1">
            <a:spLocks noGrp="1"/>
          </p:cNvSpPr>
          <p:nvPr>
            <p:ph type="title"/>
          </p:nvPr>
        </p:nvSpPr>
        <p:spPr>
          <a:xfrm>
            <a:off x="685800" y="3081683"/>
            <a:ext cx="6987209" cy="172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arlow Black"/>
              <a:buNone/>
              <a:defRPr sz="60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body" idx="1"/>
          </p:nvPr>
        </p:nvSpPr>
        <p:spPr>
          <a:xfrm>
            <a:off x="685800" y="5003800"/>
            <a:ext cx="6987209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1" name="Google Shape;51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divider + image + circle ">
  <p:cSld name="2. Section divider + image + circle 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52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2" descr="Shape, circ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r="24492" b="28636"/>
          <a:stretch/>
        </p:blipFill>
        <p:spPr>
          <a:xfrm>
            <a:off x="6886937" y="1844140"/>
            <a:ext cx="5305063" cy="50138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2"/>
          <p:cNvSpPr txBox="1">
            <a:spLocks noGrp="1"/>
          </p:cNvSpPr>
          <p:nvPr>
            <p:ph type="title"/>
          </p:nvPr>
        </p:nvSpPr>
        <p:spPr>
          <a:xfrm>
            <a:off x="685800" y="3081683"/>
            <a:ext cx="6987209" cy="172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arlow Black"/>
              <a:buNone/>
              <a:defRPr sz="60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52"/>
          <p:cNvSpPr txBox="1">
            <a:spLocks noGrp="1"/>
          </p:cNvSpPr>
          <p:nvPr>
            <p:ph type="body" idx="1"/>
          </p:nvPr>
        </p:nvSpPr>
        <p:spPr>
          <a:xfrm>
            <a:off x="685800" y="5003800"/>
            <a:ext cx="6987209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7" name="Google Shape;57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2"/>
          <p:cNvSpPr>
            <a:spLocks noGrp="1"/>
          </p:cNvSpPr>
          <p:nvPr>
            <p:ph type="pic" idx="2"/>
          </p:nvPr>
        </p:nvSpPr>
        <p:spPr>
          <a:xfrm>
            <a:off x="6738729" y="987425"/>
            <a:ext cx="4860235" cy="48736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Text (Gradient)">
  <p:cSld name="3. Content: Text (Gradient)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53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3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62" name="Google Shape;62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3"/>
          <p:cNvSpPr txBox="1">
            <a:spLocks noGrp="1"/>
          </p:cNvSpPr>
          <p:nvPr>
            <p:ph type="body" idx="1"/>
          </p:nvPr>
        </p:nvSpPr>
        <p:spPr>
          <a:xfrm>
            <a:off x="850900" y="1787314"/>
            <a:ext cx="10147300" cy="444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Headshots">
  <p:cSld name="3. Content: Headsho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54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4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67" name="Google Shape;67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4"/>
          <p:cNvSpPr>
            <a:spLocks noGrp="1"/>
          </p:cNvSpPr>
          <p:nvPr>
            <p:ph type="pic" idx="2"/>
          </p:nvPr>
        </p:nvSpPr>
        <p:spPr>
          <a:xfrm>
            <a:off x="838200" y="2133600"/>
            <a:ext cx="1778000" cy="1752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54"/>
          <p:cNvSpPr>
            <a:spLocks noGrp="1"/>
          </p:cNvSpPr>
          <p:nvPr>
            <p:ph type="pic" idx="3"/>
          </p:nvPr>
        </p:nvSpPr>
        <p:spPr>
          <a:xfrm>
            <a:off x="3454400" y="2133600"/>
            <a:ext cx="1778000" cy="1752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54"/>
          <p:cNvSpPr>
            <a:spLocks noGrp="1"/>
          </p:cNvSpPr>
          <p:nvPr>
            <p:ph type="pic" idx="4"/>
          </p:nvPr>
        </p:nvSpPr>
        <p:spPr>
          <a:xfrm>
            <a:off x="6070600" y="2133600"/>
            <a:ext cx="1778000" cy="1752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54"/>
          <p:cNvSpPr>
            <a:spLocks noGrp="1"/>
          </p:cNvSpPr>
          <p:nvPr>
            <p:ph type="pic" idx="5"/>
          </p:nvPr>
        </p:nvSpPr>
        <p:spPr>
          <a:xfrm>
            <a:off x="8686800" y="2133600"/>
            <a:ext cx="1778000" cy="1752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54"/>
          <p:cNvSpPr txBox="1">
            <a:spLocks noGrp="1"/>
          </p:cNvSpPr>
          <p:nvPr>
            <p:ph type="body" idx="1"/>
          </p:nvPr>
        </p:nvSpPr>
        <p:spPr>
          <a:xfrm>
            <a:off x="838201" y="4329112"/>
            <a:ext cx="1777999" cy="41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54"/>
          <p:cNvSpPr txBox="1">
            <a:spLocks noGrp="1"/>
          </p:cNvSpPr>
          <p:nvPr>
            <p:ph type="body" idx="6"/>
          </p:nvPr>
        </p:nvSpPr>
        <p:spPr>
          <a:xfrm>
            <a:off x="3429002" y="4303599"/>
            <a:ext cx="1777999" cy="41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54"/>
          <p:cNvSpPr txBox="1">
            <a:spLocks noGrp="1"/>
          </p:cNvSpPr>
          <p:nvPr>
            <p:ph type="body" idx="7"/>
          </p:nvPr>
        </p:nvSpPr>
        <p:spPr>
          <a:xfrm>
            <a:off x="6070600" y="4303599"/>
            <a:ext cx="1777999" cy="41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54"/>
          <p:cNvSpPr txBox="1">
            <a:spLocks noGrp="1"/>
          </p:cNvSpPr>
          <p:nvPr>
            <p:ph type="body" idx="8"/>
          </p:nvPr>
        </p:nvSpPr>
        <p:spPr>
          <a:xfrm>
            <a:off x="8686801" y="4303599"/>
            <a:ext cx="1777999" cy="41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54"/>
          <p:cNvSpPr txBox="1">
            <a:spLocks noGrp="1"/>
          </p:cNvSpPr>
          <p:nvPr>
            <p:ph type="body" idx="9"/>
          </p:nvPr>
        </p:nvSpPr>
        <p:spPr>
          <a:xfrm>
            <a:off x="838199" y="4737097"/>
            <a:ext cx="1778001" cy="142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body" idx="13"/>
          </p:nvPr>
        </p:nvSpPr>
        <p:spPr>
          <a:xfrm>
            <a:off x="3421911" y="4737097"/>
            <a:ext cx="1778001" cy="142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54"/>
          <p:cNvSpPr txBox="1">
            <a:spLocks noGrp="1"/>
          </p:cNvSpPr>
          <p:nvPr>
            <p:ph type="body" idx="14"/>
          </p:nvPr>
        </p:nvSpPr>
        <p:spPr>
          <a:xfrm>
            <a:off x="6069418" y="4737097"/>
            <a:ext cx="1778001" cy="142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54"/>
          <p:cNvSpPr txBox="1">
            <a:spLocks noGrp="1"/>
          </p:cNvSpPr>
          <p:nvPr>
            <p:ph type="body" idx="15"/>
          </p:nvPr>
        </p:nvSpPr>
        <p:spPr>
          <a:xfrm>
            <a:off x="8706292" y="4737097"/>
            <a:ext cx="1778001" cy="142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7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icon + bullets">
  <p:cSld name="3. Content: icon + bulle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55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5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83" name="Google Shape;83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5"/>
          <p:cNvSpPr txBox="1">
            <a:spLocks noGrp="1"/>
          </p:cNvSpPr>
          <p:nvPr>
            <p:ph type="body" idx="1"/>
          </p:nvPr>
        </p:nvSpPr>
        <p:spPr>
          <a:xfrm>
            <a:off x="838199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55"/>
          <p:cNvSpPr>
            <a:spLocks noGrp="1"/>
          </p:cNvSpPr>
          <p:nvPr>
            <p:ph type="pic" idx="2"/>
          </p:nvPr>
        </p:nvSpPr>
        <p:spPr>
          <a:xfrm>
            <a:off x="931773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55"/>
          <p:cNvSpPr txBox="1">
            <a:spLocks noGrp="1"/>
          </p:cNvSpPr>
          <p:nvPr>
            <p:ph type="body" idx="3"/>
          </p:nvPr>
        </p:nvSpPr>
        <p:spPr>
          <a:xfrm>
            <a:off x="3366246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55"/>
          <p:cNvSpPr>
            <a:spLocks noGrp="1"/>
          </p:cNvSpPr>
          <p:nvPr>
            <p:ph type="pic" idx="4"/>
          </p:nvPr>
        </p:nvSpPr>
        <p:spPr>
          <a:xfrm>
            <a:off x="3459820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55"/>
          <p:cNvSpPr txBox="1">
            <a:spLocks noGrp="1"/>
          </p:cNvSpPr>
          <p:nvPr>
            <p:ph type="body" idx="5"/>
          </p:nvPr>
        </p:nvSpPr>
        <p:spPr>
          <a:xfrm>
            <a:off x="5974975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55"/>
          <p:cNvSpPr>
            <a:spLocks noGrp="1"/>
          </p:cNvSpPr>
          <p:nvPr>
            <p:ph type="pic" idx="6"/>
          </p:nvPr>
        </p:nvSpPr>
        <p:spPr>
          <a:xfrm>
            <a:off x="6068549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55"/>
          <p:cNvSpPr txBox="1">
            <a:spLocks noGrp="1"/>
          </p:cNvSpPr>
          <p:nvPr>
            <p:ph type="body" idx="7"/>
          </p:nvPr>
        </p:nvSpPr>
        <p:spPr>
          <a:xfrm>
            <a:off x="8677278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55"/>
          <p:cNvSpPr>
            <a:spLocks noGrp="1"/>
          </p:cNvSpPr>
          <p:nvPr>
            <p:ph type="pic" idx="8"/>
          </p:nvPr>
        </p:nvSpPr>
        <p:spPr>
          <a:xfrm>
            <a:off x="8770852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55"/>
          <p:cNvSpPr txBox="1">
            <a:spLocks noGrp="1"/>
          </p:cNvSpPr>
          <p:nvPr>
            <p:ph type="body" idx="9"/>
          </p:nvPr>
        </p:nvSpPr>
        <p:spPr>
          <a:xfrm>
            <a:off x="850900" y="1787314"/>
            <a:ext cx="10147300" cy="651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9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Headshots">
  <p:cSld name="3. Content: Headsho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54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4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67" name="Google Shape;67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4"/>
          <p:cNvSpPr>
            <a:spLocks noGrp="1"/>
          </p:cNvSpPr>
          <p:nvPr>
            <p:ph type="pic" idx="2"/>
          </p:nvPr>
        </p:nvSpPr>
        <p:spPr>
          <a:xfrm>
            <a:off x="838200" y="2133600"/>
            <a:ext cx="1778000" cy="1752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54"/>
          <p:cNvSpPr>
            <a:spLocks noGrp="1"/>
          </p:cNvSpPr>
          <p:nvPr>
            <p:ph type="pic" idx="3"/>
          </p:nvPr>
        </p:nvSpPr>
        <p:spPr>
          <a:xfrm>
            <a:off x="3454400" y="2133600"/>
            <a:ext cx="1778000" cy="1752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54"/>
          <p:cNvSpPr>
            <a:spLocks noGrp="1"/>
          </p:cNvSpPr>
          <p:nvPr>
            <p:ph type="pic" idx="4"/>
          </p:nvPr>
        </p:nvSpPr>
        <p:spPr>
          <a:xfrm>
            <a:off x="6070600" y="2133600"/>
            <a:ext cx="1778000" cy="1752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54"/>
          <p:cNvSpPr>
            <a:spLocks noGrp="1"/>
          </p:cNvSpPr>
          <p:nvPr>
            <p:ph type="pic" idx="5"/>
          </p:nvPr>
        </p:nvSpPr>
        <p:spPr>
          <a:xfrm>
            <a:off x="8686800" y="2133600"/>
            <a:ext cx="1778000" cy="1752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54"/>
          <p:cNvSpPr txBox="1">
            <a:spLocks noGrp="1"/>
          </p:cNvSpPr>
          <p:nvPr>
            <p:ph type="body" idx="1"/>
          </p:nvPr>
        </p:nvSpPr>
        <p:spPr>
          <a:xfrm>
            <a:off x="838201" y="4329112"/>
            <a:ext cx="1777999" cy="41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54"/>
          <p:cNvSpPr txBox="1">
            <a:spLocks noGrp="1"/>
          </p:cNvSpPr>
          <p:nvPr>
            <p:ph type="body" idx="6"/>
          </p:nvPr>
        </p:nvSpPr>
        <p:spPr>
          <a:xfrm>
            <a:off x="3429002" y="4303599"/>
            <a:ext cx="1777999" cy="41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54"/>
          <p:cNvSpPr txBox="1">
            <a:spLocks noGrp="1"/>
          </p:cNvSpPr>
          <p:nvPr>
            <p:ph type="body" idx="7"/>
          </p:nvPr>
        </p:nvSpPr>
        <p:spPr>
          <a:xfrm>
            <a:off x="6070600" y="4303599"/>
            <a:ext cx="1777999" cy="41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54"/>
          <p:cNvSpPr txBox="1">
            <a:spLocks noGrp="1"/>
          </p:cNvSpPr>
          <p:nvPr>
            <p:ph type="body" idx="8"/>
          </p:nvPr>
        </p:nvSpPr>
        <p:spPr>
          <a:xfrm>
            <a:off x="8686801" y="4303599"/>
            <a:ext cx="1777999" cy="41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54"/>
          <p:cNvSpPr txBox="1">
            <a:spLocks noGrp="1"/>
          </p:cNvSpPr>
          <p:nvPr>
            <p:ph type="body" idx="9"/>
          </p:nvPr>
        </p:nvSpPr>
        <p:spPr>
          <a:xfrm>
            <a:off x="838199" y="4737097"/>
            <a:ext cx="1778001" cy="142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body" idx="13"/>
          </p:nvPr>
        </p:nvSpPr>
        <p:spPr>
          <a:xfrm>
            <a:off x="3421911" y="4737097"/>
            <a:ext cx="1778001" cy="142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54"/>
          <p:cNvSpPr txBox="1">
            <a:spLocks noGrp="1"/>
          </p:cNvSpPr>
          <p:nvPr>
            <p:ph type="body" idx="14"/>
          </p:nvPr>
        </p:nvSpPr>
        <p:spPr>
          <a:xfrm>
            <a:off x="6069418" y="4737097"/>
            <a:ext cx="1778001" cy="142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54"/>
          <p:cNvSpPr txBox="1">
            <a:spLocks noGrp="1"/>
          </p:cNvSpPr>
          <p:nvPr>
            <p:ph type="body" idx="15"/>
          </p:nvPr>
        </p:nvSpPr>
        <p:spPr>
          <a:xfrm>
            <a:off x="8706292" y="4737097"/>
            <a:ext cx="1778001" cy="142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icon + bullets">
  <p:cSld name="3. Content: icon + bulle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55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5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83" name="Google Shape;83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5"/>
          <p:cNvSpPr txBox="1">
            <a:spLocks noGrp="1"/>
          </p:cNvSpPr>
          <p:nvPr>
            <p:ph type="body" idx="1"/>
          </p:nvPr>
        </p:nvSpPr>
        <p:spPr>
          <a:xfrm>
            <a:off x="838199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55"/>
          <p:cNvSpPr>
            <a:spLocks noGrp="1"/>
          </p:cNvSpPr>
          <p:nvPr>
            <p:ph type="pic" idx="2"/>
          </p:nvPr>
        </p:nvSpPr>
        <p:spPr>
          <a:xfrm>
            <a:off x="931773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55"/>
          <p:cNvSpPr txBox="1">
            <a:spLocks noGrp="1"/>
          </p:cNvSpPr>
          <p:nvPr>
            <p:ph type="body" idx="3"/>
          </p:nvPr>
        </p:nvSpPr>
        <p:spPr>
          <a:xfrm>
            <a:off x="3366246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55"/>
          <p:cNvSpPr>
            <a:spLocks noGrp="1"/>
          </p:cNvSpPr>
          <p:nvPr>
            <p:ph type="pic" idx="4"/>
          </p:nvPr>
        </p:nvSpPr>
        <p:spPr>
          <a:xfrm>
            <a:off x="3459820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55"/>
          <p:cNvSpPr txBox="1">
            <a:spLocks noGrp="1"/>
          </p:cNvSpPr>
          <p:nvPr>
            <p:ph type="body" idx="5"/>
          </p:nvPr>
        </p:nvSpPr>
        <p:spPr>
          <a:xfrm>
            <a:off x="5974975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55"/>
          <p:cNvSpPr>
            <a:spLocks noGrp="1"/>
          </p:cNvSpPr>
          <p:nvPr>
            <p:ph type="pic" idx="6"/>
          </p:nvPr>
        </p:nvSpPr>
        <p:spPr>
          <a:xfrm>
            <a:off x="6068549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55"/>
          <p:cNvSpPr txBox="1">
            <a:spLocks noGrp="1"/>
          </p:cNvSpPr>
          <p:nvPr>
            <p:ph type="body" idx="7"/>
          </p:nvPr>
        </p:nvSpPr>
        <p:spPr>
          <a:xfrm>
            <a:off x="8677278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55"/>
          <p:cNvSpPr>
            <a:spLocks noGrp="1"/>
          </p:cNvSpPr>
          <p:nvPr>
            <p:ph type="pic" idx="8"/>
          </p:nvPr>
        </p:nvSpPr>
        <p:spPr>
          <a:xfrm>
            <a:off x="8770852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55"/>
          <p:cNvSpPr txBox="1">
            <a:spLocks noGrp="1"/>
          </p:cNvSpPr>
          <p:nvPr>
            <p:ph type="body" idx="9"/>
          </p:nvPr>
        </p:nvSpPr>
        <p:spPr>
          <a:xfrm>
            <a:off x="850900" y="1787314"/>
            <a:ext cx="10147300" cy="651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nt: Text (white)">
  <p:cSld name="1_3. Content: Text (white)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6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95" name="Google Shape;95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6"/>
          <p:cNvSpPr txBox="1">
            <a:spLocks noGrp="1"/>
          </p:cNvSpPr>
          <p:nvPr>
            <p:ph type="body" idx="1"/>
          </p:nvPr>
        </p:nvSpPr>
        <p:spPr>
          <a:xfrm>
            <a:off x="850900" y="1787314"/>
            <a:ext cx="10147300" cy="444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Did you know (Right)">
  <p:cSld name="3. Content: Did you know (Right)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57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7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-4207" t="-1985" r="-5876" b="-5359"/>
          <a:stretch/>
        </p:blipFill>
        <p:spPr>
          <a:xfrm>
            <a:off x="7061200" y="1168069"/>
            <a:ext cx="5252273" cy="512160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7"/>
          <p:cNvSpPr txBox="1">
            <a:spLocks noGrp="1"/>
          </p:cNvSpPr>
          <p:nvPr>
            <p:ph type="title"/>
          </p:nvPr>
        </p:nvSpPr>
        <p:spPr>
          <a:xfrm>
            <a:off x="685800" y="1583084"/>
            <a:ext cx="5979367" cy="77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Barlow Black"/>
              <a:buNone/>
              <a:defRPr sz="54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57"/>
          <p:cNvSpPr txBox="1">
            <a:spLocks noGrp="1"/>
          </p:cNvSpPr>
          <p:nvPr>
            <p:ph type="body" idx="1"/>
          </p:nvPr>
        </p:nvSpPr>
        <p:spPr>
          <a:xfrm>
            <a:off x="685801" y="2800785"/>
            <a:ext cx="5410200" cy="2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Did you know (Left)">
  <p:cSld name="3. Content: Did you know (Left)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5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-4207" t="-1985" r="-5876" b="-5359"/>
          <a:stretch/>
        </p:blipFill>
        <p:spPr>
          <a:xfrm>
            <a:off x="173314" y="1168069"/>
            <a:ext cx="5252273" cy="512160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8"/>
          <p:cNvSpPr>
            <a:spLocks noGrp="1"/>
          </p:cNvSpPr>
          <p:nvPr>
            <p:ph type="pic" idx="2"/>
          </p:nvPr>
        </p:nvSpPr>
        <p:spPr>
          <a:xfrm>
            <a:off x="389214" y="1308100"/>
            <a:ext cx="4740964" cy="473075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58"/>
          <p:cNvSpPr txBox="1">
            <a:spLocks noGrp="1"/>
          </p:cNvSpPr>
          <p:nvPr>
            <p:ph type="body" idx="1"/>
          </p:nvPr>
        </p:nvSpPr>
        <p:spPr>
          <a:xfrm>
            <a:off x="5789871" y="2800785"/>
            <a:ext cx="5410200" cy="2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58"/>
          <p:cNvSpPr txBox="1">
            <a:spLocks noGrp="1"/>
          </p:cNvSpPr>
          <p:nvPr>
            <p:ph type="title"/>
          </p:nvPr>
        </p:nvSpPr>
        <p:spPr>
          <a:xfrm>
            <a:off x="5789871" y="1583084"/>
            <a:ext cx="5979367" cy="77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Barlow Black"/>
              <a:buNone/>
              <a:defRPr sz="54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nt: icon + bullets">
  <p:cSld name="1_3. Content: icon + bullet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9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2" name="Google Shape;112;p59"/>
          <p:cNvSpPr txBox="1">
            <a:spLocks noGrp="1"/>
          </p:cNvSpPr>
          <p:nvPr>
            <p:ph type="body" idx="1"/>
          </p:nvPr>
        </p:nvSpPr>
        <p:spPr>
          <a:xfrm>
            <a:off x="838199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59"/>
          <p:cNvSpPr>
            <a:spLocks noGrp="1"/>
          </p:cNvSpPr>
          <p:nvPr>
            <p:ph type="pic" idx="2"/>
          </p:nvPr>
        </p:nvSpPr>
        <p:spPr>
          <a:xfrm>
            <a:off x="931773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59"/>
          <p:cNvSpPr txBox="1">
            <a:spLocks noGrp="1"/>
          </p:cNvSpPr>
          <p:nvPr>
            <p:ph type="body" idx="3"/>
          </p:nvPr>
        </p:nvSpPr>
        <p:spPr>
          <a:xfrm>
            <a:off x="3366246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59"/>
          <p:cNvSpPr>
            <a:spLocks noGrp="1"/>
          </p:cNvSpPr>
          <p:nvPr>
            <p:ph type="pic" idx="4"/>
          </p:nvPr>
        </p:nvSpPr>
        <p:spPr>
          <a:xfrm>
            <a:off x="3459820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59"/>
          <p:cNvSpPr txBox="1">
            <a:spLocks noGrp="1"/>
          </p:cNvSpPr>
          <p:nvPr>
            <p:ph type="body" idx="5"/>
          </p:nvPr>
        </p:nvSpPr>
        <p:spPr>
          <a:xfrm>
            <a:off x="5974975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59"/>
          <p:cNvSpPr>
            <a:spLocks noGrp="1"/>
          </p:cNvSpPr>
          <p:nvPr>
            <p:ph type="pic" idx="6"/>
          </p:nvPr>
        </p:nvSpPr>
        <p:spPr>
          <a:xfrm>
            <a:off x="6068549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59"/>
          <p:cNvSpPr txBox="1">
            <a:spLocks noGrp="1"/>
          </p:cNvSpPr>
          <p:nvPr>
            <p:ph type="body" idx="7"/>
          </p:nvPr>
        </p:nvSpPr>
        <p:spPr>
          <a:xfrm>
            <a:off x="8677278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59"/>
          <p:cNvSpPr>
            <a:spLocks noGrp="1"/>
          </p:cNvSpPr>
          <p:nvPr>
            <p:ph type="pic" idx="8"/>
          </p:nvPr>
        </p:nvSpPr>
        <p:spPr>
          <a:xfrm>
            <a:off x="8770852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pic>
        <p:nvPicPr>
          <p:cNvPr id="120" name="Google Shape;120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9"/>
          <p:cNvSpPr txBox="1">
            <a:spLocks noGrp="1"/>
          </p:cNvSpPr>
          <p:nvPr>
            <p:ph type="body" idx="9"/>
          </p:nvPr>
        </p:nvSpPr>
        <p:spPr>
          <a:xfrm>
            <a:off x="850900" y="1787314"/>
            <a:ext cx="10147300" cy="65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59"/>
          <p:cNvSpPr txBox="1"/>
          <p:nvPr/>
        </p:nvSpPr>
        <p:spPr>
          <a:xfrm>
            <a:off x="3049929" y="2970228"/>
            <a:ext cx="609985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6115A6"/>
                </a:solidFill>
                <a:latin typeface="Calibri"/>
                <a:ea typeface="Calibri"/>
                <a:cs typeface="Calibri"/>
                <a:sym typeface="Calibri"/>
              </a:rPr>
              <a:t>We are the champion of Accounts Payable. A personable technology partner with a direct approach. Innovative with a lively presence.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nt: icon + bullets">
  <p:cSld name="1_3. Content: icon + bullet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9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2" name="Google Shape;112;p59"/>
          <p:cNvSpPr txBox="1">
            <a:spLocks noGrp="1"/>
          </p:cNvSpPr>
          <p:nvPr>
            <p:ph type="body" idx="1"/>
          </p:nvPr>
        </p:nvSpPr>
        <p:spPr>
          <a:xfrm>
            <a:off x="838199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59"/>
          <p:cNvSpPr>
            <a:spLocks noGrp="1"/>
          </p:cNvSpPr>
          <p:nvPr>
            <p:ph type="pic" idx="2"/>
          </p:nvPr>
        </p:nvSpPr>
        <p:spPr>
          <a:xfrm>
            <a:off x="931773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59"/>
          <p:cNvSpPr txBox="1">
            <a:spLocks noGrp="1"/>
          </p:cNvSpPr>
          <p:nvPr>
            <p:ph type="body" idx="3"/>
          </p:nvPr>
        </p:nvSpPr>
        <p:spPr>
          <a:xfrm>
            <a:off x="3366246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59"/>
          <p:cNvSpPr>
            <a:spLocks noGrp="1"/>
          </p:cNvSpPr>
          <p:nvPr>
            <p:ph type="pic" idx="4"/>
          </p:nvPr>
        </p:nvSpPr>
        <p:spPr>
          <a:xfrm>
            <a:off x="3459820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59"/>
          <p:cNvSpPr txBox="1">
            <a:spLocks noGrp="1"/>
          </p:cNvSpPr>
          <p:nvPr>
            <p:ph type="body" idx="5"/>
          </p:nvPr>
        </p:nvSpPr>
        <p:spPr>
          <a:xfrm>
            <a:off x="5974975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59"/>
          <p:cNvSpPr>
            <a:spLocks noGrp="1"/>
          </p:cNvSpPr>
          <p:nvPr>
            <p:ph type="pic" idx="6"/>
          </p:nvPr>
        </p:nvSpPr>
        <p:spPr>
          <a:xfrm>
            <a:off x="6068549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59"/>
          <p:cNvSpPr txBox="1">
            <a:spLocks noGrp="1"/>
          </p:cNvSpPr>
          <p:nvPr>
            <p:ph type="body" idx="7"/>
          </p:nvPr>
        </p:nvSpPr>
        <p:spPr>
          <a:xfrm>
            <a:off x="8677278" y="4669609"/>
            <a:ext cx="1778001" cy="18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59"/>
          <p:cNvSpPr>
            <a:spLocks noGrp="1"/>
          </p:cNvSpPr>
          <p:nvPr>
            <p:ph type="pic" idx="8"/>
          </p:nvPr>
        </p:nvSpPr>
        <p:spPr>
          <a:xfrm>
            <a:off x="8770852" y="2796988"/>
            <a:ext cx="1609166" cy="1521012"/>
          </a:xfrm>
          <a:prstGeom prst="rect">
            <a:avLst/>
          </a:prstGeom>
          <a:noFill/>
          <a:ln>
            <a:noFill/>
          </a:ln>
        </p:spPr>
      </p:sp>
      <p:pic>
        <p:nvPicPr>
          <p:cNvPr id="120" name="Google Shape;120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9"/>
          <p:cNvSpPr txBox="1">
            <a:spLocks noGrp="1"/>
          </p:cNvSpPr>
          <p:nvPr>
            <p:ph type="body" idx="9"/>
          </p:nvPr>
        </p:nvSpPr>
        <p:spPr>
          <a:xfrm>
            <a:off x="850900" y="1787314"/>
            <a:ext cx="10147300" cy="65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59"/>
          <p:cNvSpPr txBox="1"/>
          <p:nvPr/>
        </p:nvSpPr>
        <p:spPr>
          <a:xfrm>
            <a:off x="3049929" y="2970228"/>
            <a:ext cx="609985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6115A6"/>
                </a:solidFill>
                <a:latin typeface="Calibri"/>
                <a:ea typeface="Calibri"/>
                <a:cs typeface="Calibri"/>
                <a:sym typeface="Calibri"/>
              </a:rPr>
              <a:t>We are the champion of Accounts Payable. A personable technology partner with a direct approach. Innovative with a lively presence.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Text + image">
  <p:cSld name="3. Content: Text + imag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1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8" name="Google Shape;128;p61"/>
          <p:cNvSpPr txBox="1">
            <a:spLocks noGrp="1"/>
          </p:cNvSpPr>
          <p:nvPr>
            <p:ph type="body" idx="1"/>
          </p:nvPr>
        </p:nvSpPr>
        <p:spPr>
          <a:xfrm>
            <a:off x="850900" y="1787314"/>
            <a:ext cx="10147300" cy="444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61"/>
          <p:cNvSpPr>
            <a:spLocks noGrp="1"/>
          </p:cNvSpPr>
          <p:nvPr>
            <p:ph type="pic" idx="2"/>
          </p:nvPr>
        </p:nvSpPr>
        <p:spPr>
          <a:xfrm>
            <a:off x="7277100" y="1308100"/>
            <a:ext cx="4740964" cy="47307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3. Content: Text + image + circle">
  <p:cSld name="2_3. Content: Text + image + circle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62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-4207" t="-1985" r="-5876" b="-5359"/>
          <a:stretch/>
        </p:blipFill>
        <p:spPr>
          <a:xfrm>
            <a:off x="7061200" y="1168069"/>
            <a:ext cx="5252273" cy="5121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2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4" name="Google Shape;134;p62"/>
          <p:cNvSpPr txBox="1">
            <a:spLocks noGrp="1"/>
          </p:cNvSpPr>
          <p:nvPr>
            <p:ph type="body" idx="1"/>
          </p:nvPr>
        </p:nvSpPr>
        <p:spPr>
          <a:xfrm>
            <a:off x="850900" y="1787314"/>
            <a:ext cx="10147300" cy="444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5" name="Google Shape;135;p62"/>
          <p:cNvSpPr>
            <a:spLocks noGrp="1"/>
          </p:cNvSpPr>
          <p:nvPr>
            <p:ph type="pic" idx="2"/>
          </p:nvPr>
        </p:nvSpPr>
        <p:spPr>
          <a:xfrm>
            <a:off x="7277100" y="1308100"/>
            <a:ext cx="4740964" cy="47307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Text + circle">
  <p:cSld name="3. Content: Text + circle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6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r="24492" b="28636"/>
          <a:stretch/>
        </p:blipFill>
        <p:spPr>
          <a:xfrm>
            <a:off x="6886937" y="1844140"/>
            <a:ext cx="5305063" cy="50138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3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39" name="Google Shape;139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3"/>
          <p:cNvSpPr txBox="1">
            <a:spLocks noGrp="1"/>
          </p:cNvSpPr>
          <p:nvPr>
            <p:ph type="body" idx="1"/>
          </p:nvPr>
        </p:nvSpPr>
        <p:spPr>
          <a:xfrm>
            <a:off x="850900" y="1787314"/>
            <a:ext cx="10147300" cy="444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Product template">
  <p:cSld name="3. Content: Product template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4"/>
          <p:cNvSpPr txBox="1">
            <a:spLocks noGrp="1"/>
          </p:cNvSpPr>
          <p:nvPr>
            <p:ph type="title"/>
          </p:nvPr>
        </p:nvSpPr>
        <p:spPr>
          <a:xfrm>
            <a:off x="1870166" y="635000"/>
            <a:ext cx="9836281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4" name="Google Shape;144;p64"/>
          <p:cNvSpPr>
            <a:spLocks noGrp="1"/>
          </p:cNvSpPr>
          <p:nvPr>
            <p:ph type="pic" idx="2"/>
          </p:nvPr>
        </p:nvSpPr>
        <p:spPr>
          <a:xfrm>
            <a:off x="5970588" y="2466975"/>
            <a:ext cx="5324475" cy="3195638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64"/>
          <p:cNvSpPr txBox="1">
            <a:spLocks noGrp="1"/>
          </p:cNvSpPr>
          <p:nvPr>
            <p:ph type="body" idx="1"/>
          </p:nvPr>
        </p:nvSpPr>
        <p:spPr>
          <a:xfrm>
            <a:off x="850899" y="1734517"/>
            <a:ext cx="9250031" cy="414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6" name="Google Shape;146;p64"/>
          <p:cNvSpPr txBox="1">
            <a:spLocks noGrp="1"/>
          </p:cNvSpPr>
          <p:nvPr>
            <p:ph type="body" idx="3"/>
          </p:nvPr>
        </p:nvSpPr>
        <p:spPr>
          <a:xfrm>
            <a:off x="7261241" y="3955312"/>
            <a:ext cx="2546429" cy="47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7" name="Google Shape;147;p64"/>
          <p:cNvSpPr>
            <a:spLocks noGrp="1"/>
          </p:cNvSpPr>
          <p:nvPr>
            <p:ph type="pic" idx="4"/>
          </p:nvPr>
        </p:nvSpPr>
        <p:spPr>
          <a:xfrm>
            <a:off x="838200" y="646040"/>
            <a:ext cx="923925" cy="911693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64"/>
          <p:cNvSpPr txBox="1">
            <a:spLocks noGrp="1"/>
          </p:cNvSpPr>
          <p:nvPr>
            <p:ph type="body" idx="5"/>
          </p:nvPr>
        </p:nvSpPr>
        <p:spPr>
          <a:xfrm>
            <a:off x="850900" y="2478178"/>
            <a:ext cx="4922948" cy="318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Large quote + headshot">
  <p:cSld name="3. Content: Large quote + headsho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65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5"/>
          <p:cNvSpPr txBox="1">
            <a:spLocks noGrp="1"/>
          </p:cNvSpPr>
          <p:nvPr>
            <p:ph type="title"/>
          </p:nvPr>
        </p:nvSpPr>
        <p:spPr>
          <a:xfrm>
            <a:off x="838200" y="1797845"/>
            <a:ext cx="9555480" cy="312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2398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D92398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52" name="Google Shape;152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5"/>
          <p:cNvSpPr>
            <a:spLocks noGrp="1"/>
          </p:cNvSpPr>
          <p:nvPr>
            <p:ph type="pic" idx="2"/>
          </p:nvPr>
        </p:nvSpPr>
        <p:spPr>
          <a:xfrm>
            <a:off x="838199" y="5057365"/>
            <a:ext cx="1224995" cy="1207495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4" name="Google Shape;154;p65"/>
          <p:cNvSpPr txBox="1">
            <a:spLocks noGrp="1"/>
          </p:cNvSpPr>
          <p:nvPr>
            <p:ph type="body" idx="1"/>
          </p:nvPr>
        </p:nvSpPr>
        <p:spPr>
          <a:xfrm>
            <a:off x="2283734" y="5300965"/>
            <a:ext cx="3229242" cy="99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55" name="Google Shape;155;p65"/>
          <p:cNvGrpSpPr/>
          <p:nvPr/>
        </p:nvGrpSpPr>
        <p:grpSpPr>
          <a:xfrm>
            <a:off x="8339977" y="306241"/>
            <a:ext cx="3555437" cy="712936"/>
            <a:chOff x="5597658" y="1291355"/>
            <a:chExt cx="4925540" cy="987669"/>
          </a:xfrm>
        </p:grpSpPr>
        <p:pic>
          <p:nvPicPr>
            <p:cNvPr id="156" name="Google Shape;156;p65" descr="A picture containing text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976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65" descr="A picture containing text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44745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65" descr="A picture containing text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2774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65" descr="A picture containing text, businesscard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27252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65" descr="Text&#10;&#10;Description automatically generated with low confidence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92158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65" descr="Text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771375" y="1302630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65"/>
          <p:cNvSpPr txBox="1">
            <a:spLocks noGrp="1"/>
          </p:cNvSpPr>
          <p:nvPr>
            <p:ph type="body" idx="3"/>
          </p:nvPr>
        </p:nvSpPr>
        <p:spPr>
          <a:xfrm>
            <a:off x="841821" y="682470"/>
            <a:ext cx="6717928" cy="553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nt: Large quote + no headshot">
  <p:cSld name="1_3. Content: Large quote + no headsho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66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6"/>
          <p:cNvSpPr txBox="1">
            <a:spLocks noGrp="1"/>
          </p:cNvSpPr>
          <p:nvPr>
            <p:ph type="title"/>
          </p:nvPr>
        </p:nvSpPr>
        <p:spPr>
          <a:xfrm>
            <a:off x="838200" y="1797844"/>
            <a:ext cx="9555480" cy="347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2398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D92398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66" name="Google Shape;166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6"/>
          <p:cNvSpPr txBox="1">
            <a:spLocks noGrp="1"/>
          </p:cNvSpPr>
          <p:nvPr>
            <p:ph type="body" idx="1"/>
          </p:nvPr>
        </p:nvSpPr>
        <p:spPr>
          <a:xfrm>
            <a:off x="838200" y="5300965"/>
            <a:ext cx="3229242" cy="99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68" name="Google Shape;168;p66"/>
          <p:cNvGrpSpPr/>
          <p:nvPr/>
        </p:nvGrpSpPr>
        <p:grpSpPr>
          <a:xfrm>
            <a:off x="8339977" y="306241"/>
            <a:ext cx="3555437" cy="712936"/>
            <a:chOff x="5597658" y="1291355"/>
            <a:chExt cx="4925540" cy="987669"/>
          </a:xfrm>
        </p:grpSpPr>
        <p:pic>
          <p:nvPicPr>
            <p:cNvPr id="169" name="Google Shape;169;p66" descr="A picture containing text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976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66" descr="A picture containing text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44745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66" descr="A picture containing text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2774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66" descr="A picture containing text, businesscard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27252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66" descr="Text&#10;&#10;Description automatically generated with low confidence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92158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66" descr="Text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771375" y="1302630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" name="Google Shape;175;p66"/>
          <p:cNvSpPr txBox="1">
            <a:spLocks noGrp="1"/>
          </p:cNvSpPr>
          <p:nvPr>
            <p:ph type="body" idx="2"/>
          </p:nvPr>
        </p:nvSpPr>
        <p:spPr>
          <a:xfrm>
            <a:off x="841821" y="682470"/>
            <a:ext cx="6717928" cy="553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2 x Quotes">
  <p:cSld name="3. Content: 2 x Quotes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7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4454236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000"/>
              <a:buFont typeface="Barlow Black"/>
              <a:buNone/>
              <a:defRPr sz="40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78" name="Google Shape;178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7"/>
          <p:cNvSpPr txBox="1">
            <a:spLocks noGrp="1"/>
          </p:cNvSpPr>
          <p:nvPr>
            <p:ph type="body" idx="1"/>
          </p:nvPr>
        </p:nvSpPr>
        <p:spPr>
          <a:xfrm>
            <a:off x="838201" y="2126889"/>
            <a:ext cx="4454236" cy="287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0" name="Google Shape;180;p67"/>
          <p:cNvSpPr txBox="1">
            <a:spLocks noGrp="1"/>
          </p:cNvSpPr>
          <p:nvPr>
            <p:ph type="body" idx="2"/>
          </p:nvPr>
        </p:nvSpPr>
        <p:spPr>
          <a:xfrm>
            <a:off x="6823364" y="2126889"/>
            <a:ext cx="4454236" cy="287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81" name="Google Shape;181;p67"/>
          <p:cNvGrpSpPr/>
          <p:nvPr/>
        </p:nvGrpSpPr>
        <p:grpSpPr>
          <a:xfrm>
            <a:off x="8339977" y="306241"/>
            <a:ext cx="3555437" cy="712936"/>
            <a:chOff x="5597658" y="1291355"/>
            <a:chExt cx="4925540" cy="987669"/>
          </a:xfrm>
        </p:grpSpPr>
        <p:pic>
          <p:nvPicPr>
            <p:cNvPr id="182" name="Google Shape;182;p67" descr="A picture containing text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976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67" descr="A picture containing text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4745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67" descr="A picture containing text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2774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67" descr="A picture containing text, businesscard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27252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67" descr="Text&#10;&#10;Description automatically generated with low confidence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92158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67" descr="Text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771375" y="1302630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8" name="Google Shape;188;p67"/>
          <p:cNvSpPr>
            <a:spLocks noGrp="1"/>
          </p:cNvSpPr>
          <p:nvPr>
            <p:ph type="pic" idx="3"/>
          </p:nvPr>
        </p:nvSpPr>
        <p:spPr>
          <a:xfrm>
            <a:off x="838199" y="5057365"/>
            <a:ext cx="1224995" cy="1207495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9" name="Google Shape;189;p67"/>
          <p:cNvSpPr txBox="1">
            <a:spLocks noGrp="1"/>
          </p:cNvSpPr>
          <p:nvPr>
            <p:ph type="body" idx="4"/>
          </p:nvPr>
        </p:nvSpPr>
        <p:spPr>
          <a:xfrm>
            <a:off x="2283734" y="5300965"/>
            <a:ext cx="3229242" cy="99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0" name="Google Shape;190;p67"/>
          <p:cNvSpPr>
            <a:spLocks noGrp="1"/>
          </p:cNvSpPr>
          <p:nvPr>
            <p:ph type="pic" idx="5"/>
          </p:nvPr>
        </p:nvSpPr>
        <p:spPr>
          <a:xfrm>
            <a:off x="6802900" y="5057365"/>
            <a:ext cx="1224995" cy="1207495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1" name="Google Shape;191;p67"/>
          <p:cNvSpPr txBox="1">
            <a:spLocks noGrp="1"/>
          </p:cNvSpPr>
          <p:nvPr>
            <p:ph type="body" idx="6"/>
          </p:nvPr>
        </p:nvSpPr>
        <p:spPr>
          <a:xfrm>
            <a:off x="8248435" y="5300965"/>
            <a:ext cx="3229242" cy="99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9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2 x Quotes split">
  <p:cSld name="3. Content: 2 x Quotes spli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6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5000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8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4454236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000"/>
              <a:buFont typeface="Barlow Black"/>
              <a:buNone/>
              <a:defRPr sz="40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5" name="Google Shape;195;p68"/>
          <p:cNvSpPr txBox="1">
            <a:spLocks noGrp="1"/>
          </p:cNvSpPr>
          <p:nvPr>
            <p:ph type="body" idx="1"/>
          </p:nvPr>
        </p:nvSpPr>
        <p:spPr>
          <a:xfrm>
            <a:off x="838201" y="2126889"/>
            <a:ext cx="4454236" cy="287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6" name="Google Shape;196;p68"/>
          <p:cNvSpPr txBox="1">
            <a:spLocks noGrp="1"/>
          </p:cNvSpPr>
          <p:nvPr>
            <p:ph type="body" idx="2"/>
          </p:nvPr>
        </p:nvSpPr>
        <p:spPr>
          <a:xfrm>
            <a:off x="6823364" y="2126889"/>
            <a:ext cx="4454236" cy="287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97" name="Google Shape;197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8"/>
          <p:cNvSpPr>
            <a:spLocks noGrp="1"/>
          </p:cNvSpPr>
          <p:nvPr>
            <p:ph type="pic" idx="3"/>
          </p:nvPr>
        </p:nvSpPr>
        <p:spPr>
          <a:xfrm>
            <a:off x="838199" y="5057365"/>
            <a:ext cx="1224995" cy="1207495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9" name="Google Shape;199;p68"/>
          <p:cNvSpPr txBox="1">
            <a:spLocks noGrp="1"/>
          </p:cNvSpPr>
          <p:nvPr>
            <p:ph type="body" idx="4"/>
          </p:nvPr>
        </p:nvSpPr>
        <p:spPr>
          <a:xfrm>
            <a:off x="2283734" y="5300965"/>
            <a:ext cx="3229242" cy="99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0" name="Google Shape;200;p68"/>
          <p:cNvSpPr>
            <a:spLocks noGrp="1"/>
          </p:cNvSpPr>
          <p:nvPr>
            <p:ph type="pic" idx="5"/>
          </p:nvPr>
        </p:nvSpPr>
        <p:spPr>
          <a:xfrm>
            <a:off x="6802900" y="5057365"/>
            <a:ext cx="1224995" cy="1207495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" name="Google Shape;201;p68"/>
          <p:cNvSpPr txBox="1">
            <a:spLocks noGrp="1"/>
          </p:cNvSpPr>
          <p:nvPr>
            <p:ph type="body" idx="6"/>
          </p:nvPr>
        </p:nvSpPr>
        <p:spPr>
          <a:xfrm>
            <a:off x="8248435" y="5300965"/>
            <a:ext cx="3229242" cy="99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9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0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3 x Quotes">
  <p:cSld name="3. Content: 3 x Quotes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9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4454236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000"/>
              <a:buFont typeface="Barlow Black"/>
              <a:buNone/>
              <a:defRPr sz="40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04" name="Google Shape;204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9"/>
          <p:cNvSpPr txBox="1">
            <a:spLocks noGrp="1"/>
          </p:cNvSpPr>
          <p:nvPr>
            <p:ph type="body" idx="1"/>
          </p:nvPr>
        </p:nvSpPr>
        <p:spPr>
          <a:xfrm>
            <a:off x="838201" y="2126889"/>
            <a:ext cx="3175860" cy="3143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06" name="Google Shape;206;p69"/>
          <p:cNvGrpSpPr/>
          <p:nvPr/>
        </p:nvGrpSpPr>
        <p:grpSpPr>
          <a:xfrm>
            <a:off x="8339977" y="306241"/>
            <a:ext cx="3555437" cy="712936"/>
            <a:chOff x="5597658" y="1291355"/>
            <a:chExt cx="4925540" cy="987669"/>
          </a:xfrm>
        </p:grpSpPr>
        <p:pic>
          <p:nvPicPr>
            <p:cNvPr id="207" name="Google Shape;207;p69" descr="A picture containing text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976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69" descr="A picture containing text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4745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69" descr="A picture containing text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2774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69" descr="A picture containing text, businesscard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27252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69" descr="Text&#10;&#10;Description automatically generated with low confidence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92158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69" descr="Text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771375" y="1302630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69"/>
          <p:cNvSpPr txBox="1">
            <a:spLocks noGrp="1"/>
          </p:cNvSpPr>
          <p:nvPr>
            <p:ph type="body" idx="2"/>
          </p:nvPr>
        </p:nvSpPr>
        <p:spPr>
          <a:xfrm>
            <a:off x="8323883" y="2126889"/>
            <a:ext cx="3175860" cy="3143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4" name="Google Shape;214;p69"/>
          <p:cNvSpPr txBox="1">
            <a:spLocks noGrp="1"/>
          </p:cNvSpPr>
          <p:nvPr>
            <p:ph type="body" idx="3"/>
          </p:nvPr>
        </p:nvSpPr>
        <p:spPr>
          <a:xfrm>
            <a:off x="4604290" y="2126889"/>
            <a:ext cx="3175860" cy="3143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5" name="Google Shape;215;p69"/>
          <p:cNvSpPr>
            <a:spLocks noGrp="1"/>
          </p:cNvSpPr>
          <p:nvPr>
            <p:ph type="pic" idx="4"/>
          </p:nvPr>
        </p:nvSpPr>
        <p:spPr>
          <a:xfrm>
            <a:off x="838199" y="5371611"/>
            <a:ext cx="906195" cy="893249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6" name="Google Shape;216;p69"/>
          <p:cNvSpPr txBox="1">
            <a:spLocks noGrp="1"/>
          </p:cNvSpPr>
          <p:nvPr>
            <p:ph type="body" idx="5"/>
          </p:nvPr>
        </p:nvSpPr>
        <p:spPr>
          <a:xfrm>
            <a:off x="1903293" y="5402413"/>
            <a:ext cx="2110768" cy="89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7" name="Google Shape;217;p69"/>
          <p:cNvSpPr>
            <a:spLocks noGrp="1"/>
          </p:cNvSpPr>
          <p:nvPr>
            <p:ph type="pic" idx="6"/>
          </p:nvPr>
        </p:nvSpPr>
        <p:spPr>
          <a:xfrm>
            <a:off x="4580205" y="5371611"/>
            <a:ext cx="906195" cy="893249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8" name="Google Shape;218;p69"/>
          <p:cNvSpPr txBox="1">
            <a:spLocks noGrp="1"/>
          </p:cNvSpPr>
          <p:nvPr>
            <p:ph type="body" idx="7"/>
          </p:nvPr>
        </p:nvSpPr>
        <p:spPr>
          <a:xfrm>
            <a:off x="5645299" y="5402413"/>
            <a:ext cx="2110768" cy="89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9" name="Google Shape;219;p69"/>
          <p:cNvSpPr>
            <a:spLocks noGrp="1"/>
          </p:cNvSpPr>
          <p:nvPr>
            <p:ph type="pic" idx="8"/>
          </p:nvPr>
        </p:nvSpPr>
        <p:spPr>
          <a:xfrm>
            <a:off x="8322211" y="5402413"/>
            <a:ext cx="906195" cy="893249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20" name="Google Shape;220;p69"/>
          <p:cNvSpPr txBox="1">
            <a:spLocks noGrp="1"/>
          </p:cNvSpPr>
          <p:nvPr>
            <p:ph type="body" idx="9"/>
          </p:nvPr>
        </p:nvSpPr>
        <p:spPr>
          <a:xfrm>
            <a:off x="9387305" y="5433215"/>
            <a:ext cx="2110768" cy="89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1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1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1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22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3 x Boxed bullets + icons">
  <p:cSld name="3. Content: 3 x Boxed bullets + icons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0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659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3" name="Google Shape;223;p70"/>
          <p:cNvSpPr/>
          <p:nvPr/>
        </p:nvSpPr>
        <p:spPr>
          <a:xfrm>
            <a:off x="879435" y="1491175"/>
            <a:ext cx="3354940" cy="4635306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6115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0"/>
          <p:cNvSpPr>
            <a:spLocks noGrp="1"/>
          </p:cNvSpPr>
          <p:nvPr>
            <p:ph type="pic" idx="2"/>
          </p:nvPr>
        </p:nvSpPr>
        <p:spPr>
          <a:xfrm>
            <a:off x="3185960" y="1658983"/>
            <a:ext cx="851711" cy="805084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70"/>
          <p:cNvSpPr txBox="1">
            <a:spLocks noGrp="1"/>
          </p:cNvSpPr>
          <p:nvPr>
            <p:ph type="body" idx="1"/>
          </p:nvPr>
        </p:nvSpPr>
        <p:spPr>
          <a:xfrm>
            <a:off x="1030847" y="2158781"/>
            <a:ext cx="2997200" cy="65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50FB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E450FB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70"/>
          <p:cNvSpPr txBox="1">
            <a:spLocks noGrp="1"/>
          </p:cNvSpPr>
          <p:nvPr>
            <p:ph type="body" idx="3"/>
          </p:nvPr>
        </p:nvSpPr>
        <p:spPr>
          <a:xfrm>
            <a:off x="1040473" y="3854548"/>
            <a:ext cx="2997200" cy="218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Char char="✔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7" name="Google Shape;227;p70"/>
          <p:cNvSpPr txBox="1">
            <a:spLocks noGrp="1"/>
          </p:cNvSpPr>
          <p:nvPr>
            <p:ph type="body" idx="4"/>
          </p:nvPr>
        </p:nvSpPr>
        <p:spPr>
          <a:xfrm>
            <a:off x="1040472" y="3067711"/>
            <a:ext cx="2997200" cy="42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28" name="Google Shape;22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0"/>
          <p:cNvSpPr/>
          <p:nvPr/>
        </p:nvSpPr>
        <p:spPr>
          <a:xfrm>
            <a:off x="4638630" y="1491175"/>
            <a:ext cx="3354940" cy="4635306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6115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0"/>
          <p:cNvSpPr>
            <a:spLocks noGrp="1"/>
          </p:cNvSpPr>
          <p:nvPr>
            <p:ph type="pic" idx="5"/>
          </p:nvPr>
        </p:nvSpPr>
        <p:spPr>
          <a:xfrm>
            <a:off x="6945155" y="1658983"/>
            <a:ext cx="851711" cy="805084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70"/>
          <p:cNvSpPr txBox="1">
            <a:spLocks noGrp="1"/>
          </p:cNvSpPr>
          <p:nvPr>
            <p:ph type="body" idx="6"/>
          </p:nvPr>
        </p:nvSpPr>
        <p:spPr>
          <a:xfrm>
            <a:off x="4790042" y="2158781"/>
            <a:ext cx="2997200" cy="65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50FB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E450FB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2" name="Google Shape;232;p70"/>
          <p:cNvSpPr txBox="1">
            <a:spLocks noGrp="1"/>
          </p:cNvSpPr>
          <p:nvPr>
            <p:ph type="body" idx="7"/>
          </p:nvPr>
        </p:nvSpPr>
        <p:spPr>
          <a:xfrm>
            <a:off x="4799668" y="3854548"/>
            <a:ext cx="2997200" cy="218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Char char="✔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3" name="Google Shape;233;p70"/>
          <p:cNvSpPr txBox="1">
            <a:spLocks noGrp="1"/>
          </p:cNvSpPr>
          <p:nvPr>
            <p:ph type="body" idx="8"/>
          </p:nvPr>
        </p:nvSpPr>
        <p:spPr>
          <a:xfrm>
            <a:off x="4799667" y="3067711"/>
            <a:ext cx="2997200" cy="42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4" name="Google Shape;234;p70"/>
          <p:cNvSpPr/>
          <p:nvPr/>
        </p:nvSpPr>
        <p:spPr>
          <a:xfrm>
            <a:off x="8380635" y="1491175"/>
            <a:ext cx="3354940" cy="4635306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6115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0"/>
          <p:cNvSpPr>
            <a:spLocks noGrp="1"/>
          </p:cNvSpPr>
          <p:nvPr>
            <p:ph type="pic" idx="9"/>
          </p:nvPr>
        </p:nvSpPr>
        <p:spPr>
          <a:xfrm>
            <a:off x="10687160" y="1658983"/>
            <a:ext cx="851711" cy="805084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70"/>
          <p:cNvSpPr txBox="1">
            <a:spLocks noGrp="1"/>
          </p:cNvSpPr>
          <p:nvPr>
            <p:ph type="body" idx="13"/>
          </p:nvPr>
        </p:nvSpPr>
        <p:spPr>
          <a:xfrm>
            <a:off x="8532047" y="2158781"/>
            <a:ext cx="2997200" cy="65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50FB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E450FB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7" name="Google Shape;237;p70"/>
          <p:cNvSpPr txBox="1">
            <a:spLocks noGrp="1"/>
          </p:cNvSpPr>
          <p:nvPr>
            <p:ph type="body" idx="14"/>
          </p:nvPr>
        </p:nvSpPr>
        <p:spPr>
          <a:xfrm>
            <a:off x="8541673" y="3854548"/>
            <a:ext cx="2997200" cy="218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Char char="✔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8" name="Google Shape;238;p70"/>
          <p:cNvSpPr txBox="1">
            <a:spLocks noGrp="1"/>
          </p:cNvSpPr>
          <p:nvPr>
            <p:ph type="body" idx="15"/>
          </p:nvPr>
        </p:nvSpPr>
        <p:spPr>
          <a:xfrm>
            <a:off x="8541672" y="3067711"/>
            <a:ext cx="2997200" cy="42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3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3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2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2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2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Case study">
  <p:cSld name="3. Content: Case study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1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7447671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1" name="Google Shape;241;p71"/>
          <p:cNvSpPr txBox="1"/>
          <p:nvPr/>
        </p:nvSpPr>
        <p:spPr>
          <a:xfrm>
            <a:off x="838200" y="1832793"/>
            <a:ext cx="98972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6115A6"/>
                </a:solidFill>
                <a:latin typeface="Barlow Black"/>
                <a:ea typeface="Barlow Black"/>
                <a:cs typeface="Barlow Black"/>
                <a:sym typeface="Barlow Black"/>
              </a:rPr>
              <a:t>RESULT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42" name="Google Shape;242;p71"/>
          <p:cNvSpPr/>
          <p:nvPr/>
        </p:nvSpPr>
        <p:spPr>
          <a:xfrm>
            <a:off x="978877" y="2173221"/>
            <a:ext cx="708369" cy="708369"/>
          </a:xfrm>
          <a:prstGeom prst="ellipse">
            <a:avLst/>
          </a:prstGeom>
          <a:gradFill>
            <a:gsLst>
              <a:gs pos="0">
                <a:srgbClr val="6115A6"/>
              </a:gs>
              <a:gs pos="100000">
                <a:srgbClr val="03031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/>
          </a:p>
        </p:txBody>
      </p:sp>
      <p:sp>
        <p:nvSpPr>
          <p:cNvPr id="243" name="Google Shape;243;p71"/>
          <p:cNvSpPr txBox="1"/>
          <p:nvPr/>
        </p:nvSpPr>
        <p:spPr>
          <a:xfrm>
            <a:off x="838200" y="3500839"/>
            <a:ext cx="14820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rPr>
              <a:t>CHALLENGE: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44" name="Google Shape;244;p71"/>
          <p:cNvSpPr txBox="1"/>
          <p:nvPr/>
        </p:nvSpPr>
        <p:spPr>
          <a:xfrm>
            <a:off x="838201" y="5016508"/>
            <a:ext cx="234109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rPr>
              <a:t>SETTING THE SCENE: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45" name="Google Shape;245;p71"/>
          <p:cNvSpPr txBox="1"/>
          <p:nvPr/>
        </p:nvSpPr>
        <p:spPr>
          <a:xfrm>
            <a:off x="6137326" y="3500839"/>
            <a:ext cx="20319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rPr>
              <a:t>XELIX SOLUTION: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46" name="Google Shape;246;p71"/>
          <p:cNvSpPr txBox="1"/>
          <p:nvPr/>
        </p:nvSpPr>
        <p:spPr>
          <a:xfrm>
            <a:off x="6137327" y="5016508"/>
            <a:ext cx="234109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rPr>
              <a:t>XELIX DELIVERABLES: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47" name="Google Shape;247;p71"/>
          <p:cNvSpPr/>
          <p:nvPr/>
        </p:nvSpPr>
        <p:spPr>
          <a:xfrm>
            <a:off x="920746" y="-40320"/>
            <a:ext cx="1701811" cy="563563"/>
          </a:xfrm>
          <a:prstGeom prst="rect">
            <a:avLst/>
          </a:prstGeom>
          <a:gradFill>
            <a:gsLst>
              <a:gs pos="0">
                <a:srgbClr val="6115A6"/>
              </a:gs>
              <a:gs pos="100000">
                <a:srgbClr val="030312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CASE STUDY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248" name="Google Shape;248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71"/>
          <p:cNvSpPr>
            <a:spLocks noGrp="1"/>
          </p:cNvSpPr>
          <p:nvPr>
            <p:ph type="pic" idx="2"/>
          </p:nvPr>
        </p:nvSpPr>
        <p:spPr>
          <a:xfrm>
            <a:off x="9209351" y="620646"/>
            <a:ext cx="2534190" cy="641978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71"/>
          <p:cNvSpPr txBox="1">
            <a:spLocks noGrp="1"/>
          </p:cNvSpPr>
          <p:nvPr>
            <p:ph type="body" idx="1"/>
          </p:nvPr>
        </p:nvSpPr>
        <p:spPr>
          <a:xfrm>
            <a:off x="1940452" y="2171700"/>
            <a:ext cx="2111043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1" name="Google Shape;251;p71"/>
          <p:cNvSpPr txBox="1"/>
          <p:nvPr/>
        </p:nvSpPr>
        <p:spPr>
          <a:xfrm>
            <a:off x="8392550" y="1832793"/>
            <a:ext cx="98972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6115A6"/>
                </a:solidFill>
                <a:latin typeface="Barlow Black"/>
                <a:ea typeface="Barlow Black"/>
                <a:cs typeface="Barlow Black"/>
                <a:sym typeface="Barlow Black"/>
              </a:rPr>
              <a:t>RESULT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52" name="Google Shape;252;p71"/>
          <p:cNvSpPr/>
          <p:nvPr/>
        </p:nvSpPr>
        <p:spPr>
          <a:xfrm>
            <a:off x="8533227" y="2173221"/>
            <a:ext cx="708369" cy="708369"/>
          </a:xfrm>
          <a:prstGeom prst="ellipse">
            <a:avLst/>
          </a:prstGeom>
          <a:gradFill>
            <a:gsLst>
              <a:gs pos="0">
                <a:srgbClr val="6115A6"/>
              </a:gs>
              <a:gs pos="100000">
                <a:srgbClr val="03031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/>
          </a:p>
        </p:txBody>
      </p:sp>
      <p:sp>
        <p:nvSpPr>
          <p:cNvPr id="253" name="Google Shape;253;p71"/>
          <p:cNvSpPr txBox="1">
            <a:spLocks noGrp="1"/>
          </p:cNvSpPr>
          <p:nvPr>
            <p:ph type="body" idx="3"/>
          </p:nvPr>
        </p:nvSpPr>
        <p:spPr>
          <a:xfrm>
            <a:off x="9494802" y="2171700"/>
            <a:ext cx="2111043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4" name="Google Shape;254;p71"/>
          <p:cNvSpPr txBox="1"/>
          <p:nvPr/>
        </p:nvSpPr>
        <p:spPr>
          <a:xfrm>
            <a:off x="4552070" y="1832793"/>
            <a:ext cx="98972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6115A6"/>
                </a:solidFill>
                <a:latin typeface="Barlow Black"/>
                <a:ea typeface="Barlow Black"/>
                <a:cs typeface="Barlow Black"/>
                <a:sym typeface="Barlow Black"/>
              </a:rPr>
              <a:t>RESULT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55" name="Google Shape;255;p71"/>
          <p:cNvSpPr/>
          <p:nvPr/>
        </p:nvSpPr>
        <p:spPr>
          <a:xfrm>
            <a:off x="4692747" y="2173221"/>
            <a:ext cx="708369" cy="708369"/>
          </a:xfrm>
          <a:prstGeom prst="ellipse">
            <a:avLst/>
          </a:prstGeom>
          <a:gradFill>
            <a:gsLst>
              <a:gs pos="0">
                <a:srgbClr val="6115A6"/>
              </a:gs>
              <a:gs pos="100000">
                <a:srgbClr val="03031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/>
          </a:p>
        </p:txBody>
      </p:sp>
      <p:sp>
        <p:nvSpPr>
          <p:cNvPr id="256" name="Google Shape;256;p71"/>
          <p:cNvSpPr txBox="1">
            <a:spLocks noGrp="1"/>
          </p:cNvSpPr>
          <p:nvPr>
            <p:ph type="body" idx="4"/>
          </p:nvPr>
        </p:nvSpPr>
        <p:spPr>
          <a:xfrm>
            <a:off x="5654322" y="2171700"/>
            <a:ext cx="2111043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7" name="Google Shape;257;p71"/>
          <p:cNvSpPr txBox="1">
            <a:spLocks noGrp="1"/>
          </p:cNvSpPr>
          <p:nvPr>
            <p:ph type="body" idx="5"/>
          </p:nvPr>
        </p:nvSpPr>
        <p:spPr>
          <a:xfrm>
            <a:off x="920750" y="3948114"/>
            <a:ext cx="4733925" cy="87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8" name="Google Shape;258;p71"/>
          <p:cNvSpPr txBox="1">
            <a:spLocks noGrp="1"/>
          </p:cNvSpPr>
          <p:nvPr>
            <p:ph type="body" idx="6"/>
          </p:nvPr>
        </p:nvSpPr>
        <p:spPr>
          <a:xfrm>
            <a:off x="6210203" y="3948114"/>
            <a:ext cx="4733925" cy="87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9" name="Google Shape;259;p71"/>
          <p:cNvSpPr txBox="1">
            <a:spLocks noGrp="1"/>
          </p:cNvSpPr>
          <p:nvPr>
            <p:ph type="body" idx="7"/>
          </p:nvPr>
        </p:nvSpPr>
        <p:spPr>
          <a:xfrm>
            <a:off x="6210300" y="5396842"/>
            <a:ext cx="4733925" cy="90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0" name="Google Shape;260;p71"/>
          <p:cNvSpPr txBox="1">
            <a:spLocks noGrp="1"/>
          </p:cNvSpPr>
          <p:nvPr>
            <p:ph type="body" idx="8"/>
          </p:nvPr>
        </p:nvSpPr>
        <p:spPr>
          <a:xfrm>
            <a:off x="920749" y="5396842"/>
            <a:ext cx="4733925" cy="90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5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2 x Quotes">
  <p:cSld name="3. Content: 2 x Quotes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7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4454236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000"/>
              <a:buFont typeface="Barlow Black"/>
              <a:buNone/>
              <a:defRPr sz="40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78" name="Google Shape;178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7"/>
          <p:cNvSpPr txBox="1">
            <a:spLocks noGrp="1"/>
          </p:cNvSpPr>
          <p:nvPr>
            <p:ph type="body" idx="1"/>
          </p:nvPr>
        </p:nvSpPr>
        <p:spPr>
          <a:xfrm>
            <a:off x="838201" y="2126889"/>
            <a:ext cx="4454236" cy="287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0" name="Google Shape;180;p67"/>
          <p:cNvSpPr txBox="1">
            <a:spLocks noGrp="1"/>
          </p:cNvSpPr>
          <p:nvPr>
            <p:ph type="body" idx="2"/>
          </p:nvPr>
        </p:nvSpPr>
        <p:spPr>
          <a:xfrm>
            <a:off x="6823364" y="2126889"/>
            <a:ext cx="4454236" cy="287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81" name="Google Shape;181;p67"/>
          <p:cNvGrpSpPr/>
          <p:nvPr/>
        </p:nvGrpSpPr>
        <p:grpSpPr>
          <a:xfrm>
            <a:off x="8339977" y="306241"/>
            <a:ext cx="3555437" cy="712936"/>
            <a:chOff x="5597658" y="1291355"/>
            <a:chExt cx="4925540" cy="987669"/>
          </a:xfrm>
        </p:grpSpPr>
        <p:pic>
          <p:nvPicPr>
            <p:cNvPr id="182" name="Google Shape;182;p67" descr="A picture containing text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976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67" descr="A picture containing text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4745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67" descr="A picture containing text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2774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67" descr="A picture containing text, businesscard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27252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67" descr="Text&#10;&#10;Description automatically generated with low confidence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92158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67" descr="Text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771375" y="1302630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8" name="Google Shape;188;p67"/>
          <p:cNvSpPr>
            <a:spLocks noGrp="1"/>
          </p:cNvSpPr>
          <p:nvPr>
            <p:ph type="pic" idx="3"/>
          </p:nvPr>
        </p:nvSpPr>
        <p:spPr>
          <a:xfrm>
            <a:off x="838199" y="5057365"/>
            <a:ext cx="1224995" cy="1207495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9" name="Google Shape;189;p67"/>
          <p:cNvSpPr txBox="1">
            <a:spLocks noGrp="1"/>
          </p:cNvSpPr>
          <p:nvPr>
            <p:ph type="body" idx="4"/>
          </p:nvPr>
        </p:nvSpPr>
        <p:spPr>
          <a:xfrm>
            <a:off x="2283734" y="5300965"/>
            <a:ext cx="3229242" cy="99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0" name="Google Shape;190;p67"/>
          <p:cNvSpPr>
            <a:spLocks noGrp="1"/>
          </p:cNvSpPr>
          <p:nvPr>
            <p:ph type="pic" idx="5"/>
          </p:nvPr>
        </p:nvSpPr>
        <p:spPr>
          <a:xfrm>
            <a:off x="6802900" y="5057365"/>
            <a:ext cx="1224995" cy="1207495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1" name="Google Shape;191;p67"/>
          <p:cNvSpPr txBox="1">
            <a:spLocks noGrp="1"/>
          </p:cNvSpPr>
          <p:nvPr>
            <p:ph type="body" idx="6"/>
          </p:nvPr>
        </p:nvSpPr>
        <p:spPr>
          <a:xfrm>
            <a:off x="8248435" y="5300965"/>
            <a:ext cx="3229242" cy="99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2 x Quotes split">
  <p:cSld name="3. Content: 2 x Quotes spli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6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5000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8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4454236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000"/>
              <a:buFont typeface="Barlow Black"/>
              <a:buNone/>
              <a:defRPr sz="40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5" name="Google Shape;195;p68"/>
          <p:cNvSpPr txBox="1">
            <a:spLocks noGrp="1"/>
          </p:cNvSpPr>
          <p:nvPr>
            <p:ph type="body" idx="1"/>
          </p:nvPr>
        </p:nvSpPr>
        <p:spPr>
          <a:xfrm>
            <a:off x="838201" y="2126889"/>
            <a:ext cx="4454236" cy="287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6" name="Google Shape;196;p68"/>
          <p:cNvSpPr txBox="1">
            <a:spLocks noGrp="1"/>
          </p:cNvSpPr>
          <p:nvPr>
            <p:ph type="body" idx="2"/>
          </p:nvPr>
        </p:nvSpPr>
        <p:spPr>
          <a:xfrm>
            <a:off x="6823364" y="2126889"/>
            <a:ext cx="4454236" cy="287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97" name="Google Shape;197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8"/>
          <p:cNvSpPr>
            <a:spLocks noGrp="1"/>
          </p:cNvSpPr>
          <p:nvPr>
            <p:ph type="pic" idx="3"/>
          </p:nvPr>
        </p:nvSpPr>
        <p:spPr>
          <a:xfrm>
            <a:off x="838199" y="5057365"/>
            <a:ext cx="1224995" cy="1207495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9" name="Google Shape;199;p68"/>
          <p:cNvSpPr txBox="1">
            <a:spLocks noGrp="1"/>
          </p:cNvSpPr>
          <p:nvPr>
            <p:ph type="body" idx="4"/>
          </p:nvPr>
        </p:nvSpPr>
        <p:spPr>
          <a:xfrm>
            <a:off x="2283734" y="5300965"/>
            <a:ext cx="3229242" cy="99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0" name="Google Shape;200;p68"/>
          <p:cNvSpPr>
            <a:spLocks noGrp="1"/>
          </p:cNvSpPr>
          <p:nvPr>
            <p:ph type="pic" idx="5"/>
          </p:nvPr>
        </p:nvSpPr>
        <p:spPr>
          <a:xfrm>
            <a:off x="6802900" y="5057365"/>
            <a:ext cx="1224995" cy="1207495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" name="Google Shape;201;p68"/>
          <p:cNvSpPr txBox="1">
            <a:spLocks noGrp="1"/>
          </p:cNvSpPr>
          <p:nvPr>
            <p:ph type="body" idx="6"/>
          </p:nvPr>
        </p:nvSpPr>
        <p:spPr>
          <a:xfrm>
            <a:off x="8248435" y="5300965"/>
            <a:ext cx="3229242" cy="99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3 x Quotes">
  <p:cSld name="3. Content: 3 x Quotes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9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4454236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000"/>
              <a:buFont typeface="Barlow Black"/>
              <a:buNone/>
              <a:defRPr sz="40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04" name="Google Shape;204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9"/>
          <p:cNvSpPr txBox="1">
            <a:spLocks noGrp="1"/>
          </p:cNvSpPr>
          <p:nvPr>
            <p:ph type="body" idx="1"/>
          </p:nvPr>
        </p:nvSpPr>
        <p:spPr>
          <a:xfrm>
            <a:off x="838201" y="2126889"/>
            <a:ext cx="3175860" cy="3143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06" name="Google Shape;206;p69"/>
          <p:cNvGrpSpPr/>
          <p:nvPr/>
        </p:nvGrpSpPr>
        <p:grpSpPr>
          <a:xfrm>
            <a:off x="8339977" y="306241"/>
            <a:ext cx="3555437" cy="712936"/>
            <a:chOff x="5597658" y="1291355"/>
            <a:chExt cx="4925540" cy="987669"/>
          </a:xfrm>
        </p:grpSpPr>
        <p:pic>
          <p:nvPicPr>
            <p:cNvPr id="207" name="Google Shape;207;p69" descr="A picture containing text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976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69" descr="A picture containing text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4745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69" descr="A picture containing text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277458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69" descr="A picture containing text, businesscard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27252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69" descr="Text&#10;&#10;Description automatically generated with low confidence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921581" y="1291355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69" descr="Text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771375" y="1302630"/>
              <a:ext cx="751823" cy="9763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69"/>
          <p:cNvSpPr txBox="1">
            <a:spLocks noGrp="1"/>
          </p:cNvSpPr>
          <p:nvPr>
            <p:ph type="body" idx="2"/>
          </p:nvPr>
        </p:nvSpPr>
        <p:spPr>
          <a:xfrm>
            <a:off x="8323883" y="2126889"/>
            <a:ext cx="3175860" cy="3143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4" name="Google Shape;214;p69"/>
          <p:cNvSpPr txBox="1">
            <a:spLocks noGrp="1"/>
          </p:cNvSpPr>
          <p:nvPr>
            <p:ph type="body" idx="3"/>
          </p:nvPr>
        </p:nvSpPr>
        <p:spPr>
          <a:xfrm>
            <a:off x="4604290" y="2126889"/>
            <a:ext cx="3175860" cy="3143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92398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5" name="Google Shape;215;p69"/>
          <p:cNvSpPr>
            <a:spLocks noGrp="1"/>
          </p:cNvSpPr>
          <p:nvPr>
            <p:ph type="pic" idx="4"/>
          </p:nvPr>
        </p:nvSpPr>
        <p:spPr>
          <a:xfrm>
            <a:off x="838199" y="5371611"/>
            <a:ext cx="906195" cy="893249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6" name="Google Shape;216;p69"/>
          <p:cNvSpPr txBox="1">
            <a:spLocks noGrp="1"/>
          </p:cNvSpPr>
          <p:nvPr>
            <p:ph type="body" idx="5"/>
          </p:nvPr>
        </p:nvSpPr>
        <p:spPr>
          <a:xfrm>
            <a:off x="1903293" y="5402413"/>
            <a:ext cx="2110768" cy="89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7" name="Google Shape;217;p69"/>
          <p:cNvSpPr>
            <a:spLocks noGrp="1"/>
          </p:cNvSpPr>
          <p:nvPr>
            <p:ph type="pic" idx="6"/>
          </p:nvPr>
        </p:nvSpPr>
        <p:spPr>
          <a:xfrm>
            <a:off x="4580205" y="5371611"/>
            <a:ext cx="906195" cy="893249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8" name="Google Shape;218;p69"/>
          <p:cNvSpPr txBox="1">
            <a:spLocks noGrp="1"/>
          </p:cNvSpPr>
          <p:nvPr>
            <p:ph type="body" idx="7"/>
          </p:nvPr>
        </p:nvSpPr>
        <p:spPr>
          <a:xfrm>
            <a:off x="5645299" y="5402413"/>
            <a:ext cx="2110768" cy="89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9" name="Google Shape;219;p69"/>
          <p:cNvSpPr>
            <a:spLocks noGrp="1"/>
          </p:cNvSpPr>
          <p:nvPr>
            <p:ph type="pic" idx="8"/>
          </p:nvPr>
        </p:nvSpPr>
        <p:spPr>
          <a:xfrm>
            <a:off x="8322211" y="5402413"/>
            <a:ext cx="906195" cy="893249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20" name="Google Shape;220;p69"/>
          <p:cNvSpPr txBox="1">
            <a:spLocks noGrp="1"/>
          </p:cNvSpPr>
          <p:nvPr>
            <p:ph type="body" idx="9"/>
          </p:nvPr>
        </p:nvSpPr>
        <p:spPr>
          <a:xfrm>
            <a:off x="9387305" y="5433215"/>
            <a:ext cx="2110768" cy="89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3 x Boxed bullets + icons">
  <p:cSld name="3. Content: 3 x Boxed bullets + icons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0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10515600" cy="659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3" name="Google Shape;223;p70"/>
          <p:cNvSpPr/>
          <p:nvPr/>
        </p:nvSpPr>
        <p:spPr>
          <a:xfrm>
            <a:off x="879435" y="1491175"/>
            <a:ext cx="3354940" cy="4635306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6115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0"/>
          <p:cNvSpPr>
            <a:spLocks noGrp="1"/>
          </p:cNvSpPr>
          <p:nvPr>
            <p:ph type="pic" idx="2"/>
          </p:nvPr>
        </p:nvSpPr>
        <p:spPr>
          <a:xfrm>
            <a:off x="3185960" y="1658983"/>
            <a:ext cx="851711" cy="805084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70"/>
          <p:cNvSpPr txBox="1">
            <a:spLocks noGrp="1"/>
          </p:cNvSpPr>
          <p:nvPr>
            <p:ph type="body" idx="1"/>
          </p:nvPr>
        </p:nvSpPr>
        <p:spPr>
          <a:xfrm>
            <a:off x="1030847" y="2158781"/>
            <a:ext cx="2997200" cy="65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50FB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E450FB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70"/>
          <p:cNvSpPr txBox="1">
            <a:spLocks noGrp="1"/>
          </p:cNvSpPr>
          <p:nvPr>
            <p:ph type="body" idx="3"/>
          </p:nvPr>
        </p:nvSpPr>
        <p:spPr>
          <a:xfrm>
            <a:off x="1040473" y="3854548"/>
            <a:ext cx="2997200" cy="218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Char char="✔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7" name="Google Shape;227;p70"/>
          <p:cNvSpPr txBox="1">
            <a:spLocks noGrp="1"/>
          </p:cNvSpPr>
          <p:nvPr>
            <p:ph type="body" idx="4"/>
          </p:nvPr>
        </p:nvSpPr>
        <p:spPr>
          <a:xfrm>
            <a:off x="1040472" y="3067711"/>
            <a:ext cx="2997200" cy="42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28" name="Google Shape;22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0"/>
          <p:cNvSpPr/>
          <p:nvPr/>
        </p:nvSpPr>
        <p:spPr>
          <a:xfrm>
            <a:off x="4638630" y="1491175"/>
            <a:ext cx="3354940" cy="4635306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6115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0"/>
          <p:cNvSpPr>
            <a:spLocks noGrp="1"/>
          </p:cNvSpPr>
          <p:nvPr>
            <p:ph type="pic" idx="5"/>
          </p:nvPr>
        </p:nvSpPr>
        <p:spPr>
          <a:xfrm>
            <a:off x="6945155" y="1658983"/>
            <a:ext cx="851711" cy="805084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70"/>
          <p:cNvSpPr txBox="1">
            <a:spLocks noGrp="1"/>
          </p:cNvSpPr>
          <p:nvPr>
            <p:ph type="body" idx="6"/>
          </p:nvPr>
        </p:nvSpPr>
        <p:spPr>
          <a:xfrm>
            <a:off x="4790042" y="2158781"/>
            <a:ext cx="2997200" cy="65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50FB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E450FB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2" name="Google Shape;232;p70"/>
          <p:cNvSpPr txBox="1">
            <a:spLocks noGrp="1"/>
          </p:cNvSpPr>
          <p:nvPr>
            <p:ph type="body" idx="7"/>
          </p:nvPr>
        </p:nvSpPr>
        <p:spPr>
          <a:xfrm>
            <a:off x="4799668" y="3854548"/>
            <a:ext cx="2997200" cy="218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Char char="✔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3" name="Google Shape;233;p70"/>
          <p:cNvSpPr txBox="1">
            <a:spLocks noGrp="1"/>
          </p:cNvSpPr>
          <p:nvPr>
            <p:ph type="body" idx="8"/>
          </p:nvPr>
        </p:nvSpPr>
        <p:spPr>
          <a:xfrm>
            <a:off x="4799667" y="3067711"/>
            <a:ext cx="2997200" cy="42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4" name="Google Shape;234;p70"/>
          <p:cNvSpPr/>
          <p:nvPr/>
        </p:nvSpPr>
        <p:spPr>
          <a:xfrm>
            <a:off x="8380635" y="1491175"/>
            <a:ext cx="3354940" cy="4635306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6115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0"/>
          <p:cNvSpPr>
            <a:spLocks noGrp="1"/>
          </p:cNvSpPr>
          <p:nvPr>
            <p:ph type="pic" idx="9"/>
          </p:nvPr>
        </p:nvSpPr>
        <p:spPr>
          <a:xfrm>
            <a:off x="10687160" y="1658983"/>
            <a:ext cx="851711" cy="805084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70"/>
          <p:cNvSpPr txBox="1">
            <a:spLocks noGrp="1"/>
          </p:cNvSpPr>
          <p:nvPr>
            <p:ph type="body" idx="13"/>
          </p:nvPr>
        </p:nvSpPr>
        <p:spPr>
          <a:xfrm>
            <a:off x="8532047" y="2158781"/>
            <a:ext cx="2997200" cy="65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50FB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E450FB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74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7" name="Google Shape;237;p70"/>
          <p:cNvSpPr txBox="1">
            <a:spLocks noGrp="1"/>
          </p:cNvSpPr>
          <p:nvPr>
            <p:ph type="body" idx="14"/>
          </p:nvPr>
        </p:nvSpPr>
        <p:spPr>
          <a:xfrm>
            <a:off x="8541673" y="3854548"/>
            <a:ext cx="2997200" cy="218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Char char="✔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8" name="Google Shape;238;p70"/>
          <p:cNvSpPr txBox="1">
            <a:spLocks noGrp="1"/>
          </p:cNvSpPr>
          <p:nvPr>
            <p:ph type="body" idx="15"/>
          </p:nvPr>
        </p:nvSpPr>
        <p:spPr>
          <a:xfrm>
            <a:off x="8541672" y="3067711"/>
            <a:ext cx="2997200" cy="42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2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2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2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2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2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nt: Case study">
  <p:cSld name="3. Content: Case study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1"/>
          <p:cNvSpPr txBox="1">
            <a:spLocks noGrp="1"/>
          </p:cNvSpPr>
          <p:nvPr>
            <p:ph type="title"/>
          </p:nvPr>
        </p:nvSpPr>
        <p:spPr>
          <a:xfrm>
            <a:off x="838200" y="635000"/>
            <a:ext cx="7447671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9"/>
              </a:buClr>
              <a:buSzPts val="4400"/>
              <a:buFont typeface="Barlow Black"/>
              <a:buNone/>
              <a:defRPr sz="4400" b="1" i="0" u="none" strike="noStrike" cap="none">
                <a:solidFill>
                  <a:srgbClr val="002749"/>
                </a:solidFill>
                <a:latin typeface="Barlow Black"/>
                <a:ea typeface="Barlow Black"/>
                <a:cs typeface="Barlow Black"/>
                <a:sym typeface="Barlow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1" name="Google Shape;241;p71"/>
          <p:cNvSpPr txBox="1"/>
          <p:nvPr/>
        </p:nvSpPr>
        <p:spPr>
          <a:xfrm>
            <a:off x="838200" y="1832793"/>
            <a:ext cx="98972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6115A6"/>
                </a:solidFill>
                <a:latin typeface="Barlow Black"/>
                <a:ea typeface="Barlow Black"/>
                <a:cs typeface="Barlow Black"/>
                <a:sym typeface="Barlow Black"/>
              </a:rPr>
              <a:t>RESULT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42" name="Google Shape;242;p71"/>
          <p:cNvSpPr/>
          <p:nvPr/>
        </p:nvSpPr>
        <p:spPr>
          <a:xfrm>
            <a:off x="978877" y="2173221"/>
            <a:ext cx="708369" cy="708369"/>
          </a:xfrm>
          <a:prstGeom prst="ellipse">
            <a:avLst/>
          </a:prstGeom>
          <a:gradFill>
            <a:gsLst>
              <a:gs pos="0">
                <a:srgbClr val="6115A6"/>
              </a:gs>
              <a:gs pos="100000">
                <a:srgbClr val="03031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/>
          </a:p>
        </p:txBody>
      </p:sp>
      <p:sp>
        <p:nvSpPr>
          <p:cNvPr id="243" name="Google Shape;243;p71"/>
          <p:cNvSpPr txBox="1"/>
          <p:nvPr/>
        </p:nvSpPr>
        <p:spPr>
          <a:xfrm>
            <a:off x="838200" y="3500839"/>
            <a:ext cx="14820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rPr>
              <a:t>CHALLENGE: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44" name="Google Shape;244;p71"/>
          <p:cNvSpPr txBox="1"/>
          <p:nvPr/>
        </p:nvSpPr>
        <p:spPr>
          <a:xfrm>
            <a:off x="838201" y="5016508"/>
            <a:ext cx="234109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rPr>
              <a:t>SETTING THE SCENE: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45" name="Google Shape;245;p71"/>
          <p:cNvSpPr txBox="1"/>
          <p:nvPr/>
        </p:nvSpPr>
        <p:spPr>
          <a:xfrm>
            <a:off x="6137326" y="3500839"/>
            <a:ext cx="20319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rPr>
              <a:t>XELIX SOLUTION: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46" name="Google Shape;246;p71"/>
          <p:cNvSpPr txBox="1"/>
          <p:nvPr/>
        </p:nvSpPr>
        <p:spPr>
          <a:xfrm>
            <a:off x="6137327" y="5016508"/>
            <a:ext cx="234109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92398"/>
                </a:solidFill>
                <a:latin typeface="Barlow"/>
                <a:ea typeface="Barlow"/>
                <a:cs typeface="Barlow"/>
                <a:sym typeface="Barlow"/>
              </a:rPr>
              <a:t>XELIX DELIVERABLES: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47" name="Google Shape;247;p71"/>
          <p:cNvSpPr/>
          <p:nvPr/>
        </p:nvSpPr>
        <p:spPr>
          <a:xfrm>
            <a:off x="920746" y="-40320"/>
            <a:ext cx="1701811" cy="563563"/>
          </a:xfrm>
          <a:prstGeom prst="rect">
            <a:avLst/>
          </a:prstGeom>
          <a:gradFill>
            <a:gsLst>
              <a:gs pos="0">
                <a:srgbClr val="6115A6"/>
              </a:gs>
              <a:gs pos="100000">
                <a:srgbClr val="030312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CASE STUDY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248" name="Google Shape;248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56690" y="6264860"/>
            <a:ext cx="838724" cy="29858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71"/>
          <p:cNvSpPr>
            <a:spLocks noGrp="1"/>
          </p:cNvSpPr>
          <p:nvPr>
            <p:ph type="pic" idx="2"/>
          </p:nvPr>
        </p:nvSpPr>
        <p:spPr>
          <a:xfrm>
            <a:off x="9209351" y="620646"/>
            <a:ext cx="2534190" cy="641978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71"/>
          <p:cNvSpPr txBox="1">
            <a:spLocks noGrp="1"/>
          </p:cNvSpPr>
          <p:nvPr>
            <p:ph type="body" idx="1"/>
          </p:nvPr>
        </p:nvSpPr>
        <p:spPr>
          <a:xfrm>
            <a:off x="1940452" y="2171700"/>
            <a:ext cx="2111043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1" name="Google Shape;251;p71"/>
          <p:cNvSpPr txBox="1"/>
          <p:nvPr/>
        </p:nvSpPr>
        <p:spPr>
          <a:xfrm>
            <a:off x="8392550" y="1832793"/>
            <a:ext cx="98972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6115A6"/>
                </a:solidFill>
                <a:latin typeface="Barlow Black"/>
                <a:ea typeface="Barlow Black"/>
                <a:cs typeface="Barlow Black"/>
                <a:sym typeface="Barlow Black"/>
              </a:rPr>
              <a:t>RESULT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52" name="Google Shape;252;p71"/>
          <p:cNvSpPr/>
          <p:nvPr/>
        </p:nvSpPr>
        <p:spPr>
          <a:xfrm>
            <a:off x="8533227" y="2173221"/>
            <a:ext cx="708369" cy="708369"/>
          </a:xfrm>
          <a:prstGeom prst="ellipse">
            <a:avLst/>
          </a:prstGeom>
          <a:gradFill>
            <a:gsLst>
              <a:gs pos="0">
                <a:srgbClr val="6115A6"/>
              </a:gs>
              <a:gs pos="100000">
                <a:srgbClr val="03031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/>
          </a:p>
        </p:txBody>
      </p:sp>
      <p:sp>
        <p:nvSpPr>
          <p:cNvPr id="253" name="Google Shape;253;p71"/>
          <p:cNvSpPr txBox="1">
            <a:spLocks noGrp="1"/>
          </p:cNvSpPr>
          <p:nvPr>
            <p:ph type="body" idx="3"/>
          </p:nvPr>
        </p:nvSpPr>
        <p:spPr>
          <a:xfrm>
            <a:off x="9494802" y="2171700"/>
            <a:ext cx="2111043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4" name="Google Shape;254;p71"/>
          <p:cNvSpPr txBox="1"/>
          <p:nvPr/>
        </p:nvSpPr>
        <p:spPr>
          <a:xfrm>
            <a:off x="4552070" y="1832793"/>
            <a:ext cx="98972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6115A6"/>
                </a:solidFill>
                <a:latin typeface="Barlow Black"/>
                <a:ea typeface="Barlow Black"/>
                <a:cs typeface="Barlow Black"/>
                <a:sym typeface="Barlow Black"/>
              </a:rPr>
              <a:t>RESULT</a:t>
            </a:r>
            <a:endParaRPr sz="1600" b="1">
              <a:solidFill>
                <a:srgbClr val="6115A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255" name="Google Shape;255;p71"/>
          <p:cNvSpPr/>
          <p:nvPr/>
        </p:nvSpPr>
        <p:spPr>
          <a:xfrm>
            <a:off x="4692747" y="2173221"/>
            <a:ext cx="708369" cy="708369"/>
          </a:xfrm>
          <a:prstGeom prst="ellipse">
            <a:avLst/>
          </a:prstGeom>
          <a:gradFill>
            <a:gsLst>
              <a:gs pos="0">
                <a:srgbClr val="6115A6"/>
              </a:gs>
              <a:gs pos="100000">
                <a:srgbClr val="03031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/>
          </a:p>
        </p:txBody>
      </p:sp>
      <p:sp>
        <p:nvSpPr>
          <p:cNvPr id="256" name="Google Shape;256;p71"/>
          <p:cNvSpPr txBox="1">
            <a:spLocks noGrp="1"/>
          </p:cNvSpPr>
          <p:nvPr>
            <p:ph type="body" idx="4"/>
          </p:nvPr>
        </p:nvSpPr>
        <p:spPr>
          <a:xfrm>
            <a:off x="5654322" y="2171700"/>
            <a:ext cx="2111043" cy="10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7" name="Google Shape;257;p71"/>
          <p:cNvSpPr txBox="1">
            <a:spLocks noGrp="1"/>
          </p:cNvSpPr>
          <p:nvPr>
            <p:ph type="body" idx="5"/>
          </p:nvPr>
        </p:nvSpPr>
        <p:spPr>
          <a:xfrm>
            <a:off x="920750" y="3948114"/>
            <a:ext cx="4733925" cy="87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8" name="Google Shape;258;p71"/>
          <p:cNvSpPr txBox="1">
            <a:spLocks noGrp="1"/>
          </p:cNvSpPr>
          <p:nvPr>
            <p:ph type="body" idx="6"/>
          </p:nvPr>
        </p:nvSpPr>
        <p:spPr>
          <a:xfrm>
            <a:off x="6210203" y="3948114"/>
            <a:ext cx="4733925" cy="87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9" name="Google Shape;259;p71"/>
          <p:cNvSpPr txBox="1">
            <a:spLocks noGrp="1"/>
          </p:cNvSpPr>
          <p:nvPr>
            <p:ph type="body" idx="7"/>
          </p:nvPr>
        </p:nvSpPr>
        <p:spPr>
          <a:xfrm>
            <a:off x="6210300" y="5396842"/>
            <a:ext cx="4733925" cy="90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0" name="Google Shape;260;p71"/>
          <p:cNvSpPr txBox="1">
            <a:spLocks noGrp="1"/>
          </p:cNvSpPr>
          <p:nvPr>
            <p:ph type="body" idx="8"/>
          </p:nvPr>
        </p:nvSpPr>
        <p:spPr>
          <a:xfrm>
            <a:off x="920749" y="5396842"/>
            <a:ext cx="4733925" cy="90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B3FC7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4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2749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Contact">
  <p:cSld name="4. Contact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72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690" y="6264321"/>
            <a:ext cx="838724" cy="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72"/>
          <p:cNvSpPr txBox="1"/>
          <p:nvPr/>
        </p:nvSpPr>
        <p:spPr>
          <a:xfrm>
            <a:off x="685800" y="4167383"/>
            <a:ext cx="7299702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Email: hello@xelix.com</a:t>
            </a:r>
            <a:endParaRPr sz="2000" b="1" i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Phone: + 44 (</a:t>
            </a:r>
            <a:r>
              <a:rPr lang="en-US" sz="2000" b="1" i="0" u="sng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0)20 3950 1506</a:t>
            </a:r>
            <a:endParaRPr sz="2000" b="1" i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Website: www.xelix.com</a:t>
            </a:r>
            <a:endParaRPr sz="2000" b="1" i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None/>
            </a:pPr>
            <a:r>
              <a:rPr lang="en-US" sz="1400" u="sng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www.xelix.com</a:t>
            </a:r>
            <a:r>
              <a:rPr lang="en-US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© 2023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2"/>
          <p:cNvSpPr txBox="1"/>
          <p:nvPr/>
        </p:nvSpPr>
        <p:spPr>
          <a:xfrm>
            <a:off x="685800" y="2721106"/>
            <a:ext cx="5291919" cy="1323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>
                <a:solidFill>
                  <a:schemeClr val="lt1"/>
                </a:solidFill>
                <a:latin typeface="Barlow Black"/>
                <a:ea typeface="Barlow Black"/>
                <a:cs typeface="Barlow Black"/>
                <a:sym typeface="Barlow Black"/>
              </a:rPr>
              <a:t>Contact us</a:t>
            </a:r>
            <a:endParaRPr sz="6000" b="1" i="0">
              <a:solidFill>
                <a:schemeClr val="dk1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2773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5000">
              <a:srgbClr val="6115A6"/>
            </a:gs>
            <a:gs pos="100000">
              <a:srgbClr val="030312"/>
            </a:gs>
          </a:gsLst>
          <a:lin ang="2399547" scaled="0"/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81" r:id="rId7"/>
    <p:sldLayoutId id="2147483682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83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80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3" Type="http://schemas.openxmlformats.org/officeDocument/2006/relationships/image" Target="../media/image1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3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3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3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3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3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3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3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3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3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86740" y="401955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spc="800" dirty="0">
                <a:solidFill>
                  <a:srgbClr val="D92398"/>
                </a:solidFill>
                <a:latin typeface="Barlow Black" pitchFamily="34" charset="0"/>
              </a:rPr>
              <a:t>DATE</a:t>
            </a:r>
            <a:endParaRPr lang="en-US" dirty="0">
              <a:solidFill>
                <a:srgbClr val="D92398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Executive Business Review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CCBB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{CUSTOMER}</a:t>
            </a:r>
            <a:endParaRPr lang="en-US" sz="4800" dirty="0">
              <a:solidFill>
                <a:srgbClr val="CCBBFF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FBE168-A42D-388C-D5D2-52D6795C1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centBar">
            <a:extLst>
              <a:ext uri="{FF2B5EF4-FFF2-40B4-BE49-F238E27FC236}">
                <a16:creationId xmlns:a16="http://schemas.microsoft.com/office/drawing/2014/main" id="{B0A0C23B-1DE9-0362-466D-7E18FCC3C87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D424E814-D3C5-5992-8644-6B3643B5C50D}"/>
              </a:ext>
            </a:extLst>
          </p:cNvPr>
          <p:cNvSpPr/>
          <p:nvPr/>
        </p:nvSpPr>
        <p:spPr>
          <a:xfrm>
            <a:off x="1865534" y="4580800"/>
            <a:ext cx="2632529" cy="1783424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BDAFF1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149A807E-8879-695B-B2F9-DA1FCDDD0A46}"/>
              </a:ext>
            </a:extLst>
          </p:cNvPr>
          <p:cNvSpPr/>
          <p:nvPr/>
        </p:nvSpPr>
        <p:spPr>
          <a:xfrm>
            <a:off x="4767943" y="4580800"/>
            <a:ext cx="2632529" cy="1783424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BDAFF1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4B47D64D-0ABC-9004-472B-6421B8BEAF73}"/>
              </a:ext>
            </a:extLst>
          </p:cNvPr>
          <p:cNvSpPr/>
          <p:nvPr/>
        </p:nvSpPr>
        <p:spPr>
          <a:xfrm>
            <a:off x="7670799" y="4580800"/>
            <a:ext cx="2632529" cy="1783424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BDAFF1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60B6953C-071C-D828-67EC-784473C41F54}"/>
              </a:ext>
            </a:extLst>
          </p:cNvPr>
          <p:cNvSpPr/>
          <p:nvPr/>
        </p:nvSpPr>
        <p:spPr>
          <a:xfrm>
            <a:off x="415470" y="2295425"/>
            <a:ext cx="2632529" cy="1783424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BDAFF1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D445302-8306-83BE-0878-8E070D7EF41A}"/>
              </a:ext>
            </a:extLst>
          </p:cNvPr>
          <p:cNvSpPr/>
          <p:nvPr/>
        </p:nvSpPr>
        <p:spPr>
          <a:xfrm>
            <a:off x="3363684" y="2295425"/>
            <a:ext cx="2632529" cy="1783424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BDAFF1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BECE4BE-C558-5D93-4FD0-A6CE68113B4A}"/>
              </a:ext>
            </a:extLst>
          </p:cNvPr>
          <p:cNvSpPr/>
          <p:nvPr/>
        </p:nvSpPr>
        <p:spPr>
          <a:xfrm>
            <a:off x="6291488" y="2308950"/>
            <a:ext cx="2632529" cy="1783424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BDAFF1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B4123569-3909-88FE-A2A1-6BD5214F1231}"/>
              </a:ext>
            </a:extLst>
          </p:cNvPr>
          <p:cNvSpPr/>
          <p:nvPr/>
        </p:nvSpPr>
        <p:spPr>
          <a:xfrm>
            <a:off x="9219292" y="2295425"/>
            <a:ext cx="2632529" cy="1783424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BDAFF1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E0437806-C688-87DC-E9D8-D69A1CCCB7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1918879"/>
          </a:xfrm>
          <a:prstGeom prst="rect">
            <a:avLst/>
          </a:prstGeom>
        </p:spPr>
      </p:pic>
      <p:sp>
        <p:nvSpPr>
          <p:cNvPr id="3" name="Accent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02" name="TitleLine"/>
          <p:cNvSpPr/>
          <p:nvPr/>
        </p:nvSpPr>
        <p:spPr>
          <a:xfrm>
            <a:off x="508000" y="1625442"/>
            <a:ext cx="1524000" cy="381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04" name="WaterNum 2"/>
          <p:cNvSpPr/>
          <p:nvPr/>
        </p:nvSpPr>
        <p:spPr>
          <a:xfrm>
            <a:off x="3579948" y="2374900"/>
            <a:ext cx="698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4200" b="1" dirty="0">
                <a:solidFill>
                  <a:srgbClr val="BDAFF1">
                    <a:alpha val="35000"/>
                  </a:srgbClr>
                </a:solidFill>
                <a:latin typeface="Barlow Black" pitchFamily="34" charset="0"/>
              </a:rPr>
              <a:t>02</a:t>
            </a:r>
          </a:p>
        </p:txBody>
      </p:sp>
      <p:sp>
        <p:nvSpPr>
          <p:cNvPr id="207" name="WaterNum 3"/>
          <p:cNvSpPr/>
          <p:nvPr/>
        </p:nvSpPr>
        <p:spPr>
          <a:xfrm>
            <a:off x="6575423" y="2374900"/>
            <a:ext cx="698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4200" b="1" dirty="0">
                <a:solidFill>
                  <a:srgbClr val="BDAFF1">
                    <a:alpha val="35000"/>
                  </a:srgbClr>
                </a:solidFill>
                <a:latin typeface="Barlow Black" pitchFamily="34" charset="0"/>
              </a:rPr>
              <a:t>03</a:t>
            </a:r>
          </a:p>
        </p:txBody>
      </p:sp>
      <p:sp>
        <p:nvSpPr>
          <p:cNvPr id="210" name="WaterNum 4"/>
          <p:cNvSpPr/>
          <p:nvPr/>
        </p:nvSpPr>
        <p:spPr>
          <a:xfrm>
            <a:off x="9550400" y="2374900"/>
            <a:ext cx="698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4200" b="1" dirty="0">
                <a:solidFill>
                  <a:srgbClr val="BDAFF1">
                    <a:alpha val="35000"/>
                  </a:srgbClr>
                </a:solidFill>
                <a:latin typeface="Barlow Black" pitchFamily="34" charset="0"/>
              </a:rPr>
              <a:t>04</a:t>
            </a:r>
          </a:p>
        </p:txBody>
      </p:sp>
      <p:sp>
        <p:nvSpPr>
          <p:cNvPr id="213" name="WaterNum 5"/>
          <p:cNvSpPr/>
          <p:nvPr/>
        </p:nvSpPr>
        <p:spPr>
          <a:xfrm>
            <a:off x="2159001" y="4683850"/>
            <a:ext cx="698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4200" b="1" dirty="0">
                <a:solidFill>
                  <a:srgbClr val="BDAFF1">
                    <a:alpha val="35000"/>
                  </a:srgbClr>
                </a:solidFill>
                <a:latin typeface="Barlow Black" pitchFamily="34" charset="0"/>
              </a:rPr>
              <a:t>05</a:t>
            </a:r>
          </a:p>
        </p:txBody>
      </p:sp>
      <p:sp>
        <p:nvSpPr>
          <p:cNvPr id="216" name="WaterNum 6"/>
          <p:cNvSpPr/>
          <p:nvPr/>
        </p:nvSpPr>
        <p:spPr>
          <a:xfrm>
            <a:off x="5057997" y="4683850"/>
            <a:ext cx="698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4200" b="1" dirty="0">
                <a:solidFill>
                  <a:srgbClr val="BDAFF1">
                    <a:alpha val="35000"/>
                  </a:srgbClr>
                </a:solidFill>
                <a:latin typeface="Barlow Black" pitchFamily="34" charset="0"/>
              </a:rPr>
              <a:t>06</a:t>
            </a:r>
          </a:p>
        </p:txBody>
      </p:sp>
      <p:sp>
        <p:nvSpPr>
          <p:cNvPr id="219" name="WaterNum 7"/>
          <p:cNvSpPr/>
          <p:nvPr/>
        </p:nvSpPr>
        <p:spPr>
          <a:xfrm>
            <a:off x="7962900" y="4683850"/>
            <a:ext cx="698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4200" b="1" dirty="0">
                <a:solidFill>
                  <a:srgbClr val="BDAFF1">
                    <a:alpha val="35000"/>
                  </a:srgbClr>
                </a:solidFill>
                <a:latin typeface="Barlow Black" pitchFamily="34" charset="0"/>
              </a:rPr>
              <a:t>07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FC1462-5089-37E7-4CFD-B96701EC4F16}"/>
              </a:ext>
            </a:extLst>
          </p:cNvPr>
          <p:cNvSpPr/>
          <p:nvPr/>
        </p:nvSpPr>
        <p:spPr>
          <a:xfrm>
            <a:off x="466344" y="974309"/>
            <a:ext cx="10735056" cy="397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WHAT WE WILL COVER TODAY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8FE0F78-01C6-CBAF-E28A-5FC0CA39874F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700" dirty="0">
                <a:solidFill>
                  <a:srgbClr val="D92398"/>
                </a:solidFill>
                <a:latin typeface="Barlow Black" pitchFamily="34" charset="0"/>
              </a:rPr>
              <a:t>AGENDA</a:t>
            </a:r>
          </a:p>
        </p:txBody>
      </p:sp>
      <p:sp>
        <p:nvSpPr>
          <p:cNvPr id="202" name="Text 1"/>
          <p:cNvSpPr/>
          <p:nvPr/>
        </p:nvSpPr>
        <p:spPr>
          <a:xfrm>
            <a:off x="650874" y="28575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000" b="1" dirty="0">
                <a:solidFill>
                  <a:srgbClr val="D9239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RECAP</a:t>
            </a:r>
          </a:p>
        </p:txBody>
      </p:sp>
      <p:sp>
        <p:nvSpPr>
          <p:cNvPr id="205" name="Text 2"/>
          <p:cNvSpPr/>
          <p:nvPr/>
        </p:nvSpPr>
        <p:spPr>
          <a:xfrm>
            <a:off x="3579948" y="28575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000" b="1" dirty="0">
                <a:solidFill>
                  <a:srgbClr val="D9239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 SUMMARY</a:t>
            </a:r>
          </a:p>
        </p:txBody>
      </p:sp>
      <p:sp>
        <p:nvSpPr>
          <p:cNvPr id="208" name="Text 3"/>
          <p:cNvSpPr/>
          <p:nvPr/>
        </p:nvSpPr>
        <p:spPr>
          <a:xfrm>
            <a:off x="6526438" y="2842079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000" b="1" dirty="0">
                <a:solidFill>
                  <a:srgbClr val="D9239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TRANSACTIONS</a:t>
            </a:r>
          </a:p>
        </p:txBody>
      </p:sp>
      <p:sp>
        <p:nvSpPr>
          <p:cNvPr id="211" name="Text 4"/>
          <p:cNvSpPr/>
          <p:nvPr/>
        </p:nvSpPr>
        <p:spPr>
          <a:xfrm>
            <a:off x="9550400" y="2842079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000" b="1" dirty="0">
                <a:solidFill>
                  <a:srgbClr val="D9239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STATEMENTS</a:t>
            </a:r>
          </a:p>
        </p:txBody>
      </p:sp>
      <p:sp>
        <p:nvSpPr>
          <p:cNvPr id="214" name="Text 5"/>
          <p:cNvSpPr/>
          <p:nvPr/>
        </p:nvSpPr>
        <p:spPr>
          <a:xfrm>
            <a:off x="2159001" y="51943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000" b="1" dirty="0">
                <a:solidFill>
                  <a:srgbClr val="D9239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HELPDESK</a:t>
            </a:r>
          </a:p>
        </p:txBody>
      </p:sp>
      <p:sp>
        <p:nvSpPr>
          <p:cNvPr id="217" name="Text 6"/>
          <p:cNvSpPr/>
          <p:nvPr/>
        </p:nvSpPr>
        <p:spPr>
          <a:xfrm>
            <a:off x="5066845" y="51943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000" b="1" dirty="0">
                <a:solidFill>
                  <a:srgbClr val="D9239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SUPPORT TICKETS</a:t>
            </a:r>
          </a:p>
        </p:txBody>
      </p:sp>
      <p:sp>
        <p:nvSpPr>
          <p:cNvPr id="220" name="Text 7"/>
          <p:cNvSpPr/>
          <p:nvPr/>
        </p:nvSpPr>
        <p:spPr>
          <a:xfrm>
            <a:off x="7962900" y="51943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000" b="1" dirty="0">
                <a:solidFill>
                  <a:srgbClr val="D9239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 STEPS</a:t>
            </a:r>
          </a:p>
        </p:txBody>
      </p:sp>
      <p:sp>
        <p:nvSpPr>
          <p:cNvPr id="201" name="WaterNum 1"/>
          <p:cNvSpPr/>
          <p:nvPr/>
        </p:nvSpPr>
        <p:spPr>
          <a:xfrm>
            <a:off x="698500" y="2374900"/>
            <a:ext cx="698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4200" b="1" dirty="0">
                <a:solidFill>
                  <a:srgbClr val="A79BD7">
                    <a:alpha val="35000"/>
                  </a:srgbClr>
                </a:solidFill>
                <a:latin typeface="Barlow Black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18442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0" name="Tag"/>
          <p:cNvSpPr/>
          <p:nvPr/>
        </p:nvSpPr>
        <p:spPr>
          <a:xfrm>
            <a:off x="508000" y="2540000"/>
            <a:ext cx="11176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8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SECTION ONE</a:t>
            </a:r>
          </a:p>
        </p:txBody>
      </p:sp>
      <p:sp>
        <p:nvSpPr>
          <p:cNvPr id="11" name="Title"/>
          <p:cNvSpPr/>
          <p:nvPr/>
        </p:nvSpPr>
        <p:spPr>
          <a:xfrm>
            <a:off x="508000" y="2857500"/>
            <a:ext cx="1117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RECAP</a:t>
            </a:r>
          </a:p>
        </p:txBody>
      </p:sp>
      <p:sp>
        <p:nvSpPr>
          <p:cNvPr id="12" name="Subtitle"/>
          <p:cNvSpPr/>
          <p:nvPr/>
        </p:nvSpPr>
        <p:spPr>
          <a:xfrm>
            <a:off x="1524000" y="4031596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600" dirty="0">
                <a:solidFill>
                  <a:srgbClr val="CCBB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Actions and discussion points from the last EBR</a:t>
            </a:r>
          </a:p>
        </p:txBody>
      </p:sp>
      <p:sp>
        <p:nvSpPr>
          <p:cNvPr id="13" name="Divider"/>
          <p:cNvSpPr/>
          <p:nvPr/>
        </p:nvSpPr>
        <p:spPr>
          <a:xfrm>
            <a:off x="4648200" y="3810000"/>
            <a:ext cx="2895600" cy="381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0" name="QuoteMark"/>
          <p:cNvSpPr/>
          <p:nvPr/>
        </p:nvSpPr>
        <p:spPr>
          <a:xfrm>
            <a:off x="762000" y="1524000"/>
            <a:ext cx="1524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0" b="1" dirty="0">
                <a:solidFill>
                  <a:srgbClr val="D92398"/>
                </a:solidFill>
                <a:latin typeface="Barlow Black" pitchFamily="34" charset="0"/>
              </a:rPr>
              <a:t>“</a:t>
            </a:r>
          </a:p>
        </p:txBody>
      </p:sp>
      <p:sp>
        <p:nvSpPr>
          <p:cNvPr id="11" name="Quote"/>
          <p:cNvSpPr/>
          <p:nvPr/>
        </p:nvSpPr>
        <p:spPr>
          <a:xfrm>
            <a:off x="2794000" y="1905000"/>
            <a:ext cx="8128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Quote text goes here. Replace with a compelling testimonial or key insight.</a:t>
            </a:r>
          </a:p>
        </p:txBody>
      </p:sp>
      <p:sp>
        <p:nvSpPr>
          <p:cNvPr id="12" name="Divider"/>
          <p:cNvSpPr/>
          <p:nvPr/>
        </p:nvSpPr>
        <p:spPr>
          <a:xfrm>
            <a:off x="2794000" y="4191000"/>
            <a:ext cx="1524000" cy="381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3" name="Name"/>
          <p:cNvSpPr/>
          <p:nvPr/>
        </p:nvSpPr>
        <p:spPr>
          <a:xfrm>
            <a:off x="2794000" y="4445000"/>
            <a:ext cx="812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Barlow Black" pitchFamily="34" charset="0"/>
              </a:rPr>
              <a:t>FULL NAME</a:t>
            </a:r>
          </a:p>
        </p:txBody>
      </p:sp>
      <p:sp>
        <p:nvSpPr>
          <p:cNvPr id="14" name="Role"/>
          <p:cNvSpPr/>
          <p:nvPr/>
        </p:nvSpPr>
        <p:spPr>
          <a:xfrm>
            <a:off x="2794000" y="4851400"/>
            <a:ext cx="812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Title, Company Name</a:t>
            </a:r>
          </a:p>
        </p:txBody>
      </p:sp>
      <p:sp>
        <p:nvSpPr>
          <p:cNvPr id="15" name="LeftAccent"/>
          <p:cNvSpPr/>
          <p:nvPr/>
        </p:nvSpPr>
        <p:spPr>
          <a:xfrm>
            <a:off x="2540000" y="1905000"/>
            <a:ext cx="45719" cy="31750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4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663440" cy="6858000"/>
          </a:xfrm>
          <a:prstGeom prst="rect">
            <a:avLst/>
          </a:prstGeom>
          <a:gradFill>
            <a:gsLst>
              <a:gs pos="45000">
                <a:srgbClr val="6115A6"/>
              </a:gs>
              <a:gs pos="100000">
                <a:srgbClr val="030312"/>
              </a:gs>
            </a:gsLst>
            <a:lin ang="2399547" scaled="0"/>
          </a:gradFill>
        </p:spPr>
      </p:pic>
      <p:sp>
        <p:nvSpPr>
          <p:cNvPr id="5" name="Text 1"/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0" dirty="0">
                <a:solidFill>
                  <a:srgbClr val="EB3FC7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RECAP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02920" y="1070626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CCBBFF"/>
                </a:solidFill>
                <a:latin typeface="Barlow" pitchFamily="34" charset="0"/>
              </a:rPr>
              <a:t>Key actions and discussions from our last EBR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23" name="Text 19"/>
          <p:cNvSpPr/>
          <p:nvPr/>
        </p:nvSpPr>
        <p:spPr>
          <a:xfrm>
            <a:off x="5254828" y="497711"/>
            <a:ext cx="6476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RECAP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059242" y="1270000"/>
            <a:ext cx="5790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POINT 1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29" name="Shape 25"/>
          <p:cNvSpPr/>
          <p:nvPr/>
        </p:nvSpPr>
        <p:spPr>
          <a:xfrm>
            <a:off x="5197678" y="1943100"/>
            <a:ext cx="6476695" cy="10973"/>
          </a:xfrm>
          <a:prstGeom prst="rect">
            <a:avLst/>
          </a:prstGeom>
          <a:solidFill>
            <a:srgbClr val="CCBBFF">
              <a:alpha val="40000"/>
            </a:srgbClr>
          </a:solidFill>
          <a:ln w="12700">
            <a:solidFill>
              <a:srgbClr val="CCBB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5273934" y="1270000"/>
            <a:ext cx="502920" cy="502920"/>
          </a:xfrm>
          <a:prstGeom prst="ellipse">
            <a:avLst/>
          </a:prstGeom>
          <a:solidFill>
            <a:srgbClr val="EB3FC7"/>
          </a:solidFill>
          <a:ln w="12700">
            <a:solidFill>
              <a:srgbClr val="EB3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273934" y="1270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01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059242" y="2403475"/>
            <a:ext cx="5790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POINT 2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34" name="Shape 30"/>
          <p:cNvSpPr/>
          <p:nvPr/>
        </p:nvSpPr>
        <p:spPr>
          <a:xfrm>
            <a:off x="5197678" y="3076575"/>
            <a:ext cx="6476695" cy="10973"/>
          </a:xfrm>
          <a:prstGeom prst="rect">
            <a:avLst/>
          </a:prstGeom>
          <a:solidFill>
            <a:srgbClr val="CCBBFF">
              <a:alpha val="40000"/>
            </a:srgbClr>
          </a:solidFill>
          <a:ln w="12700">
            <a:solidFill>
              <a:srgbClr val="CCBB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6059242" y="3536950"/>
            <a:ext cx="5790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POINT 3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39" name="Shape 35"/>
          <p:cNvSpPr/>
          <p:nvPr/>
        </p:nvSpPr>
        <p:spPr>
          <a:xfrm>
            <a:off x="5197678" y="4210050"/>
            <a:ext cx="6476695" cy="10973"/>
          </a:xfrm>
          <a:prstGeom prst="rect">
            <a:avLst/>
          </a:prstGeom>
          <a:solidFill>
            <a:srgbClr val="CCBBFF">
              <a:alpha val="40000"/>
            </a:srgbClr>
          </a:solidFill>
          <a:ln w="12700">
            <a:solidFill>
              <a:srgbClr val="CCBB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6059242" y="4670425"/>
            <a:ext cx="5790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POINT 4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44" name="Shape 40"/>
          <p:cNvSpPr/>
          <p:nvPr/>
        </p:nvSpPr>
        <p:spPr>
          <a:xfrm>
            <a:off x="5197678" y="5343525"/>
            <a:ext cx="6476695" cy="10973"/>
          </a:xfrm>
          <a:prstGeom prst="rect">
            <a:avLst/>
          </a:prstGeom>
          <a:solidFill>
            <a:srgbClr val="CCBBFF">
              <a:alpha val="40000"/>
            </a:srgbClr>
          </a:solidFill>
          <a:ln w="12700">
            <a:solidFill>
              <a:srgbClr val="CCBB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6051990" y="5803900"/>
            <a:ext cx="5790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POINT 5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63" name="Shape 26">
            <a:extLst>
              <a:ext uri="{FF2B5EF4-FFF2-40B4-BE49-F238E27FC236}">
                <a16:creationId xmlns:a16="http://schemas.microsoft.com/office/drawing/2014/main" id="{EBE13E7C-E064-0906-480E-472E3DDE64C2}"/>
              </a:ext>
            </a:extLst>
          </p:cNvPr>
          <p:cNvSpPr/>
          <p:nvPr/>
        </p:nvSpPr>
        <p:spPr>
          <a:xfrm>
            <a:off x="5273934" y="2403475"/>
            <a:ext cx="502920" cy="502920"/>
          </a:xfrm>
          <a:prstGeom prst="ellipse">
            <a:avLst/>
          </a:prstGeom>
          <a:solidFill>
            <a:srgbClr val="EB3FC7"/>
          </a:solidFill>
          <a:ln w="12700">
            <a:solidFill>
              <a:srgbClr val="EB3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DBC1E652-2A0A-9D44-F749-CA6197A71281}"/>
              </a:ext>
            </a:extLst>
          </p:cNvPr>
          <p:cNvSpPr/>
          <p:nvPr/>
        </p:nvSpPr>
        <p:spPr>
          <a:xfrm>
            <a:off x="5273934" y="240347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02</a:t>
            </a:r>
            <a:endParaRPr lang="en-US" sz="1300" dirty="0"/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436E3619-FD14-F2D3-0282-0B8CEDA145BD}"/>
              </a:ext>
            </a:extLst>
          </p:cNvPr>
          <p:cNvSpPr/>
          <p:nvPr/>
        </p:nvSpPr>
        <p:spPr>
          <a:xfrm>
            <a:off x="5273934" y="3536950"/>
            <a:ext cx="502920" cy="502920"/>
          </a:xfrm>
          <a:prstGeom prst="ellipse">
            <a:avLst/>
          </a:prstGeom>
          <a:solidFill>
            <a:srgbClr val="EB3FC7"/>
          </a:solidFill>
          <a:ln w="12700">
            <a:solidFill>
              <a:srgbClr val="EB3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ABDC25DB-31C1-D24E-7439-88902FEEA873}"/>
              </a:ext>
            </a:extLst>
          </p:cNvPr>
          <p:cNvSpPr/>
          <p:nvPr/>
        </p:nvSpPr>
        <p:spPr>
          <a:xfrm>
            <a:off x="5273934" y="3536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03</a:t>
            </a:r>
            <a:endParaRPr lang="en-US" sz="1300" dirty="0"/>
          </a:p>
        </p:txBody>
      </p:sp>
      <p:sp>
        <p:nvSpPr>
          <p:cNvPr id="67" name="Shape 26">
            <a:extLst>
              <a:ext uri="{FF2B5EF4-FFF2-40B4-BE49-F238E27FC236}">
                <a16:creationId xmlns:a16="http://schemas.microsoft.com/office/drawing/2014/main" id="{C6E043C9-3230-9927-6B1C-DD6DB0366CDD}"/>
              </a:ext>
            </a:extLst>
          </p:cNvPr>
          <p:cNvSpPr/>
          <p:nvPr/>
        </p:nvSpPr>
        <p:spPr>
          <a:xfrm>
            <a:off x="5273934" y="4670425"/>
            <a:ext cx="502920" cy="502920"/>
          </a:xfrm>
          <a:prstGeom prst="ellipse">
            <a:avLst/>
          </a:prstGeom>
          <a:solidFill>
            <a:srgbClr val="EB3FC7"/>
          </a:solidFill>
          <a:ln w="12700">
            <a:solidFill>
              <a:srgbClr val="EB3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27">
            <a:extLst>
              <a:ext uri="{FF2B5EF4-FFF2-40B4-BE49-F238E27FC236}">
                <a16:creationId xmlns:a16="http://schemas.microsoft.com/office/drawing/2014/main" id="{9538CA2E-60B4-31AF-D809-B1A29EA74437}"/>
              </a:ext>
            </a:extLst>
          </p:cNvPr>
          <p:cNvSpPr/>
          <p:nvPr/>
        </p:nvSpPr>
        <p:spPr>
          <a:xfrm>
            <a:off x="5273934" y="467042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04</a:t>
            </a:r>
            <a:endParaRPr lang="en-US" sz="1300" dirty="0"/>
          </a:p>
        </p:txBody>
      </p:sp>
      <p:sp>
        <p:nvSpPr>
          <p:cNvPr id="71" name="Shape 26">
            <a:extLst>
              <a:ext uri="{FF2B5EF4-FFF2-40B4-BE49-F238E27FC236}">
                <a16:creationId xmlns:a16="http://schemas.microsoft.com/office/drawing/2014/main" id="{56F3899D-0437-739E-768D-7C5DD1E75C0B}"/>
              </a:ext>
            </a:extLst>
          </p:cNvPr>
          <p:cNvSpPr/>
          <p:nvPr/>
        </p:nvSpPr>
        <p:spPr>
          <a:xfrm>
            <a:off x="5273934" y="5803900"/>
            <a:ext cx="502920" cy="502920"/>
          </a:xfrm>
          <a:prstGeom prst="ellipse">
            <a:avLst/>
          </a:prstGeom>
          <a:solidFill>
            <a:srgbClr val="EB3FC7"/>
          </a:solidFill>
          <a:ln w="12700">
            <a:solidFill>
              <a:srgbClr val="EB3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27">
            <a:extLst>
              <a:ext uri="{FF2B5EF4-FFF2-40B4-BE49-F238E27FC236}">
                <a16:creationId xmlns:a16="http://schemas.microsoft.com/office/drawing/2014/main" id="{6BEDC694-5958-6A57-1C06-E426FF24669C}"/>
              </a:ext>
            </a:extLst>
          </p:cNvPr>
          <p:cNvSpPr/>
          <p:nvPr/>
        </p:nvSpPr>
        <p:spPr>
          <a:xfrm>
            <a:off x="5273934" y="58039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05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130202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39A2D-8A5C-F886-441F-D81C93A55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BF5EC48B-51FD-C7D8-EF7C-DD2CCA271DB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0" name="Tag">
            <a:extLst>
              <a:ext uri="{FF2B5EF4-FFF2-40B4-BE49-F238E27FC236}">
                <a16:creationId xmlns:a16="http://schemas.microsoft.com/office/drawing/2014/main" id="{5E722746-B633-3623-372B-CE38A9D3A14D}"/>
              </a:ext>
            </a:extLst>
          </p:cNvPr>
          <p:cNvSpPr/>
          <p:nvPr/>
        </p:nvSpPr>
        <p:spPr>
          <a:xfrm>
            <a:off x="508000" y="2540000"/>
            <a:ext cx="11176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8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SECTION TWO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4D7FABE1-4328-0EC6-740C-2AC7259F4893}"/>
              </a:ext>
            </a:extLst>
          </p:cNvPr>
          <p:cNvSpPr/>
          <p:nvPr/>
        </p:nvSpPr>
        <p:spPr>
          <a:xfrm>
            <a:off x="508000" y="2857500"/>
            <a:ext cx="1117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EXEC SUMMARY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6F0996CE-9C83-823A-BBB2-25A11742F6ED}"/>
              </a:ext>
            </a:extLst>
          </p:cNvPr>
          <p:cNvSpPr/>
          <p:nvPr/>
        </p:nvSpPr>
        <p:spPr>
          <a:xfrm>
            <a:off x="1524000" y="4031596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600" dirty="0" err="1">
                <a:solidFill>
                  <a:srgbClr val="CCBB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Xelix</a:t>
            </a:r>
            <a:r>
              <a:rPr lang="en-US" sz="1600" dirty="0">
                <a:solidFill>
                  <a:srgbClr val="CCBB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Goals &amp; KPIs</a:t>
            </a:r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B7432AA8-1121-0672-A98E-CB4556B9ABB6}"/>
              </a:ext>
            </a:extLst>
          </p:cNvPr>
          <p:cNvSpPr/>
          <p:nvPr/>
        </p:nvSpPr>
        <p:spPr>
          <a:xfrm>
            <a:off x="4648200" y="3810000"/>
            <a:ext cx="2895600" cy="381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40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26B84E79-D946-9162-8F48-7EAB3591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rgbClr val="D92398"/>
            </a:solidFill>
          </a:ln>
        </p:spPr>
      </p:pic>
      <p:sp>
        <p:nvSpPr>
          <p:cNvPr id="50" name="Card BG 1"/>
          <p:cNvSpPr/>
          <p:nvPr/>
        </p:nvSpPr>
        <p:spPr>
          <a:xfrm>
            <a:off x="508000" y="1780989"/>
            <a:ext cx="3556000" cy="2153024"/>
          </a:xfrm>
          <a:prstGeom prst="roundRect">
            <a:avLst>
              <a:gd name="adj" fmla="val 6000"/>
            </a:avLst>
          </a:prstGeom>
          <a:noFill/>
          <a:ln>
            <a:solidFill>
              <a:srgbClr val="D9239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Accent 1"/>
          <p:cNvSpPr/>
          <p:nvPr/>
        </p:nvSpPr>
        <p:spPr>
          <a:xfrm>
            <a:off x="736600" y="1984189"/>
            <a:ext cx="508000" cy="51262"/>
          </a:xfrm>
          <a:prstGeom prst="roundRect">
            <a:avLst>
              <a:gd name="adj" fmla="val 50000"/>
            </a:avLst>
          </a:prstGeom>
          <a:solidFill>
            <a:srgbClr val="D9239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 1"/>
          <p:cNvSpPr/>
          <p:nvPr/>
        </p:nvSpPr>
        <p:spPr>
          <a:xfrm>
            <a:off x="736600" y="2187389"/>
            <a:ext cx="3098800" cy="45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92398"/>
                </a:solidFill>
                <a:latin typeface="Barlow Black" pitchFamily="34" charset="0"/>
              </a:rPr>
              <a:t>01  </a:t>
            </a:r>
            <a:r>
              <a:rPr lang="en-US" sz="1600" b="1" dirty="0">
                <a:solidFill>
                  <a:schemeClr val="bg1"/>
                </a:solidFill>
                <a:latin typeface="Barlow Black" pitchFamily="34" charset="0"/>
              </a:rPr>
              <a:t>Feature 1 title</a:t>
            </a:r>
          </a:p>
        </p:txBody>
      </p:sp>
      <p:sp>
        <p:nvSpPr>
          <p:cNvPr id="53" name="Desc 1"/>
          <p:cNvSpPr/>
          <p:nvPr/>
        </p:nvSpPr>
        <p:spPr>
          <a:xfrm>
            <a:off x="736600" y="2796989"/>
            <a:ext cx="3098800" cy="82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TEXT</a:t>
            </a:r>
          </a:p>
        </p:txBody>
      </p:sp>
      <p:sp>
        <p:nvSpPr>
          <p:cNvPr id="54" name="Card BG 2"/>
          <p:cNvSpPr/>
          <p:nvPr/>
        </p:nvSpPr>
        <p:spPr>
          <a:xfrm>
            <a:off x="4318000" y="1780989"/>
            <a:ext cx="3556000" cy="2153024"/>
          </a:xfrm>
          <a:prstGeom prst="roundRect">
            <a:avLst>
              <a:gd name="adj" fmla="val 6000"/>
            </a:avLst>
          </a:prstGeom>
          <a:noFill/>
          <a:ln>
            <a:solidFill>
              <a:srgbClr val="D9239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Accent 2"/>
          <p:cNvSpPr/>
          <p:nvPr/>
        </p:nvSpPr>
        <p:spPr>
          <a:xfrm>
            <a:off x="4546600" y="1984189"/>
            <a:ext cx="508000" cy="51262"/>
          </a:xfrm>
          <a:prstGeom prst="roundRect">
            <a:avLst>
              <a:gd name="adj" fmla="val 50000"/>
            </a:avLst>
          </a:prstGeom>
          <a:solidFill>
            <a:srgbClr val="9243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itle 2"/>
          <p:cNvSpPr/>
          <p:nvPr/>
        </p:nvSpPr>
        <p:spPr>
          <a:xfrm>
            <a:off x="4546600" y="2187389"/>
            <a:ext cx="3098800" cy="45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600" b="1" dirty="0">
                <a:solidFill>
                  <a:srgbClr val="9243F7"/>
                </a:solidFill>
                <a:latin typeface="Barlow Black" pitchFamily="34" charset="0"/>
              </a:rPr>
              <a:t>02  </a:t>
            </a:r>
            <a:r>
              <a:rPr lang="en-US" sz="1600" b="1" dirty="0">
                <a:solidFill>
                  <a:schemeClr val="bg1"/>
                </a:solidFill>
                <a:latin typeface="Barlow Black" pitchFamily="34" charset="0"/>
              </a:rPr>
              <a:t>Feature 2 title</a:t>
            </a:r>
          </a:p>
        </p:txBody>
      </p:sp>
      <p:sp>
        <p:nvSpPr>
          <p:cNvPr id="57" name="Desc 2"/>
          <p:cNvSpPr/>
          <p:nvPr/>
        </p:nvSpPr>
        <p:spPr>
          <a:xfrm>
            <a:off x="4546600" y="2796989"/>
            <a:ext cx="3098800" cy="82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TEXT</a:t>
            </a:r>
          </a:p>
        </p:txBody>
      </p:sp>
      <p:sp>
        <p:nvSpPr>
          <p:cNvPr id="58" name="Card BG 3"/>
          <p:cNvSpPr/>
          <p:nvPr/>
        </p:nvSpPr>
        <p:spPr>
          <a:xfrm>
            <a:off x="8128000" y="1780989"/>
            <a:ext cx="3556000" cy="2153024"/>
          </a:xfrm>
          <a:prstGeom prst="roundRect">
            <a:avLst>
              <a:gd name="adj" fmla="val 6000"/>
            </a:avLst>
          </a:prstGeom>
          <a:noFill/>
          <a:ln>
            <a:solidFill>
              <a:srgbClr val="D9239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Accent 3"/>
          <p:cNvSpPr/>
          <p:nvPr/>
        </p:nvSpPr>
        <p:spPr>
          <a:xfrm>
            <a:off x="8356600" y="1984189"/>
            <a:ext cx="508000" cy="51262"/>
          </a:xfrm>
          <a:prstGeom prst="roundRect">
            <a:avLst>
              <a:gd name="adj" fmla="val 50000"/>
            </a:avLst>
          </a:prstGeom>
          <a:solidFill>
            <a:srgbClr val="006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itle 3"/>
          <p:cNvSpPr/>
          <p:nvPr/>
        </p:nvSpPr>
        <p:spPr>
          <a:xfrm>
            <a:off x="8356600" y="2187389"/>
            <a:ext cx="3098800" cy="45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600" b="1" dirty="0">
                <a:solidFill>
                  <a:srgbClr val="006FFF"/>
                </a:solidFill>
                <a:latin typeface="Barlow Black" pitchFamily="34" charset="0"/>
              </a:rPr>
              <a:t>03  </a:t>
            </a:r>
            <a:r>
              <a:rPr lang="en-US" sz="1600" b="1" dirty="0">
                <a:solidFill>
                  <a:schemeClr val="bg1"/>
                </a:solidFill>
                <a:latin typeface="Barlow Black" pitchFamily="34" charset="0"/>
              </a:rPr>
              <a:t>Feature 3 title</a:t>
            </a:r>
          </a:p>
        </p:txBody>
      </p:sp>
      <p:sp>
        <p:nvSpPr>
          <p:cNvPr id="61" name="Desc 3"/>
          <p:cNvSpPr/>
          <p:nvPr/>
        </p:nvSpPr>
        <p:spPr>
          <a:xfrm>
            <a:off x="8356600" y="2796989"/>
            <a:ext cx="3098800" cy="82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TEXT</a:t>
            </a:r>
          </a:p>
        </p:txBody>
      </p:sp>
      <p:sp>
        <p:nvSpPr>
          <p:cNvPr id="62" name="Card BG 4"/>
          <p:cNvSpPr/>
          <p:nvPr/>
        </p:nvSpPr>
        <p:spPr>
          <a:xfrm>
            <a:off x="508000" y="4074458"/>
            <a:ext cx="3556000" cy="2153024"/>
          </a:xfrm>
          <a:prstGeom prst="roundRect">
            <a:avLst>
              <a:gd name="adj" fmla="val 6000"/>
            </a:avLst>
          </a:prstGeom>
          <a:noFill/>
          <a:ln>
            <a:solidFill>
              <a:srgbClr val="D9239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Accent 4"/>
          <p:cNvSpPr/>
          <p:nvPr/>
        </p:nvSpPr>
        <p:spPr>
          <a:xfrm>
            <a:off x="736600" y="4277658"/>
            <a:ext cx="508000" cy="51262"/>
          </a:xfrm>
          <a:prstGeom prst="roundRect">
            <a:avLst>
              <a:gd name="adj" fmla="val 50000"/>
            </a:avLst>
          </a:prstGeom>
          <a:solidFill>
            <a:srgbClr val="E450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itle 4"/>
          <p:cNvSpPr/>
          <p:nvPr/>
        </p:nvSpPr>
        <p:spPr>
          <a:xfrm>
            <a:off x="736600" y="4480858"/>
            <a:ext cx="3098800" cy="45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600" b="1" dirty="0">
                <a:solidFill>
                  <a:srgbClr val="E450FB"/>
                </a:solidFill>
                <a:latin typeface="Barlow Black" pitchFamily="34" charset="0"/>
              </a:rPr>
              <a:t>04  </a:t>
            </a:r>
            <a:r>
              <a:rPr lang="en-US" sz="1600" b="1" dirty="0">
                <a:solidFill>
                  <a:schemeClr val="bg1"/>
                </a:solidFill>
                <a:latin typeface="Barlow Black" pitchFamily="34" charset="0"/>
              </a:rPr>
              <a:t>Feature 4 title</a:t>
            </a:r>
          </a:p>
        </p:txBody>
      </p:sp>
      <p:sp>
        <p:nvSpPr>
          <p:cNvPr id="65" name="Desc 4"/>
          <p:cNvSpPr/>
          <p:nvPr/>
        </p:nvSpPr>
        <p:spPr>
          <a:xfrm>
            <a:off x="736600" y="5090458"/>
            <a:ext cx="3098800" cy="82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TEXT</a:t>
            </a:r>
          </a:p>
        </p:txBody>
      </p:sp>
      <p:sp>
        <p:nvSpPr>
          <p:cNvPr id="66" name="Card BG 5"/>
          <p:cNvSpPr/>
          <p:nvPr/>
        </p:nvSpPr>
        <p:spPr>
          <a:xfrm>
            <a:off x="4318000" y="4074458"/>
            <a:ext cx="3556000" cy="2153024"/>
          </a:xfrm>
          <a:prstGeom prst="roundRect">
            <a:avLst>
              <a:gd name="adj" fmla="val 6000"/>
            </a:avLst>
          </a:prstGeom>
          <a:noFill/>
          <a:ln>
            <a:solidFill>
              <a:srgbClr val="D9239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Accent 5"/>
          <p:cNvSpPr/>
          <p:nvPr/>
        </p:nvSpPr>
        <p:spPr>
          <a:xfrm>
            <a:off x="4546600" y="4277658"/>
            <a:ext cx="508000" cy="51262"/>
          </a:xfrm>
          <a:prstGeom prst="roundRect">
            <a:avLst>
              <a:gd name="adj" fmla="val 50000"/>
            </a:avLst>
          </a:prstGeom>
          <a:solidFill>
            <a:srgbClr val="D9239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Title 5"/>
          <p:cNvSpPr/>
          <p:nvPr/>
        </p:nvSpPr>
        <p:spPr>
          <a:xfrm>
            <a:off x="4546600" y="4480858"/>
            <a:ext cx="3098800" cy="45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600" b="1" dirty="0">
                <a:solidFill>
                  <a:srgbClr val="D92398"/>
                </a:solidFill>
                <a:latin typeface="Barlow Black" pitchFamily="34" charset="0"/>
              </a:rPr>
              <a:t>05  </a:t>
            </a:r>
            <a:r>
              <a:rPr lang="en-US" sz="1600" b="1" dirty="0">
                <a:solidFill>
                  <a:schemeClr val="bg1"/>
                </a:solidFill>
                <a:latin typeface="Barlow Black" pitchFamily="34" charset="0"/>
              </a:rPr>
              <a:t>Feature 5 title</a:t>
            </a:r>
          </a:p>
        </p:txBody>
      </p:sp>
      <p:sp>
        <p:nvSpPr>
          <p:cNvPr id="69" name="Desc 5"/>
          <p:cNvSpPr/>
          <p:nvPr/>
        </p:nvSpPr>
        <p:spPr>
          <a:xfrm>
            <a:off x="4546600" y="5090458"/>
            <a:ext cx="3098800" cy="82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TEXT</a:t>
            </a:r>
          </a:p>
        </p:txBody>
      </p:sp>
      <p:sp>
        <p:nvSpPr>
          <p:cNvPr id="70" name="Card BG 6"/>
          <p:cNvSpPr/>
          <p:nvPr/>
        </p:nvSpPr>
        <p:spPr>
          <a:xfrm>
            <a:off x="8128000" y="4074458"/>
            <a:ext cx="3556000" cy="2153024"/>
          </a:xfrm>
          <a:prstGeom prst="roundRect">
            <a:avLst>
              <a:gd name="adj" fmla="val 6000"/>
            </a:avLst>
          </a:prstGeom>
          <a:noFill/>
          <a:ln>
            <a:solidFill>
              <a:srgbClr val="D9239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Accent 6"/>
          <p:cNvSpPr/>
          <p:nvPr/>
        </p:nvSpPr>
        <p:spPr>
          <a:xfrm>
            <a:off x="8356600" y="4277658"/>
            <a:ext cx="508000" cy="51262"/>
          </a:xfrm>
          <a:prstGeom prst="roundRect">
            <a:avLst>
              <a:gd name="adj" fmla="val 50000"/>
            </a:avLst>
          </a:prstGeom>
          <a:solidFill>
            <a:srgbClr val="9243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Title 6"/>
          <p:cNvSpPr/>
          <p:nvPr/>
        </p:nvSpPr>
        <p:spPr>
          <a:xfrm>
            <a:off x="8356600" y="4480858"/>
            <a:ext cx="3098800" cy="45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600" b="1" dirty="0">
                <a:solidFill>
                  <a:srgbClr val="9243F7"/>
                </a:solidFill>
                <a:latin typeface="Barlow Black" pitchFamily="34" charset="0"/>
              </a:rPr>
              <a:t>06  </a:t>
            </a:r>
            <a:r>
              <a:rPr lang="en-US" sz="1600" b="1" dirty="0">
                <a:solidFill>
                  <a:schemeClr val="bg1"/>
                </a:solidFill>
                <a:latin typeface="Barlow Black" pitchFamily="34" charset="0"/>
              </a:rPr>
              <a:t>Feature 6 title</a:t>
            </a:r>
          </a:p>
        </p:txBody>
      </p:sp>
      <p:sp>
        <p:nvSpPr>
          <p:cNvPr id="73" name="Desc 6"/>
          <p:cNvSpPr/>
          <p:nvPr/>
        </p:nvSpPr>
        <p:spPr>
          <a:xfrm>
            <a:off x="8356600" y="5090458"/>
            <a:ext cx="3098800" cy="82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TEXT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421ADA16-F3D7-0F30-D194-DD08D071048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9BF2B5-7105-7DF7-1436-F1F52D8D4BAA}"/>
              </a:ext>
            </a:extLst>
          </p:cNvPr>
          <p:cNvSpPr/>
          <p:nvPr/>
        </p:nvSpPr>
        <p:spPr>
          <a:xfrm>
            <a:off x="466344" y="974309"/>
            <a:ext cx="10735056" cy="397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XELIX COMPANY UPDATES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74549CA-CF79-5504-C202-E624D12E7354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700" dirty="0">
                <a:solidFill>
                  <a:srgbClr val="D92398"/>
                </a:solidFill>
                <a:latin typeface="Barlow Black" pitchFamily="34" charset="0"/>
              </a:rPr>
              <a:t>EXEC SUMMARY</a:t>
            </a:r>
          </a:p>
        </p:txBody>
      </p:sp>
    </p:spTree>
    <p:extLst>
      <p:ext uri="{BB962C8B-B14F-4D97-AF65-F5344CB8AC3E}">
        <p14:creationId xmlns:p14="http://schemas.microsoft.com/office/powerpoint/2010/main" val="214594425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B290DF2E-367E-B420-CF94-752A1EDD67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918879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4FEF118C-B7BE-F378-18EE-72ABE643DFE2}"/>
              </a:ext>
            </a:extLst>
          </p:cNvPr>
          <p:cNvSpPr/>
          <p:nvPr/>
        </p:nvSpPr>
        <p:spPr>
          <a:xfrm>
            <a:off x="466344" y="974309"/>
            <a:ext cx="59865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HIGH LEVEL SNAPSHOT</a:t>
            </a:r>
            <a:r>
              <a:rPr lang="en-US" sz="2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 </a:t>
            </a:r>
            <a:endParaRPr lang="en-US" sz="28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49C89EE2-0577-6899-5736-224798BD57F5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spc="700" dirty="0">
                <a:solidFill>
                  <a:srgbClr val="D92398"/>
                </a:solidFill>
                <a:latin typeface="Barlow Black" pitchFamily="34" charset="0"/>
              </a:rPr>
              <a:t>EXEC SUMMARY</a:t>
            </a:r>
          </a:p>
        </p:txBody>
      </p:sp>
      <p:sp>
        <p:nvSpPr>
          <p:cNvPr id="13" name="AccentBar">
            <a:extLst>
              <a:ext uri="{FF2B5EF4-FFF2-40B4-BE49-F238E27FC236}">
                <a16:creationId xmlns:a16="http://schemas.microsoft.com/office/drawing/2014/main" id="{E8335976-7CA7-7D0A-F830-EB568576290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BA2C5ED1-C093-D3B9-CB86-DD5A4EA1D580}"/>
              </a:ext>
            </a:extLst>
          </p:cNvPr>
          <p:cNvSpPr/>
          <p:nvPr/>
        </p:nvSpPr>
        <p:spPr>
          <a:xfrm>
            <a:off x="866775" y="3098803"/>
            <a:ext cx="2654300" cy="2413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BDAFF1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1AE82D9B-282D-758B-47A7-5CE638F74309}"/>
              </a:ext>
            </a:extLst>
          </p:cNvPr>
          <p:cNvSpPr/>
          <p:nvPr/>
        </p:nvSpPr>
        <p:spPr>
          <a:xfrm>
            <a:off x="4768850" y="3098803"/>
            <a:ext cx="2654300" cy="2413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BDAFF1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6F4AABA3-D081-E19F-C825-609660F9A20A}"/>
              </a:ext>
            </a:extLst>
          </p:cNvPr>
          <p:cNvSpPr/>
          <p:nvPr/>
        </p:nvSpPr>
        <p:spPr>
          <a:xfrm>
            <a:off x="8670925" y="3098803"/>
            <a:ext cx="2654300" cy="2413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BDAFF1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8" name="Stat 1">
            <a:extLst>
              <a:ext uri="{FF2B5EF4-FFF2-40B4-BE49-F238E27FC236}">
                <a16:creationId xmlns:a16="http://schemas.microsoft.com/office/drawing/2014/main" id="{9917591D-E89E-061B-5DE1-84AA34C5C7A3}"/>
              </a:ext>
            </a:extLst>
          </p:cNvPr>
          <p:cNvSpPr/>
          <p:nvPr/>
        </p:nvSpPr>
        <p:spPr>
          <a:xfrm>
            <a:off x="871855" y="3276603"/>
            <a:ext cx="2540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D92398"/>
                </a:solidFill>
                <a:latin typeface="Barlow Black" pitchFamily="34" charset="0"/>
              </a:rPr>
              <a:t>XX</a:t>
            </a:r>
          </a:p>
        </p:txBody>
      </p:sp>
      <p:sp>
        <p:nvSpPr>
          <p:cNvPr id="39" name="Label 1">
            <a:extLst>
              <a:ext uri="{FF2B5EF4-FFF2-40B4-BE49-F238E27FC236}">
                <a16:creationId xmlns:a16="http://schemas.microsoft.com/office/drawing/2014/main" id="{F4BD40BC-7A69-B384-44CB-6A59862BC1CF}"/>
              </a:ext>
            </a:extLst>
          </p:cNvPr>
          <p:cNvSpPr/>
          <p:nvPr/>
        </p:nvSpPr>
        <p:spPr>
          <a:xfrm>
            <a:off x="1409700" y="4387859"/>
            <a:ext cx="1568450" cy="8064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kern="0" spc="300" dirty="0">
                <a:solidFill>
                  <a:srgbClr val="CCBBFF"/>
                </a:solidFill>
                <a:latin typeface="Barlow Black" pitchFamily="34" charset="0"/>
              </a:rPr>
              <a:t>MONTHLY ACTIVE USERS</a:t>
            </a:r>
          </a:p>
        </p:txBody>
      </p:sp>
      <p:sp>
        <p:nvSpPr>
          <p:cNvPr id="41" name="Divider 1">
            <a:extLst>
              <a:ext uri="{FF2B5EF4-FFF2-40B4-BE49-F238E27FC236}">
                <a16:creationId xmlns:a16="http://schemas.microsoft.com/office/drawing/2014/main" id="{D2DE6644-3554-E24D-22D3-1DBDE7D38A6D}"/>
              </a:ext>
            </a:extLst>
          </p:cNvPr>
          <p:cNvSpPr/>
          <p:nvPr/>
        </p:nvSpPr>
        <p:spPr>
          <a:xfrm>
            <a:off x="4147820" y="3162303"/>
            <a:ext cx="25400" cy="2286000"/>
          </a:xfrm>
          <a:prstGeom prst="rect">
            <a:avLst/>
          </a:prstGeom>
          <a:solidFill>
            <a:srgbClr val="CCBBFF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64" name="Stat 2">
            <a:extLst>
              <a:ext uri="{FF2B5EF4-FFF2-40B4-BE49-F238E27FC236}">
                <a16:creationId xmlns:a16="http://schemas.microsoft.com/office/drawing/2014/main" id="{DA0BD3D3-F2B5-584A-CA3D-96548F8F4C32}"/>
              </a:ext>
            </a:extLst>
          </p:cNvPr>
          <p:cNvSpPr/>
          <p:nvPr/>
        </p:nvSpPr>
        <p:spPr>
          <a:xfrm>
            <a:off x="4826000" y="3276603"/>
            <a:ext cx="2540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EB3FC7"/>
                </a:solidFill>
                <a:latin typeface="Barlow Black" pitchFamily="34" charset="0"/>
              </a:rPr>
              <a:t>XX</a:t>
            </a:r>
          </a:p>
        </p:txBody>
      </p:sp>
      <p:sp>
        <p:nvSpPr>
          <p:cNvPr id="65" name="Label 2">
            <a:extLst>
              <a:ext uri="{FF2B5EF4-FFF2-40B4-BE49-F238E27FC236}">
                <a16:creationId xmlns:a16="http://schemas.microsoft.com/office/drawing/2014/main" id="{F6C7063F-3C06-2CDD-0DB4-9C3ED7291A5B}"/>
              </a:ext>
            </a:extLst>
          </p:cNvPr>
          <p:cNvSpPr/>
          <p:nvPr/>
        </p:nvSpPr>
        <p:spPr>
          <a:xfrm>
            <a:off x="5235575" y="4387859"/>
            <a:ext cx="1689100" cy="768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kern="0" spc="300" dirty="0">
                <a:solidFill>
                  <a:srgbClr val="CCBBFF"/>
                </a:solidFill>
                <a:latin typeface="Barlow Black" pitchFamily="34" charset="0"/>
              </a:rPr>
              <a:t>AVERAGE WEEKLY USERS</a:t>
            </a:r>
          </a:p>
        </p:txBody>
      </p:sp>
      <p:sp>
        <p:nvSpPr>
          <p:cNvPr id="66" name="Divider 2">
            <a:extLst>
              <a:ext uri="{FF2B5EF4-FFF2-40B4-BE49-F238E27FC236}">
                <a16:creationId xmlns:a16="http://schemas.microsoft.com/office/drawing/2014/main" id="{B97E6905-C2A7-5990-B5B1-19ECE8F17BCA}"/>
              </a:ext>
            </a:extLst>
          </p:cNvPr>
          <p:cNvSpPr/>
          <p:nvPr/>
        </p:nvSpPr>
        <p:spPr>
          <a:xfrm>
            <a:off x="8021637" y="3213106"/>
            <a:ext cx="25400" cy="2286000"/>
          </a:xfrm>
          <a:prstGeom prst="rect">
            <a:avLst/>
          </a:prstGeom>
          <a:solidFill>
            <a:srgbClr val="CCBBFF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67" name="Stat 3">
            <a:extLst>
              <a:ext uri="{FF2B5EF4-FFF2-40B4-BE49-F238E27FC236}">
                <a16:creationId xmlns:a16="http://schemas.microsoft.com/office/drawing/2014/main" id="{4D74EA87-2061-81DE-7C73-BE44884BD50B}"/>
              </a:ext>
            </a:extLst>
          </p:cNvPr>
          <p:cNvSpPr/>
          <p:nvPr/>
        </p:nvSpPr>
        <p:spPr>
          <a:xfrm>
            <a:off x="8728075" y="3276600"/>
            <a:ext cx="2540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9242F7"/>
                </a:solidFill>
                <a:latin typeface="Barlow Black" pitchFamily="34" charset="0"/>
              </a:rPr>
              <a:t>XX</a:t>
            </a:r>
          </a:p>
        </p:txBody>
      </p:sp>
      <p:sp>
        <p:nvSpPr>
          <p:cNvPr id="68" name="Label 3">
            <a:extLst>
              <a:ext uri="{FF2B5EF4-FFF2-40B4-BE49-F238E27FC236}">
                <a16:creationId xmlns:a16="http://schemas.microsoft.com/office/drawing/2014/main" id="{BACDA852-9078-2D97-9712-E26A34575BB8}"/>
              </a:ext>
            </a:extLst>
          </p:cNvPr>
          <p:cNvSpPr/>
          <p:nvPr/>
        </p:nvSpPr>
        <p:spPr>
          <a:xfrm>
            <a:off x="9321800" y="4387856"/>
            <a:ext cx="1352550" cy="889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kern="0" spc="300" dirty="0">
                <a:solidFill>
                  <a:srgbClr val="CCBBFF"/>
                </a:solidFill>
                <a:latin typeface="Barlow Black" pitchFamily="34" charset="0"/>
              </a:rPr>
              <a:t>MOST ACTIVE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600" y="19988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87400" y="21893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£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23900" y="32561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CONFIRMED DUPLICATES</a:t>
            </a:r>
            <a:endParaRPr lang="en-US" sz="1467" dirty="0">
              <a:solidFill>
                <a:srgbClr val="CED1F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381500" y="19988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559300" y="21893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X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495800" y="32561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DUPLICATES AHEAD OF PAYRUN</a:t>
            </a:r>
            <a:endParaRPr lang="en-US" sz="1467" dirty="0">
              <a:solidFill>
                <a:srgbClr val="CED1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66100" y="19988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343900" y="21893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£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280400" y="32561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DUPLICATES AHEAD OF PAYRUN </a:t>
            </a:r>
            <a:endParaRPr lang="en-US" sz="1467" dirty="0">
              <a:solidFill>
                <a:srgbClr val="CED1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41959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87400" y="43864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</a:t>
            </a:r>
          </a:p>
        </p:txBody>
      </p:sp>
      <p:sp>
        <p:nvSpPr>
          <p:cNvPr id="19" name="Text 17"/>
          <p:cNvSpPr/>
          <p:nvPr/>
        </p:nvSpPr>
        <p:spPr>
          <a:xfrm>
            <a:off x="723900" y="54532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CONFIRMED INVOICE ERRORS AHEAD OF PAYRUN</a:t>
            </a:r>
          </a:p>
        </p:txBody>
      </p:sp>
      <p:sp>
        <p:nvSpPr>
          <p:cNvPr id="20" name="Shape 18"/>
          <p:cNvSpPr/>
          <p:nvPr/>
        </p:nvSpPr>
        <p:spPr>
          <a:xfrm>
            <a:off x="4381500" y="41959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4559300" y="43864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</a:t>
            </a:r>
          </a:p>
        </p:txBody>
      </p:sp>
      <p:sp>
        <p:nvSpPr>
          <p:cNvPr id="23" name="Text 21"/>
          <p:cNvSpPr/>
          <p:nvPr/>
        </p:nvSpPr>
        <p:spPr>
          <a:xfrm>
            <a:off x="4495800" y="54532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COMMON ERROR TYPE</a:t>
            </a:r>
          </a:p>
        </p:txBody>
      </p:sp>
      <p:sp>
        <p:nvSpPr>
          <p:cNvPr id="24" name="Shape 22"/>
          <p:cNvSpPr/>
          <p:nvPr/>
        </p:nvSpPr>
        <p:spPr>
          <a:xfrm>
            <a:off x="8166100" y="41959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8343900" y="43864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</a:t>
            </a:r>
          </a:p>
        </p:txBody>
      </p:sp>
      <p:sp>
        <p:nvSpPr>
          <p:cNvPr id="27" name="Text 25"/>
          <p:cNvSpPr/>
          <p:nvPr/>
        </p:nvSpPr>
        <p:spPr>
          <a:xfrm>
            <a:off x="8280400" y="54532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ACTIVE USER ON TRANSACTIONS</a:t>
            </a:r>
          </a:p>
        </p:txBody>
      </p:sp>
      <p:sp>
        <p:nvSpPr>
          <p:cNvPr id="33" name="AccentBar">
            <a:extLst>
              <a:ext uri="{FF2B5EF4-FFF2-40B4-BE49-F238E27FC236}">
                <a16:creationId xmlns:a16="http://schemas.microsoft.com/office/drawing/2014/main" id="{CD4732B4-A7CA-DA6D-4871-5015F425223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0C952927-C906-8E39-C0CF-1DAC50E6D1C3}"/>
              </a:ext>
            </a:extLst>
          </p:cNvPr>
          <p:cNvSpPr/>
          <p:nvPr/>
        </p:nvSpPr>
        <p:spPr>
          <a:xfrm>
            <a:off x="466344" y="974309"/>
            <a:ext cx="10735056" cy="397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HIGH LEVEL SNAPSHOT: TRANSACTIONS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B907C8-E171-5CA1-0657-0FF793298C7A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spc="700" dirty="0">
                <a:solidFill>
                  <a:srgbClr val="D92398"/>
                </a:solidFill>
                <a:latin typeface="Barlow Black" pitchFamily="34" charset="0"/>
              </a:rPr>
              <a:t>EXEC 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B9D73B-66D4-754E-A060-2ED564B1A07E}"/>
              </a:ext>
            </a:extLst>
          </p:cNvPr>
          <p:cNvSpPr/>
          <p:nvPr/>
        </p:nvSpPr>
        <p:spPr>
          <a:xfrm>
            <a:off x="609600" y="4195917"/>
            <a:ext cx="3479800" cy="889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48D894-E957-EF40-BB72-59DB6FA72BB7}"/>
              </a:ext>
            </a:extLst>
          </p:cNvPr>
          <p:cNvSpPr/>
          <p:nvPr/>
        </p:nvSpPr>
        <p:spPr>
          <a:xfrm>
            <a:off x="4381500" y="4195917"/>
            <a:ext cx="3479800" cy="889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7F5C5B-74DA-8C4F-82C4-1510F97D14C0}"/>
              </a:ext>
            </a:extLst>
          </p:cNvPr>
          <p:cNvSpPr/>
          <p:nvPr/>
        </p:nvSpPr>
        <p:spPr>
          <a:xfrm>
            <a:off x="8166100" y="4195917"/>
            <a:ext cx="3479800" cy="889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F5227B-EFDB-E346-90CC-BB072759A987}"/>
              </a:ext>
            </a:extLst>
          </p:cNvPr>
          <p:cNvSpPr/>
          <p:nvPr/>
        </p:nvSpPr>
        <p:spPr>
          <a:xfrm>
            <a:off x="4379250" y="2005167"/>
            <a:ext cx="3479800" cy="889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AD3EC4-B904-7A78-0783-33857EA3908C}"/>
              </a:ext>
            </a:extLst>
          </p:cNvPr>
          <p:cNvSpPr/>
          <p:nvPr/>
        </p:nvSpPr>
        <p:spPr>
          <a:xfrm>
            <a:off x="603250" y="2005167"/>
            <a:ext cx="3479800" cy="889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22D2E3-D471-2BFB-7E8E-B318C7EC92C0}"/>
              </a:ext>
            </a:extLst>
          </p:cNvPr>
          <p:cNvSpPr/>
          <p:nvPr/>
        </p:nvSpPr>
        <p:spPr>
          <a:xfrm>
            <a:off x="8166100" y="1994236"/>
            <a:ext cx="3479800" cy="889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04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4965A-CCBF-15CE-4412-F06470AD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ccentBar">
            <a:extLst>
              <a:ext uri="{FF2B5EF4-FFF2-40B4-BE49-F238E27FC236}">
                <a16:creationId xmlns:a16="http://schemas.microsoft.com/office/drawing/2014/main" id="{069E8B05-DD3B-2E86-3A9D-EADB2E9BB7E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B4E62095-C337-6022-6CDA-DBECE14ABDFF}"/>
              </a:ext>
            </a:extLst>
          </p:cNvPr>
          <p:cNvSpPr/>
          <p:nvPr/>
        </p:nvSpPr>
        <p:spPr>
          <a:xfrm>
            <a:off x="466344" y="974309"/>
            <a:ext cx="10735056" cy="397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HIGH LEVEL SNAPSHOT: HELPDESK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E168C1-3865-63D9-AF93-0868089C2056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spc="700" dirty="0">
                <a:solidFill>
                  <a:srgbClr val="D92398"/>
                </a:solidFill>
                <a:latin typeface="Barlow Black" pitchFamily="34" charset="0"/>
              </a:rPr>
              <a:t>EXEC SUMMARY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D966196-4537-CF70-C6FA-4E1430CD7E72}"/>
              </a:ext>
            </a:extLst>
          </p:cNvPr>
          <p:cNvSpPr/>
          <p:nvPr/>
        </p:nvSpPr>
        <p:spPr>
          <a:xfrm>
            <a:off x="609600" y="19988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653CECF-EE45-EC1E-7A21-885F32228378}"/>
              </a:ext>
            </a:extLst>
          </p:cNvPr>
          <p:cNvSpPr/>
          <p:nvPr/>
        </p:nvSpPr>
        <p:spPr>
          <a:xfrm>
            <a:off x="787400" y="21893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</a:t>
            </a:r>
            <a:endParaRPr lang="en-US" sz="5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3DDEBC0-D71F-BE68-6162-18E2C792C696}"/>
              </a:ext>
            </a:extLst>
          </p:cNvPr>
          <p:cNvSpPr/>
          <p:nvPr/>
        </p:nvSpPr>
        <p:spPr>
          <a:xfrm>
            <a:off x="723900" y="32561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 HANDLING TIME</a:t>
            </a: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424E9895-2D29-7DC5-C957-A3550026BC82}"/>
              </a:ext>
            </a:extLst>
          </p:cNvPr>
          <p:cNvSpPr/>
          <p:nvPr/>
        </p:nvSpPr>
        <p:spPr>
          <a:xfrm>
            <a:off x="4381500" y="19988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D3C47EDB-7CF3-6AC5-6015-60AA22385CB5}"/>
              </a:ext>
            </a:extLst>
          </p:cNvPr>
          <p:cNvSpPr/>
          <p:nvPr/>
        </p:nvSpPr>
        <p:spPr>
          <a:xfrm>
            <a:off x="4559300" y="21893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X%</a:t>
            </a:r>
            <a:endParaRPr lang="en-US" sz="56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7D64F97F-E2E8-C541-B88E-01A86F97B755}"/>
              </a:ext>
            </a:extLst>
          </p:cNvPr>
          <p:cNvSpPr/>
          <p:nvPr/>
        </p:nvSpPr>
        <p:spPr>
          <a:xfrm>
            <a:off x="4495800" y="32561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 HANDLING TIME DECREASE</a:t>
            </a:r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D35BB20E-72C5-CB56-20B4-3DCA94FBA91C}"/>
              </a:ext>
            </a:extLst>
          </p:cNvPr>
          <p:cNvSpPr/>
          <p:nvPr/>
        </p:nvSpPr>
        <p:spPr>
          <a:xfrm>
            <a:off x="8166100" y="19988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BB84ED05-738D-BAA8-8AFF-15869F05A03A}"/>
              </a:ext>
            </a:extLst>
          </p:cNvPr>
          <p:cNvSpPr/>
          <p:nvPr/>
        </p:nvSpPr>
        <p:spPr>
          <a:xfrm>
            <a:off x="8343900" y="21893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X%</a:t>
            </a:r>
            <a:endParaRPr lang="en-US" sz="56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AB8369B7-D429-DC10-EE5F-B32C0B26521C}"/>
              </a:ext>
            </a:extLst>
          </p:cNvPr>
          <p:cNvSpPr/>
          <p:nvPr/>
        </p:nvSpPr>
        <p:spPr>
          <a:xfrm>
            <a:off x="8280400" y="32561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TICKET RESPONDED USING GEN AI</a:t>
            </a: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D730D335-C980-09B8-67E5-9A094940AC5A}"/>
              </a:ext>
            </a:extLst>
          </p:cNvPr>
          <p:cNvSpPr/>
          <p:nvPr/>
        </p:nvSpPr>
        <p:spPr>
          <a:xfrm>
            <a:off x="2171701" y="4235460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2A1BD334-CFB1-747D-24F2-DB8355F4E9E4}"/>
              </a:ext>
            </a:extLst>
          </p:cNvPr>
          <p:cNvSpPr/>
          <p:nvPr/>
        </p:nvSpPr>
        <p:spPr>
          <a:xfrm>
            <a:off x="2349501" y="4425960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X%</a:t>
            </a:r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4D191E37-73A9-6B2A-011C-3BB9518B639A}"/>
              </a:ext>
            </a:extLst>
          </p:cNvPr>
          <p:cNvSpPr/>
          <p:nvPr/>
        </p:nvSpPr>
        <p:spPr>
          <a:xfrm>
            <a:off x="2286001" y="5492760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TICKET RESPONDED USING TRIGGERS</a:t>
            </a:r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1376A49D-2CE0-8A61-F9FD-F0B19D48036C}"/>
              </a:ext>
            </a:extLst>
          </p:cNvPr>
          <p:cNvSpPr/>
          <p:nvPr/>
        </p:nvSpPr>
        <p:spPr>
          <a:xfrm>
            <a:off x="6540500" y="4149698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379F2A2A-A7DE-5852-8C57-82A62DF8FC80}"/>
              </a:ext>
            </a:extLst>
          </p:cNvPr>
          <p:cNvSpPr/>
          <p:nvPr/>
        </p:nvSpPr>
        <p:spPr>
          <a:xfrm>
            <a:off x="6718300" y="4340198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</a:t>
            </a: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CBD5AD03-05D8-E499-4526-60FFC598F32F}"/>
              </a:ext>
            </a:extLst>
          </p:cNvPr>
          <p:cNvSpPr/>
          <p:nvPr/>
        </p:nvSpPr>
        <p:spPr>
          <a:xfrm>
            <a:off x="6654800" y="5406998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ACTIVE USER ON HELPDESK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B89151E-54DE-50D2-6215-7291CA3DF9D7}"/>
              </a:ext>
            </a:extLst>
          </p:cNvPr>
          <p:cNvSpPr/>
          <p:nvPr/>
        </p:nvSpPr>
        <p:spPr>
          <a:xfrm>
            <a:off x="2171701" y="4235460"/>
            <a:ext cx="3479800" cy="88900"/>
          </a:xfrm>
          <a:prstGeom prst="rect">
            <a:avLst/>
          </a:prstGeom>
          <a:solidFill>
            <a:srgbClr val="9241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855915-B2BA-FE37-0AFA-E5143F5B93CB}"/>
              </a:ext>
            </a:extLst>
          </p:cNvPr>
          <p:cNvSpPr/>
          <p:nvPr/>
        </p:nvSpPr>
        <p:spPr>
          <a:xfrm>
            <a:off x="6540500" y="4149698"/>
            <a:ext cx="3479800" cy="88900"/>
          </a:xfrm>
          <a:prstGeom prst="rect">
            <a:avLst/>
          </a:prstGeom>
          <a:solidFill>
            <a:srgbClr val="9241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A2F0360-C345-E121-439B-749F5F13235E}"/>
              </a:ext>
            </a:extLst>
          </p:cNvPr>
          <p:cNvSpPr/>
          <p:nvPr/>
        </p:nvSpPr>
        <p:spPr>
          <a:xfrm>
            <a:off x="4379250" y="2005167"/>
            <a:ext cx="3479800" cy="88900"/>
          </a:xfrm>
          <a:prstGeom prst="rect">
            <a:avLst/>
          </a:prstGeom>
          <a:solidFill>
            <a:srgbClr val="9241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BEB785-281A-555A-E92A-3F0D54A59454}"/>
              </a:ext>
            </a:extLst>
          </p:cNvPr>
          <p:cNvSpPr/>
          <p:nvPr/>
        </p:nvSpPr>
        <p:spPr>
          <a:xfrm>
            <a:off x="603250" y="2005167"/>
            <a:ext cx="3479800" cy="88900"/>
          </a:xfrm>
          <a:prstGeom prst="rect">
            <a:avLst/>
          </a:prstGeom>
          <a:solidFill>
            <a:srgbClr val="9241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6D5E814-C7E4-C97F-F2FC-B9C825216AA7}"/>
              </a:ext>
            </a:extLst>
          </p:cNvPr>
          <p:cNvSpPr/>
          <p:nvPr/>
        </p:nvSpPr>
        <p:spPr>
          <a:xfrm>
            <a:off x="8166100" y="1994236"/>
            <a:ext cx="3479800" cy="88900"/>
          </a:xfrm>
          <a:prstGeom prst="rect">
            <a:avLst/>
          </a:prstGeom>
          <a:solidFill>
            <a:srgbClr val="9241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32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210AD-10C9-D271-DDD4-13060748A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C2ADBEAF-24BB-3731-53AB-1489FD99CD13}"/>
              </a:ext>
            </a:extLst>
          </p:cNvPr>
          <p:cNvSpPr/>
          <p:nvPr/>
        </p:nvSpPr>
        <p:spPr>
          <a:xfrm>
            <a:off x="609600" y="19988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5DD91F1-0545-4313-6FF9-EBAD1D9A9601}"/>
              </a:ext>
            </a:extLst>
          </p:cNvPr>
          <p:cNvSpPr/>
          <p:nvPr/>
        </p:nvSpPr>
        <p:spPr>
          <a:xfrm>
            <a:off x="787400" y="21893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X%</a:t>
            </a:r>
            <a:endParaRPr lang="en-US" sz="5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25DD708-F4B3-428B-4374-529DEEDE5E82}"/>
              </a:ext>
            </a:extLst>
          </p:cNvPr>
          <p:cNvSpPr/>
          <p:nvPr/>
        </p:nvSpPr>
        <p:spPr>
          <a:xfrm>
            <a:off x="723900" y="32561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TOTAL SPEND RECONCILED</a:t>
            </a:r>
            <a:endParaRPr lang="en-US" sz="1467" dirty="0">
              <a:solidFill>
                <a:srgbClr val="CED1FF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E084EAF-050A-FB10-10B2-2308179F882A}"/>
              </a:ext>
            </a:extLst>
          </p:cNvPr>
          <p:cNvSpPr/>
          <p:nvPr/>
        </p:nvSpPr>
        <p:spPr>
          <a:xfrm>
            <a:off x="4381500" y="19988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08D0E67-EAE0-70E4-CE1E-BCE2267C465C}"/>
              </a:ext>
            </a:extLst>
          </p:cNvPr>
          <p:cNvSpPr/>
          <p:nvPr/>
        </p:nvSpPr>
        <p:spPr>
          <a:xfrm>
            <a:off x="4559300" y="21893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X%</a:t>
            </a:r>
            <a:endParaRPr lang="en-US" sz="5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A1FD2CC-86F7-B89F-CBDC-D551EBB5E1F0}"/>
              </a:ext>
            </a:extLst>
          </p:cNvPr>
          <p:cNvSpPr/>
          <p:nvPr/>
        </p:nvSpPr>
        <p:spPr>
          <a:xfrm>
            <a:off x="4495800" y="32561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INVOICES RECONCILED</a:t>
            </a:r>
            <a:endParaRPr lang="en-US" sz="1467" dirty="0">
              <a:solidFill>
                <a:srgbClr val="CED1FF"/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00E6E5C-51B8-4D50-4932-A4613F89A80B}"/>
              </a:ext>
            </a:extLst>
          </p:cNvPr>
          <p:cNvSpPr/>
          <p:nvPr/>
        </p:nvSpPr>
        <p:spPr>
          <a:xfrm>
            <a:off x="8166100" y="1998817"/>
            <a:ext cx="34798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A6CAAFB-BBD2-7860-AD5E-B4E7AC00FE7B}"/>
              </a:ext>
            </a:extLst>
          </p:cNvPr>
          <p:cNvSpPr/>
          <p:nvPr/>
        </p:nvSpPr>
        <p:spPr>
          <a:xfrm>
            <a:off x="8343900" y="2189317"/>
            <a:ext cx="3111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X%</a:t>
            </a:r>
            <a:endParaRPr lang="en-US" sz="5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F1A2C01-FF86-EF25-0753-4F3A1FC21B31}"/>
              </a:ext>
            </a:extLst>
          </p:cNvPr>
          <p:cNvSpPr/>
          <p:nvPr/>
        </p:nvSpPr>
        <p:spPr>
          <a:xfrm>
            <a:off x="8280400" y="3256117"/>
            <a:ext cx="3225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VENDORS RECONCILED</a:t>
            </a:r>
            <a:endParaRPr lang="en-US" sz="1467" dirty="0">
              <a:solidFill>
                <a:srgbClr val="CED1FF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DD69931-E8E6-839B-D8E9-574F5704EC80}"/>
              </a:ext>
            </a:extLst>
          </p:cNvPr>
          <p:cNvSpPr/>
          <p:nvPr/>
        </p:nvSpPr>
        <p:spPr>
          <a:xfrm>
            <a:off x="609600" y="4191000"/>
            <a:ext cx="25400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8DCA8EC-1B90-8B47-4C3B-EF997BF0031D}"/>
              </a:ext>
            </a:extLst>
          </p:cNvPr>
          <p:cNvSpPr/>
          <p:nvPr/>
        </p:nvSpPr>
        <p:spPr>
          <a:xfrm>
            <a:off x="736600" y="4381500"/>
            <a:ext cx="22733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X%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819E5B4-B247-964D-77F4-2FD9858B863D}"/>
              </a:ext>
            </a:extLst>
          </p:cNvPr>
          <p:cNvSpPr/>
          <p:nvPr/>
        </p:nvSpPr>
        <p:spPr>
          <a:xfrm>
            <a:off x="698500" y="5448300"/>
            <a:ext cx="2349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STATEMENTS RECONCILED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251D7EF-1486-907D-8931-4D913FD77419}"/>
              </a:ext>
            </a:extLst>
          </p:cNvPr>
          <p:cNvSpPr/>
          <p:nvPr/>
        </p:nvSpPr>
        <p:spPr>
          <a:xfrm>
            <a:off x="3441700" y="4191000"/>
            <a:ext cx="25400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7C090CE-C5D1-1EE0-94FC-938360954E3C}"/>
              </a:ext>
            </a:extLst>
          </p:cNvPr>
          <p:cNvSpPr/>
          <p:nvPr/>
        </p:nvSpPr>
        <p:spPr>
          <a:xfrm>
            <a:off x="3568700" y="4381500"/>
            <a:ext cx="22733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£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340CC8B-D2DF-243F-83D4-F10A3F541920}"/>
              </a:ext>
            </a:extLst>
          </p:cNvPr>
          <p:cNvSpPr/>
          <p:nvPr/>
        </p:nvSpPr>
        <p:spPr>
          <a:xfrm>
            <a:off x="3530600" y="5448300"/>
            <a:ext cx="2349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MISSING CREDIT NOTES RECOVERED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10AF9F8-6AB5-7059-79D5-5090BCDAE97E}"/>
              </a:ext>
            </a:extLst>
          </p:cNvPr>
          <p:cNvSpPr/>
          <p:nvPr/>
        </p:nvSpPr>
        <p:spPr>
          <a:xfrm>
            <a:off x="6273800" y="4191000"/>
            <a:ext cx="25400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506F716-7721-A3DF-F2C3-8CBDF625162B}"/>
              </a:ext>
            </a:extLst>
          </p:cNvPr>
          <p:cNvSpPr/>
          <p:nvPr/>
        </p:nvSpPr>
        <p:spPr>
          <a:xfrm>
            <a:off x="6400800" y="4381500"/>
            <a:ext cx="22733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X%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E2B5F38-44DF-B2EB-E990-7AD734EA01C8}"/>
              </a:ext>
            </a:extLst>
          </p:cNvPr>
          <p:cNvSpPr/>
          <p:nvPr/>
        </p:nvSpPr>
        <p:spPr>
          <a:xfrm>
            <a:off x="6362700" y="5448300"/>
            <a:ext cx="2349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STATEMENTS ARE AUTOMATED</a:t>
            </a:r>
          </a:p>
        </p:txBody>
      </p:sp>
      <p:sp>
        <p:nvSpPr>
          <p:cNvPr id="33" name="AccentBar">
            <a:extLst>
              <a:ext uri="{FF2B5EF4-FFF2-40B4-BE49-F238E27FC236}">
                <a16:creationId xmlns:a16="http://schemas.microsoft.com/office/drawing/2014/main" id="{DD32A8EF-83C1-2A03-5577-855B706D276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631F8DA0-8FCA-53F6-A20D-621F2E8D8680}"/>
              </a:ext>
            </a:extLst>
          </p:cNvPr>
          <p:cNvSpPr/>
          <p:nvPr/>
        </p:nvSpPr>
        <p:spPr>
          <a:xfrm>
            <a:off x="466344" y="974309"/>
            <a:ext cx="10735056" cy="397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HIGH LEVEL SNAPSHOT: STATEMENTS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0458F6-3B27-975F-D8B3-3F76BED93EA3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spc="700" dirty="0">
                <a:solidFill>
                  <a:srgbClr val="D92398"/>
                </a:solidFill>
                <a:latin typeface="Barlow Black" pitchFamily="34" charset="0"/>
              </a:rPr>
              <a:t>EXEC 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5F1E6B-854A-463D-45FD-91F9E28ED785}"/>
              </a:ext>
            </a:extLst>
          </p:cNvPr>
          <p:cNvSpPr/>
          <p:nvPr/>
        </p:nvSpPr>
        <p:spPr>
          <a:xfrm>
            <a:off x="609600" y="4191000"/>
            <a:ext cx="2540000" cy="88900"/>
          </a:xfrm>
          <a:prstGeom prst="rect">
            <a:avLst/>
          </a:prstGeom>
          <a:solidFill>
            <a:srgbClr val="EB3FC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81BB70-DEFE-0033-3B69-DD7A421B411A}"/>
              </a:ext>
            </a:extLst>
          </p:cNvPr>
          <p:cNvSpPr/>
          <p:nvPr/>
        </p:nvSpPr>
        <p:spPr>
          <a:xfrm>
            <a:off x="3441700" y="4191000"/>
            <a:ext cx="2540000" cy="88900"/>
          </a:xfrm>
          <a:prstGeom prst="rect">
            <a:avLst/>
          </a:prstGeom>
          <a:solidFill>
            <a:srgbClr val="EB3FC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09F046-428B-19AD-015F-8E0F7F506B33}"/>
              </a:ext>
            </a:extLst>
          </p:cNvPr>
          <p:cNvSpPr/>
          <p:nvPr/>
        </p:nvSpPr>
        <p:spPr>
          <a:xfrm>
            <a:off x="6273800" y="4191000"/>
            <a:ext cx="2540000" cy="88900"/>
          </a:xfrm>
          <a:prstGeom prst="rect">
            <a:avLst/>
          </a:prstGeom>
          <a:solidFill>
            <a:srgbClr val="EB3FC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CBE9C3-0732-EC11-F6CC-334765B4FDA1}"/>
              </a:ext>
            </a:extLst>
          </p:cNvPr>
          <p:cNvSpPr/>
          <p:nvPr/>
        </p:nvSpPr>
        <p:spPr>
          <a:xfrm>
            <a:off x="4379250" y="2005167"/>
            <a:ext cx="3479800" cy="88900"/>
          </a:xfrm>
          <a:prstGeom prst="rect">
            <a:avLst/>
          </a:prstGeom>
          <a:solidFill>
            <a:srgbClr val="EB3FC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0B1993-88CE-4648-32CE-BC9A0ADBC97E}"/>
              </a:ext>
            </a:extLst>
          </p:cNvPr>
          <p:cNvSpPr/>
          <p:nvPr/>
        </p:nvSpPr>
        <p:spPr>
          <a:xfrm>
            <a:off x="603250" y="2005167"/>
            <a:ext cx="3479800" cy="88900"/>
          </a:xfrm>
          <a:prstGeom prst="rect">
            <a:avLst/>
          </a:prstGeom>
          <a:solidFill>
            <a:srgbClr val="EB3FC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5BC639-1469-7652-9CBA-671A901D31BE}"/>
              </a:ext>
            </a:extLst>
          </p:cNvPr>
          <p:cNvSpPr/>
          <p:nvPr/>
        </p:nvSpPr>
        <p:spPr>
          <a:xfrm>
            <a:off x="8166100" y="1994236"/>
            <a:ext cx="3479800" cy="88900"/>
          </a:xfrm>
          <a:prstGeom prst="rect">
            <a:avLst/>
          </a:prstGeom>
          <a:solidFill>
            <a:srgbClr val="EB3FC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Shape 22">
            <a:extLst>
              <a:ext uri="{FF2B5EF4-FFF2-40B4-BE49-F238E27FC236}">
                <a16:creationId xmlns:a16="http://schemas.microsoft.com/office/drawing/2014/main" id="{98E25BDA-42CA-D44C-6410-4336677B6DD7}"/>
              </a:ext>
            </a:extLst>
          </p:cNvPr>
          <p:cNvSpPr/>
          <p:nvPr/>
        </p:nvSpPr>
        <p:spPr>
          <a:xfrm>
            <a:off x="9105900" y="4191000"/>
            <a:ext cx="2540000" cy="1955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24">
            <a:extLst>
              <a:ext uri="{FF2B5EF4-FFF2-40B4-BE49-F238E27FC236}">
                <a16:creationId xmlns:a16="http://schemas.microsoft.com/office/drawing/2014/main" id="{69AF77E8-780C-C21A-32A0-A89A93453640}"/>
              </a:ext>
            </a:extLst>
          </p:cNvPr>
          <p:cNvSpPr/>
          <p:nvPr/>
        </p:nvSpPr>
        <p:spPr>
          <a:xfrm>
            <a:off x="9232900" y="4381500"/>
            <a:ext cx="22733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600" b="1" dirty="0">
                <a:solidFill>
                  <a:srgbClr val="FFFFFF"/>
                </a:solidFill>
                <a:latin typeface="Barlow" pitchFamily="34" charset="0"/>
              </a:rPr>
              <a:t>X</a:t>
            </a:r>
          </a:p>
        </p:txBody>
      </p:sp>
      <p:sp>
        <p:nvSpPr>
          <p:cNvPr id="13" name="Text 25">
            <a:extLst>
              <a:ext uri="{FF2B5EF4-FFF2-40B4-BE49-F238E27FC236}">
                <a16:creationId xmlns:a16="http://schemas.microsoft.com/office/drawing/2014/main" id="{F8F53E0B-B3FD-B3D8-CC2B-9D5BB27C789E}"/>
              </a:ext>
            </a:extLst>
          </p:cNvPr>
          <p:cNvSpPr/>
          <p:nvPr/>
        </p:nvSpPr>
        <p:spPr>
          <a:xfrm>
            <a:off x="9194800" y="5448300"/>
            <a:ext cx="2349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ACTIVE USER ON STATEMENTS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748C08-D21E-54F5-4760-0C02C48064CC}"/>
              </a:ext>
            </a:extLst>
          </p:cNvPr>
          <p:cNvSpPr/>
          <p:nvPr/>
        </p:nvSpPr>
        <p:spPr>
          <a:xfrm>
            <a:off x="9105900" y="4191000"/>
            <a:ext cx="2540000" cy="88900"/>
          </a:xfrm>
          <a:prstGeom prst="rect">
            <a:avLst/>
          </a:prstGeom>
          <a:solidFill>
            <a:srgbClr val="EB3FC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07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9405F-00DA-2BB4-4EBD-CCAF15751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312EB5C9-9A54-7E9C-5CD3-999886944CBF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0" name="Tag">
            <a:extLst>
              <a:ext uri="{FF2B5EF4-FFF2-40B4-BE49-F238E27FC236}">
                <a16:creationId xmlns:a16="http://schemas.microsoft.com/office/drawing/2014/main" id="{1DCBFB86-C87D-63A6-E9CD-B716D6A6E9F7}"/>
              </a:ext>
            </a:extLst>
          </p:cNvPr>
          <p:cNvSpPr/>
          <p:nvPr/>
        </p:nvSpPr>
        <p:spPr>
          <a:xfrm>
            <a:off x="508000" y="2540000"/>
            <a:ext cx="11176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8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SECTION 3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CCC27E9D-43BB-0723-1FCC-07775921E6FE}"/>
              </a:ext>
            </a:extLst>
          </p:cNvPr>
          <p:cNvSpPr/>
          <p:nvPr/>
        </p:nvSpPr>
        <p:spPr>
          <a:xfrm>
            <a:off x="508000" y="2857500"/>
            <a:ext cx="1117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TRANSACTIONS</a:t>
            </a:r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A71E5F34-B544-A660-CD92-8F48429774CA}"/>
              </a:ext>
            </a:extLst>
          </p:cNvPr>
          <p:cNvSpPr/>
          <p:nvPr/>
        </p:nvSpPr>
        <p:spPr>
          <a:xfrm>
            <a:off x="4648200" y="3810000"/>
            <a:ext cx="2895600" cy="381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08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1E626-26D1-564B-9D54-74B41E4CCF32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503B65-82AC-544F-8D55-D4C2A66449B6}"/>
              </a:ext>
            </a:extLst>
          </p:cNvPr>
          <p:cNvSpPr txBox="1"/>
          <p:nvPr/>
        </p:nvSpPr>
        <p:spPr>
          <a:xfrm>
            <a:off x="508000" y="495300"/>
            <a:ext cx="36576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TRANSACTIONS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A3292-CF3A-DF4F-8819-29B2412643B0}"/>
              </a:ext>
            </a:extLst>
          </p:cNvPr>
          <p:cNvSpPr txBox="1"/>
          <p:nvPr/>
        </p:nvSpPr>
        <p:spPr>
          <a:xfrm>
            <a:off x="469900" y="977900"/>
            <a:ext cx="107315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VALUE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066808-40D6-5F4D-8BCA-55427C062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851978"/>
              </p:ext>
            </p:extLst>
          </p:nvPr>
        </p:nvGraphicFramePr>
        <p:xfrm>
          <a:off x="508000" y="1820564"/>
          <a:ext cx="11176000" cy="4407714"/>
        </p:xfrm>
        <a:graphic>
          <a:graphicData uri="http://schemas.openxmlformats.org/drawingml/2006/table">
            <a:tbl>
              <a:tblPr firstRow="1" bandRow="1">
                <a:tableStyleId>{D5BCAB09-D571-4314-BB93-0DD3BD3F9BFD}</a:tableStyleId>
              </a:tblPr>
              <a:tblGrid>
                <a:gridCol w="2720392">
                  <a:extLst>
                    <a:ext uri="{9D8B030D-6E8A-4147-A177-3AD203B41FA5}">
                      <a16:colId xmlns:a16="http://schemas.microsoft.com/office/drawing/2014/main" val="3908832254"/>
                    </a:ext>
                  </a:extLst>
                </a:gridCol>
                <a:gridCol w="4012163">
                  <a:extLst>
                    <a:ext uri="{9D8B030D-6E8A-4147-A177-3AD203B41FA5}">
                      <a16:colId xmlns:a16="http://schemas.microsoft.com/office/drawing/2014/main" val="526657767"/>
                    </a:ext>
                  </a:extLst>
                </a:gridCol>
                <a:gridCol w="2183363">
                  <a:extLst>
                    <a:ext uri="{9D8B030D-6E8A-4147-A177-3AD203B41FA5}">
                      <a16:colId xmlns:a16="http://schemas.microsoft.com/office/drawing/2014/main" val="1699126102"/>
                    </a:ext>
                  </a:extLst>
                </a:gridCol>
                <a:gridCol w="1156996">
                  <a:extLst>
                    <a:ext uri="{9D8B030D-6E8A-4147-A177-3AD203B41FA5}">
                      <a16:colId xmlns:a16="http://schemas.microsoft.com/office/drawing/2014/main" val="125966804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906799864"/>
                    </a:ext>
                  </a:extLst>
                </a:gridCol>
              </a:tblGrid>
              <a:tr h="62259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KPIs to track this goal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Current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296227"/>
                  </a:ext>
                </a:extLst>
              </a:tr>
              <a:tr h="757023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Increase Statement reconciliation coverage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FFFFF"/>
                          </a:solidFill>
                          <a:latin typeface="Barlow"/>
                        </a:rPr>
                        <a:t>Reduction in audit resource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Barlow"/>
                        </a:rPr>
                        <a:t>XX%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395726"/>
                  </a:ext>
                </a:extLst>
              </a:tr>
              <a:tr h="757023">
                <a:tc vMerge="1">
                  <a:txBody>
                    <a:bodyPr/>
                    <a:lstStyle/>
                    <a:p>
                      <a:pPr algn="l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FFFFF"/>
                          </a:solidFill>
                          <a:latin typeface="Barlow"/>
                        </a:rPr>
                        <a:t>Prevented in overpayments in first year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Barlow"/>
                        </a:rPr>
                        <a:t>XX%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758308"/>
                  </a:ext>
                </a:extLst>
              </a:tr>
              <a:tr h="757023">
                <a:tc vMerge="1"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FFFFF"/>
                          </a:solidFill>
                          <a:latin typeface="Barlow"/>
                        </a:rPr>
                        <a:t>More cost effective than recovery audit firm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Barlow"/>
                        </a:rPr>
                        <a:t>XX%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229736"/>
                  </a:ext>
                </a:extLst>
              </a:tr>
              <a:tr h="757023">
                <a:tc rowSpan="2"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Improve payment on time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FFFFFF"/>
                          </a:solidFill>
                          <a:latin typeface="Barlow"/>
                        </a:rPr>
                        <a:t>Value of duplicates recovered from Xelix historical audit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/>
                        </a:rPr>
                        <a:t>£XXXX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456973"/>
                  </a:ext>
                </a:extLst>
              </a:tr>
              <a:tr h="757023">
                <a:tc vMerge="1"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FFFFFF"/>
                          </a:solidFill>
                          <a:latin typeface="Barlow"/>
                        </a:rPr>
                        <a:t>Value of invoice errors recovered from Xelix historic audit (Amount, Tax &amp; Vendor)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/>
                        </a:rPr>
                        <a:t>£XXXX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537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387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6F39C-4AF5-1FE3-DBAE-30F5E2970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2452E1BF-1496-95FC-C73C-B408A58F2F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20131" y="25400"/>
            <a:ext cx="47718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ccentBar">
            <a:extLst>
              <a:ext uri="{FF2B5EF4-FFF2-40B4-BE49-F238E27FC236}">
                <a16:creationId xmlns:a16="http://schemas.microsoft.com/office/drawing/2014/main" id="{DC449698-1CFF-002E-6567-4BEBE4E0E8B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>
            <a:extLst>
              <a:ext uri="{FF2B5EF4-FFF2-40B4-BE49-F238E27FC236}">
                <a16:creationId xmlns:a16="http://schemas.microsoft.com/office/drawing/2014/main" id="{1F228464-9FB5-5E8E-B151-EA736E346D2E}"/>
              </a:ext>
            </a:extLst>
          </p:cNvPr>
          <p:cNvSpPr/>
          <p:nvPr/>
        </p:nvSpPr>
        <p:spPr>
          <a:xfrm>
            <a:off x="260000" y="702452"/>
            <a:ext cx="6912131" cy="5557606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F70AE16A-8368-6A59-472B-65121BFCA33C}"/>
              </a:ext>
            </a:extLst>
          </p:cNvPr>
          <p:cNvSpPr/>
          <p:nvPr/>
        </p:nvSpPr>
        <p:spPr>
          <a:xfrm>
            <a:off x="7928131" y="702452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TRANSACTIONS</a:t>
            </a:r>
          </a:p>
        </p:txBody>
      </p:sp>
      <p:sp>
        <p:nvSpPr>
          <p:cNvPr id="12" name="CaptionTitle">
            <a:extLst>
              <a:ext uri="{FF2B5EF4-FFF2-40B4-BE49-F238E27FC236}">
                <a16:creationId xmlns:a16="http://schemas.microsoft.com/office/drawing/2014/main" id="{1FEF0EEB-65AD-DD0C-98D3-8A33448736C1}"/>
              </a:ext>
            </a:extLst>
          </p:cNvPr>
          <p:cNvSpPr/>
          <p:nvPr/>
        </p:nvSpPr>
        <p:spPr>
          <a:xfrm>
            <a:off x="7928131" y="981852"/>
            <a:ext cx="3511200" cy="26197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800" b="1" dirty="0">
                <a:solidFill>
                  <a:srgbClr val="BDAFF1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Year-to-date figures indicate an increase in duplicate invoices</a:t>
            </a:r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94596FE6-59FE-FB07-34DD-16BA7B4CE6CA}"/>
              </a:ext>
            </a:extLst>
          </p:cNvPr>
          <p:cNvSpPr/>
          <p:nvPr/>
        </p:nvSpPr>
        <p:spPr>
          <a:xfrm>
            <a:off x="7924800" y="3365761"/>
            <a:ext cx="3759200" cy="926322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D7A04962-C5B7-82BC-DEA5-D38F01FA57B5}"/>
              </a:ext>
            </a:extLst>
          </p:cNvPr>
          <p:cNvSpPr/>
          <p:nvPr/>
        </p:nvSpPr>
        <p:spPr>
          <a:xfrm>
            <a:off x="8051800" y="3467361"/>
            <a:ext cx="3505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arlow" pitchFamily="34" charset="0"/>
              </a:rPr>
              <a:t>X</a:t>
            </a:r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6A4B74B-428A-CE1D-D12D-2F2792216359}"/>
              </a:ext>
            </a:extLst>
          </p:cNvPr>
          <p:cNvSpPr/>
          <p:nvPr/>
        </p:nvSpPr>
        <p:spPr>
          <a:xfrm>
            <a:off x="8013700" y="3961883"/>
            <a:ext cx="358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Duplicate invoices confirmed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2674A3-594B-4B06-B2C2-E44BCA83B670}"/>
              </a:ext>
            </a:extLst>
          </p:cNvPr>
          <p:cNvSpPr/>
          <p:nvPr/>
        </p:nvSpPr>
        <p:spPr>
          <a:xfrm>
            <a:off x="7924800" y="3365761"/>
            <a:ext cx="3759200" cy="889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131CF4AC-4FC6-D1A8-1370-4109B8D343E7}"/>
              </a:ext>
            </a:extLst>
          </p:cNvPr>
          <p:cNvSpPr/>
          <p:nvPr/>
        </p:nvSpPr>
        <p:spPr>
          <a:xfrm>
            <a:off x="7924800" y="4438780"/>
            <a:ext cx="3759200" cy="926322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2E84C068-5B30-4181-A407-7AA164CF89DF}"/>
              </a:ext>
            </a:extLst>
          </p:cNvPr>
          <p:cNvSpPr/>
          <p:nvPr/>
        </p:nvSpPr>
        <p:spPr>
          <a:xfrm>
            <a:off x="8051800" y="4540380"/>
            <a:ext cx="3505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arlow" pitchFamily="34" charset="0"/>
              </a:rPr>
              <a:t>£</a:t>
            </a: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5AFBE7B8-9868-CAD0-61D8-0158C8194574}"/>
              </a:ext>
            </a:extLst>
          </p:cNvPr>
          <p:cNvSpPr/>
          <p:nvPr/>
        </p:nvSpPr>
        <p:spPr>
          <a:xfrm>
            <a:off x="8013700" y="5034902"/>
            <a:ext cx="358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Worth of duplicate invoices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2B7D58-181F-19DC-FAF3-312B4F3A2C17}"/>
              </a:ext>
            </a:extLst>
          </p:cNvPr>
          <p:cNvSpPr/>
          <p:nvPr/>
        </p:nvSpPr>
        <p:spPr>
          <a:xfrm>
            <a:off x="7924800" y="4438780"/>
            <a:ext cx="3759200" cy="889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28BC7A0-CAFB-30BD-38B5-1892DB2F37E6}"/>
              </a:ext>
            </a:extLst>
          </p:cNvPr>
          <p:cNvSpPr/>
          <p:nvPr/>
        </p:nvSpPr>
        <p:spPr>
          <a:xfrm>
            <a:off x="7924800" y="5511800"/>
            <a:ext cx="3759200" cy="926322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AC9319FA-9F23-A92F-6705-11708CF52E3E}"/>
              </a:ext>
            </a:extLst>
          </p:cNvPr>
          <p:cNvSpPr/>
          <p:nvPr/>
        </p:nvSpPr>
        <p:spPr>
          <a:xfrm>
            <a:off x="8051800" y="5613400"/>
            <a:ext cx="3505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arlow" pitchFamily="34" charset="0"/>
              </a:rPr>
              <a:t>X%</a:t>
            </a: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B7EC63E9-01C7-7826-5755-424C31B567BE}"/>
              </a:ext>
            </a:extLst>
          </p:cNvPr>
          <p:cNvSpPr/>
          <p:nvPr/>
        </p:nvSpPr>
        <p:spPr>
          <a:xfrm>
            <a:off x="8013700" y="6107922"/>
            <a:ext cx="358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Increase from last quarter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A3BAED-A622-4C22-7F65-716BE6FFF0BB}"/>
              </a:ext>
            </a:extLst>
          </p:cNvPr>
          <p:cNvSpPr/>
          <p:nvPr/>
        </p:nvSpPr>
        <p:spPr>
          <a:xfrm>
            <a:off x="7924800" y="5511800"/>
            <a:ext cx="3759200" cy="889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86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/>
          <p:cNvSpPr/>
          <p:nvPr/>
        </p:nvSpPr>
        <p:spPr>
          <a:xfrm>
            <a:off x="508000" y="702452"/>
            <a:ext cx="11176000" cy="4451632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/>
          <p:cNvSpPr/>
          <p:nvPr/>
        </p:nvSpPr>
        <p:spPr>
          <a:xfrm>
            <a:off x="508000" y="5510742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TRANSACTIONS</a:t>
            </a:r>
          </a:p>
        </p:txBody>
      </p:sp>
      <p:sp>
        <p:nvSpPr>
          <p:cNvPr id="12" name="CaptionTitle"/>
          <p:cNvSpPr/>
          <p:nvPr/>
        </p:nvSpPr>
        <p:spPr>
          <a:xfrm>
            <a:off x="507999" y="5790142"/>
            <a:ext cx="10576767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Uncovering the root causes behind duplicate invoices</a:t>
            </a:r>
          </a:p>
        </p:txBody>
      </p:sp>
    </p:spTree>
    <p:extLst>
      <p:ext uri="{BB962C8B-B14F-4D97-AF65-F5344CB8AC3E}">
        <p14:creationId xmlns:p14="http://schemas.microsoft.com/office/powerpoint/2010/main" val="969566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810C1-DC7B-59E1-500B-958019E2A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E5B77AA1-887D-107E-F782-F3F984A62A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20131" y="25400"/>
            <a:ext cx="47718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ccentBar">
            <a:extLst>
              <a:ext uri="{FF2B5EF4-FFF2-40B4-BE49-F238E27FC236}">
                <a16:creationId xmlns:a16="http://schemas.microsoft.com/office/drawing/2014/main" id="{22CFFFB2-2DA8-1BA5-3DB5-37BA03D8BD4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>
            <a:extLst>
              <a:ext uri="{FF2B5EF4-FFF2-40B4-BE49-F238E27FC236}">
                <a16:creationId xmlns:a16="http://schemas.microsoft.com/office/drawing/2014/main" id="{78226F9F-7C44-CB4B-0941-5792081F6EDB}"/>
              </a:ext>
            </a:extLst>
          </p:cNvPr>
          <p:cNvSpPr/>
          <p:nvPr/>
        </p:nvSpPr>
        <p:spPr>
          <a:xfrm>
            <a:off x="260000" y="702452"/>
            <a:ext cx="6912131" cy="5557606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7F06DA6D-30F1-4018-ECE5-2DC095819F52}"/>
              </a:ext>
            </a:extLst>
          </p:cNvPr>
          <p:cNvSpPr/>
          <p:nvPr/>
        </p:nvSpPr>
        <p:spPr>
          <a:xfrm>
            <a:off x="7928131" y="702452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TRANSACTIONS</a:t>
            </a:r>
          </a:p>
        </p:txBody>
      </p:sp>
      <p:sp>
        <p:nvSpPr>
          <p:cNvPr id="13" name="CaptionTitle">
            <a:extLst>
              <a:ext uri="{FF2B5EF4-FFF2-40B4-BE49-F238E27FC236}">
                <a16:creationId xmlns:a16="http://schemas.microsoft.com/office/drawing/2014/main" id="{4F702680-3963-9C93-8519-157C4152DF54}"/>
              </a:ext>
            </a:extLst>
          </p:cNvPr>
          <p:cNvSpPr/>
          <p:nvPr/>
        </p:nvSpPr>
        <p:spPr>
          <a:xfrm>
            <a:off x="7928131" y="981852"/>
            <a:ext cx="3511200" cy="26197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800" b="1" dirty="0">
                <a:solidFill>
                  <a:srgbClr val="BDAFF1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X detected ahead of the payment run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7AC28A3-39C0-8B0D-C68B-9154F9522B57}"/>
              </a:ext>
            </a:extLst>
          </p:cNvPr>
          <p:cNvSpPr/>
          <p:nvPr/>
        </p:nvSpPr>
        <p:spPr>
          <a:xfrm>
            <a:off x="8013700" y="3961883"/>
            <a:ext cx="358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 Payment, correction done before the payment run</a:t>
            </a: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F3BC1206-299D-05B3-CFE9-5DA2772AB545}"/>
              </a:ext>
            </a:extLst>
          </p:cNvPr>
          <p:cNvSpPr/>
          <p:nvPr/>
        </p:nvSpPr>
        <p:spPr>
          <a:xfrm>
            <a:off x="7924800" y="4625390"/>
            <a:ext cx="3759200" cy="1530158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2FB96265-2F85-CB49-12CD-6C32AF1BEEFD}"/>
              </a:ext>
            </a:extLst>
          </p:cNvPr>
          <p:cNvSpPr/>
          <p:nvPr/>
        </p:nvSpPr>
        <p:spPr>
          <a:xfrm>
            <a:off x="8051800" y="4764311"/>
            <a:ext cx="3505200" cy="71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arlow" pitchFamily="34" charset="0"/>
              </a:rPr>
              <a:t>X RECOVERED </a:t>
            </a: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31532782-15C4-089A-EB04-AD1DC0C6A367}"/>
              </a:ext>
            </a:extLst>
          </p:cNvPr>
          <p:cNvSpPr/>
          <p:nvPr/>
        </p:nvSpPr>
        <p:spPr>
          <a:xfrm>
            <a:off x="8013700" y="5538750"/>
            <a:ext cx="3581400" cy="335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 Payment, recovered</a:t>
            </a:r>
          </a:p>
          <a:p>
            <a:pPr algn="ctr"/>
            <a:r>
              <a:rPr lang="en-US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payment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B3473A-4FC2-5DC5-B5E0-A1FA37B635C7}"/>
              </a:ext>
            </a:extLst>
          </p:cNvPr>
          <p:cNvSpPr/>
          <p:nvPr/>
        </p:nvSpPr>
        <p:spPr>
          <a:xfrm>
            <a:off x="7924800" y="4625389"/>
            <a:ext cx="3759200" cy="146851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7EAB9FE3-BD5B-1A6D-194A-E55071BAE569}"/>
              </a:ext>
            </a:extLst>
          </p:cNvPr>
          <p:cNvSpPr/>
          <p:nvPr/>
        </p:nvSpPr>
        <p:spPr>
          <a:xfrm>
            <a:off x="7924800" y="2885781"/>
            <a:ext cx="3759200" cy="1530158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C46DC005-CB8B-58A7-8633-ACB67ACD8FED}"/>
              </a:ext>
            </a:extLst>
          </p:cNvPr>
          <p:cNvSpPr/>
          <p:nvPr/>
        </p:nvSpPr>
        <p:spPr>
          <a:xfrm>
            <a:off x="8051800" y="3024702"/>
            <a:ext cx="3505200" cy="71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arlow" pitchFamily="34" charset="0"/>
              </a:rPr>
              <a:t>X CORRECTED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3A4092-8006-70C7-938C-7A753846B3BD}"/>
              </a:ext>
            </a:extLst>
          </p:cNvPr>
          <p:cNvSpPr/>
          <p:nvPr/>
        </p:nvSpPr>
        <p:spPr>
          <a:xfrm>
            <a:off x="7924800" y="2885780"/>
            <a:ext cx="3759200" cy="146851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00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ED23B-F103-4EBE-AAA8-7CF5D7A56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CBE648C6-EB7E-738C-9130-B7E12B0B90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20131" y="25400"/>
            <a:ext cx="47718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ccentBar">
            <a:extLst>
              <a:ext uri="{FF2B5EF4-FFF2-40B4-BE49-F238E27FC236}">
                <a16:creationId xmlns:a16="http://schemas.microsoft.com/office/drawing/2014/main" id="{1D20EBA3-E6C3-48B6-294A-57A61F51331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>
            <a:extLst>
              <a:ext uri="{FF2B5EF4-FFF2-40B4-BE49-F238E27FC236}">
                <a16:creationId xmlns:a16="http://schemas.microsoft.com/office/drawing/2014/main" id="{300C2314-3CE0-B5F2-432F-D93B4E5E1FDC}"/>
              </a:ext>
            </a:extLst>
          </p:cNvPr>
          <p:cNvSpPr/>
          <p:nvPr/>
        </p:nvSpPr>
        <p:spPr>
          <a:xfrm>
            <a:off x="260000" y="702452"/>
            <a:ext cx="6912131" cy="5557606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B883780B-517D-0612-4C70-41AFBC7A914B}"/>
              </a:ext>
            </a:extLst>
          </p:cNvPr>
          <p:cNvSpPr/>
          <p:nvPr/>
        </p:nvSpPr>
        <p:spPr>
          <a:xfrm>
            <a:off x="7928131" y="702452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TRANSACTIONS</a:t>
            </a:r>
          </a:p>
        </p:txBody>
      </p:sp>
      <p:sp>
        <p:nvSpPr>
          <p:cNvPr id="4" name="CaptionTitle">
            <a:extLst>
              <a:ext uri="{FF2B5EF4-FFF2-40B4-BE49-F238E27FC236}">
                <a16:creationId xmlns:a16="http://schemas.microsoft.com/office/drawing/2014/main" id="{5D1EFD21-0978-03CE-6BA4-49854F90FED4}"/>
              </a:ext>
            </a:extLst>
          </p:cNvPr>
          <p:cNvSpPr/>
          <p:nvPr/>
        </p:nvSpPr>
        <p:spPr>
          <a:xfrm>
            <a:off x="7928131" y="981852"/>
            <a:ext cx="3511200" cy="26197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800" b="1" dirty="0">
                <a:solidFill>
                  <a:srgbClr val="BDAFF1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Small increase in confirmed errors</a:t>
            </a:r>
          </a:p>
        </p:txBody>
      </p:sp>
      <p:sp>
        <p:nvSpPr>
          <p:cNvPr id="5" name="Shape 14">
            <a:extLst>
              <a:ext uri="{FF2B5EF4-FFF2-40B4-BE49-F238E27FC236}">
                <a16:creationId xmlns:a16="http://schemas.microsoft.com/office/drawing/2014/main" id="{07328B3E-178C-A5A2-B1F9-8E612042442A}"/>
              </a:ext>
            </a:extLst>
          </p:cNvPr>
          <p:cNvSpPr/>
          <p:nvPr/>
        </p:nvSpPr>
        <p:spPr>
          <a:xfrm>
            <a:off x="7924800" y="4625390"/>
            <a:ext cx="3759200" cy="1530158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80CFBC30-605D-9276-252D-5675AA3A168B}"/>
              </a:ext>
            </a:extLst>
          </p:cNvPr>
          <p:cNvSpPr/>
          <p:nvPr/>
        </p:nvSpPr>
        <p:spPr>
          <a:xfrm>
            <a:off x="8051800" y="4764311"/>
            <a:ext cx="3505200" cy="71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arlow" pitchFamily="34" charset="0"/>
              </a:rPr>
              <a:t>x</a:t>
            </a:r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132644D4-B84E-6E8D-70E5-5514E0D3208D}"/>
              </a:ext>
            </a:extLst>
          </p:cNvPr>
          <p:cNvSpPr/>
          <p:nvPr/>
        </p:nvSpPr>
        <p:spPr>
          <a:xfrm>
            <a:off x="8013700" y="5538750"/>
            <a:ext cx="3581400" cy="335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CCCC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Invoice errors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C99C1B-A451-2062-B36E-F97AFC4100F8}"/>
              </a:ext>
            </a:extLst>
          </p:cNvPr>
          <p:cNvSpPr/>
          <p:nvPr/>
        </p:nvSpPr>
        <p:spPr>
          <a:xfrm>
            <a:off x="7924800" y="4625389"/>
            <a:ext cx="3759200" cy="146851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64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FA9D5-EF6B-6098-6775-A0ED21CB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820C5580-E108-0ED3-3830-CA56C1E62C6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>
            <a:extLst>
              <a:ext uri="{FF2B5EF4-FFF2-40B4-BE49-F238E27FC236}">
                <a16:creationId xmlns:a16="http://schemas.microsoft.com/office/drawing/2014/main" id="{A4CE9B54-2368-A938-EE3D-EB4B1680A2C3}"/>
              </a:ext>
            </a:extLst>
          </p:cNvPr>
          <p:cNvSpPr/>
          <p:nvPr/>
        </p:nvSpPr>
        <p:spPr>
          <a:xfrm>
            <a:off x="507999" y="1135310"/>
            <a:ext cx="5426269" cy="4524095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82582A55-3FFD-A5E8-63BE-9F37CA7F970F}"/>
              </a:ext>
            </a:extLst>
          </p:cNvPr>
          <p:cNvSpPr/>
          <p:nvPr/>
        </p:nvSpPr>
        <p:spPr>
          <a:xfrm>
            <a:off x="508000" y="453355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TRANSACTIONS</a:t>
            </a:r>
          </a:p>
        </p:txBody>
      </p:sp>
      <p:sp>
        <p:nvSpPr>
          <p:cNvPr id="4" name="ImagePlaceholder">
            <a:extLst>
              <a:ext uri="{FF2B5EF4-FFF2-40B4-BE49-F238E27FC236}">
                <a16:creationId xmlns:a16="http://schemas.microsoft.com/office/drawing/2014/main" id="{1A7CA05A-FDF3-E862-B38B-B05788EA84EC}"/>
              </a:ext>
            </a:extLst>
          </p:cNvPr>
          <p:cNvSpPr/>
          <p:nvPr/>
        </p:nvSpPr>
        <p:spPr>
          <a:xfrm>
            <a:off x="6178938" y="1135310"/>
            <a:ext cx="5426269" cy="4524095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5" name="Shape 14">
            <a:extLst>
              <a:ext uri="{FF2B5EF4-FFF2-40B4-BE49-F238E27FC236}">
                <a16:creationId xmlns:a16="http://schemas.microsoft.com/office/drawing/2014/main" id="{70D0411C-B353-5F55-E2C1-9C94B0659DB9}"/>
              </a:ext>
            </a:extLst>
          </p:cNvPr>
          <p:cNvSpPr/>
          <p:nvPr/>
        </p:nvSpPr>
        <p:spPr>
          <a:xfrm>
            <a:off x="507999" y="5878315"/>
            <a:ext cx="3759200" cy="52633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046D4653-B120-FF41-9C8C-600DCE96430C}"/>
              </a:ext>
            </a:extLst>
          </p:cNvPr>
          <p:cNvSpPr/>
          <p:nvPr/>
        </p:nvSpPr>
        <p:spPr>
          <a:xfrm>
            <a:off x="622657" y="6086990"/>
            <a:ext cx="3581400" cy="139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b="1" dirty="0">
                <a:solidFill>
                  <a:srgbClr val="CED1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Breakdown of invoice error types</a:t>
            </a: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C8AF35D9-D9C6-93B9-5C3F-3347760006AE}"/>
              </a:ext>
            </a:extLst>
          </p:cNvPr>
          <p:cNvSpPr/>
          <p:nvPr/>
        </p:nvSpPr>
        <p:spPr>
          <a:xfrm>
            <a:off x="6178938" y="5878315"/>
            <a:ext cx="4240070" cy="52633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16F03190-B7ED-B6BD-2941-1F0669FDD2E5}"/>
              </a:ext>
            </a:extLst>
          </p:cNvPr>
          <p:cNvSpPr/>
          <p:nvPr/>
        </p:nvSpPr>
        <p:spPr>
          <a:xfrm>
            <a:off x="6293595" y="6086990"/>
            <a:ext cx="3957987" cy="139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b="1" dirty="0">
                <a:solidFill>
                  <a:srgbClr val="CED1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Uncovering root causes behind invoice errors</a:t>
            </a:r>
          </a:p>
        </p:txBody>
      </p:sp>
    </p:spTree>
    <p:extLst>
      <p:ext uri="{BB962C8B-B14F-4D97-AF65-F5344CB8AC3E}">
        <p14:creationId xmlns:p14="http://schemas.microsoft.com/office/powerpoint/2010/main" val="2199056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1798E-4E96-C8F7-CC4B-A02D2E93A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13B74ACC-811F-C0E9-55C0-DF1D9F454C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02170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5BD07379-0530-7950-2234-BDEBA0B7B627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spc="700" dirty="0">
                <a:solidFill>
                  <a:srgbClr val="D92398"/>
                </a:solidFill>
                <a:latin typeface="Barlow Black" pitchFamily="34" charset="0"/>
              </a:rPr>
              <a:t>TRANSACTIONS</a:t>
            </a:r>
          </a:p>
        </p:txBody>
      </p:sp>
      <p:sp>
        <p:nvSpPr>
          <p:cNvPr id="9" name="TitleAccent">
            <a:extLst>
              <a:ext uri="{FF2B5EF4-FFF2-40B4-BE49-F238E27FC236}">
                <a16:creationId xmlns:a16="http://schemas.microsoft.com/office/drawing/2014/main" id="{11898460-2D84-8583-DDAC-CE2E5E5C5CA5}"/>
              </a:ext>
            </a:extLst>
          </p:cNvPr>
          <p:cNvSpPr/>
          <p:nvPr/>
        </p:nvSpPr>
        <p:spPr>
          <a:xfrm>
            <a:off x="502920" y="2066636"/>
            <a:ext cx="1524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1" name="CardBody">
            <a:extLst>
              <a:ext uri="{FF2B5EF4-FFF2-40B4-BE49-F238E27FC236}">
                <a16:creationId xmlns:a16="http://schemas.microsoft.com/office/drawing/2014/main" id="{B0B10EA9-B6FD-ED3D-8655-8D6103FDECD6}"/>
              </a:ext>
            </a:extLst>
          </p:cNvPr>
          <p:cNvSpPr/>
          <p:nvPr/>
        </p:nvSpPr>
        <p:spPr>
          <a:xfrm>
            <a:off x="5816600" y="1422400"/>
            <a:ext cx="5638800" cy="4572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anchor="t">
            <a:normAutofit/>
          </a:bodyPr>
          <a:lstStyle/>
          <a:p>
            <a:r>
              <a:rPr lang="en-GB" sz="1400" dirty="0">
                <a:solidFill>
                  <a:srgbClr val="FFFFFF"/>
                </a:solidFill>
                <a:latin typeface="Barlow"/>
              </a:rPr>
              <a:t>SUMMARY_PLACEHOLDER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3E926C3-00C1-CA86-6AC2-DBBA3C4B9C7D}"/>
              </a:ext>
            </a:extLst>
          </p:cNvPr>
          <p:cNvSpPr/>
          <p:nvPr/>
        </p:nvSpPr>
        <p:spPr>
          <a:xfrm>
            <a:off x="466343" y="974309"/>
            <a:ext cx="346834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SUMMARY &amp; RECCOMENDATIONS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47686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B1749-43F5-CED5-3407-D20A850D9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B0DEC32F-1A7C-0D54-4687-C1583E08DB7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0" name="Tag">
            <a:extLst>
              <a:ext uri="{FF2B5EF4-FFF2-40B4-BE49-F238E27FC236}">
                <a16:creationId xmlns:a16="http://schemas.microsoft.com/office/drawing/2014/main" id="{89668B59-70D2-E063-5AED-8BC2D7F88377}"/>
              </a:ext>
            </a:extLst>
          </p:cNvPr>
          <p:cNvSpPr/>
          <p:nvPr/>
        </p:nvSpPr>
        <p:spPr>
          <a:xfrm>
            <a:off x="508000" y="2540000"/>
            <a:ext cx="11176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8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SECTION 4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7BB18BFD-C1F8-3426-5394-15DC81081ACD}"/>
              </a:ext>
            </a:extLst>
          </p:cNvPr>
          <p:cNvSpPr/>
          <p:nvPr/>
        </p:nvSpPr>
        <p:spPr>
          <a:xfrm>
            <a:off x="508000" y="2857500"/>
            <a:ext cx="1117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STATEMENTS</a:t>
            </a:r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6969ECF1-1CFA-FD48-F6F7-CF8348A02261}"/>
              </a:ext>
            </a:extLst>
          </p:cNvPr>
          <p:cNvSpPr/>
          <p:nvPr/>
        </p:nvSpPr>
        <p:spPr>
          <a:xfrm>
            <a:off x="4648200" y="3810000"/>
            <a:ext cx="2895600" cy="381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86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>
          <a:extLst>
            <a:ext uri="{FF2B5EF4-FFF2-40B4-BE49-F238E27FC236}">
              <a16:creationId xmlns:a16="http://schemas.microsoft.com/office/drawing/2014/main" id="{EDCFCE15-2183-78FB-E611-22A602D61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37B400-5E5F-45F8-8CD2-5E7BAE1092C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C7A67-DAC3-808C-5A9C-ED0425D70209}"/>
              </a:ext>
            </a:extLst>
          </p:cNvPr>
          <p:cNvSpPr txBox="1"/>
          <p:nvPr/>
        </p:nvSpPr>
        <p:spPr>
          <a:xfrm>
            <a:off x="508000" y="495300"/>
            <a:ext cx="36576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STATEMENTS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77EA8-2128-F4AE-E0E2-10700BD292AD}"/>
              </a:ext>
            </a:extLst>
          </p:cNvPr>
          <p:cNvSpPr txBox="1"/>
          <p:nvPr/>
        </p:nvSpPr>
        <p:spPr>
          <a:xfrm>
            <a:off x="469900" y="977900"/>
            <a:ext cx="107315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VALUE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D2EF58-98DB-B788-498D-49A54A67D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442829"/>
              </p:ext>
            </p:extLst>
          </p:nvPr>
        </p:nvGraphicFramePr>
        <p:xfrm>
          <a:off x="508000" y="1820564"/>
          <a:ext cx="11176000" cy="4578649"/>
        </p:xfrm>
        <a:graphic>
          <a:graphicData uri="http://schemas.openxmlformats.org/drawingml/2006/table">
            <a:tbl>
              <a:tblPr firstRow="1" bandRow="1">
                <a:tableStyleId>{D5BCAB09-D571-4314-BB93-0DD3BD3F9BFD}</a:tableStyleId>
              </a:tblPr>
              <a:tblGrid>
                <a:gridCol w="2720392">
                  <a:extLst>
                    <a:ext uri="{9D8B030D-6E8A-4147-A177-3AD203B41FA5}">
                      <a16:colId xmlns:a16="http://schemas.microsoft.com/office/drawing/2014/main" val="3908832254"/>
                    </a:ext>
                  </a:extLst>
                </a:gridCol>
                <a:gridCol w="4012163">
                  <a:extLst>
                    <a:ext uri="{9D8B030D-6E8A-4147-A177-3AD203B41FA5}">
                      <a16:colId xmlns:a16="http://schemas.microsoft.com/office/drawing/2014/main" val="526657767"/>
                    </a:ext>
                  </a:extLst>
                </a:gridCol>
                <a:gridCol w="2183363">
                  <a:extLst>
                    <a:ext uri="{9D8B030D-6E8A-4147-A177-3AD203B41FA5}">
                      <a16:colId xmlns:a16="http://schemas.microsoft.com/office/drawing/2014/main" val="1699126102"/>
                    </a:ext>
                  </a:extLst>
                </a:gridCol>
                <a:gridCol w="1156996">
                  <a:extLst>
                    <a:ext uri="{9D8B030D-6E8A-4147-A177-3AD203B41FA5}">
                      <a16:colId xmlns:a16="http://schemas.microsoft.com/office/drawing/2014/main" val="125966804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906799864"/>
                    </a:ext>
                  </a:extLst>
                </a:gridCol>
              </a:tblGrid>
              <a:tr h="55194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KPIs to track this goal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Current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296227"/>
                  </a:ext>
                </a:extLst>
              </a:tr>
              <a:tr h="671117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Increase Statement reconciliation coverage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% of spend being reconciled on a monthly/quarterly/annual basis </a:t>
                      </a:r>
                      <a:endParaRPr lang="en-US" sz="1400" b="1" dirty="0">
                        <a:solidFill>
                          <a:schemeClr val="lt1"/>
                        </a:solidFill>
                        <a:latin typeface="Barlow ExtraBold"/>
                        <a:ea typeface="Barlow ExtraBold"/>
                        <a:cs typeface="Barlow ExtraBold"/>
                        <a:sym typeface="Barlow ExtraBold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Barlow"/>
                        </a:rPr>
                        <a:t>XX%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395726"/>
                  </a:ext>
                </a:extLst>
              </a:tr>
              <a:tr h="671117">
                <a:tc vMerge="1">
                  <a:txBody>
                    <a:bodyPr/>
                    <a:lstStyle/>
                    <a:p>
                      <a:pPr algn="l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% of vendors / top vendors being reconciled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Barlow"/>
                        </a:rPr>
                        <a:t>XX%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758308"/>
                  </a:ext>
                </a:extLst>
              </a:tr>
              <a:tr h="671117">
                <a:tc vMerge="1"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% of invoices being reconciled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Barlow"/>
                        </a:rPr>
                        <a:t>XX%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229736"/>
                  </a:ext>
                </a:extLst>
              </a:tr>
              <a:tr h="671117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Improve payment on time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Value of missing invoices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/>
                        </a:rPr>
                        <a:t>£XXXX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456973"/>
                  </a:ext>
                </a:extLst>
              </a:tr>
              <a:tr h="6711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Vol of missing invoices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/>
                        </a:rPr>
                        <a:t>XXX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456314"/>
                  </a:ext>
                </a:extLst>
              </a:tr>
              <a:tr h="671117">
                <a:tc vMerge="1"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Reduction in late payments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/>
                        </a:rPr>
                        <a:t>£XXXX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537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476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587A3-0DB4-266C-1F2B-C98C5B53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84D3AD54-1A17-D334-6028-E502CC7AC5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20131" y="25400"/>
            <a:ext cx="47718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ccentBar">
            <a:extLst>
              <a:ext uri="{FF2B5EF4-FFF2-40B4-BE49-F238E27FC236}">
                <a16:creationId xmlns:a16="http://schemas.microsoft.com/office/drawing/2014/main" id="{028BF0E1-14A0-384B-2E5E-C6C64A876D6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>
            <a:extLst>
              <a:ext uri="{FF2B5EF4-FFF2-40B4-BE49-F238E27FC236}">
                <a16:creationId xmlns:a16="http://schemas.microsoft.com/office/drawing/2014/main" id="{79565921-9663-04B4-EC64-D9F99001CA0B}"/>
              </a:ext>
            </a:extLst>
          </p:cNvPr>
          <p:cNvSpPr/>
          <p:nvPr/>
        </p:nvSpPr>
        <p:spPr>
          <a:xfrm>
            <a:off x="260000" y="702452"/>
            <a:ext cx="6912131" cy="5557606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3360A132-0472-8BFA-E5A3-1E4AB73E20BF}"/>
              </a:ext>
            </a:extLst>
          </p:cNvPr>
          <p:cNvSpPr/>
          <p:nvPr/>
        </p:nvSpPr>
        <p:spPr>
          <a:xfrm>
            <a:off x="7928131" y="702452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STATEMENTS</a:t>
            </a:r>
          </a:p>
        </p:txBody>
      </p:sp>
      <p:sp>
        <p:nvSpPr>
          <p:cNvPr id="4" name="CaptionTitle">
            <a:extLst>
              <a:ext uri="{FF2B5EF4-FFF2-40B4-BE49-F238E27FC236}">
                <a16:creationId xmlns:a16="http://schemas.microsoft.com/office/drawing/2014/main" id="{D2AF4B5C-818F-BFD5-CAC2-637628A5722F}"/>
              </a:ext>
            </a:extLst>
          </p:cNvPr>
          <p:cNvSpPr/>
          <p:nvPr/>
        </p:nvSpPr>
        <p:spPr>
          <a:xfrm>
            <a:off x="7928131" y="981852"/>
            <a:ext cx="3511200" cy="26197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800" b="1" dirty="0">
                <a:solidFill>
                  <a:srgbClr val="BDAFF1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Month-on-month growth in reconciliations</a:t>
            </a:r>
          </a:p>
        </p:txBody>
      </p:sp>
      <p:sp>
        <p:nvSpPr>
          <p:cNvPr id="5" name="Shape 14">
            <a:extLst>
              <a:ext uri="{FF2B5EF4-FFF2-40B4-BE49-F238E27FC236}">
                <a16:creationId xmlns:a16="http://schemas.microsoft.com/office/drawing/2014/main" id="{590C7543-95A5-B80E-AD3F-B1CA0A796A00}"/>
              </a:ext>
            </a:extLst>
          </p:cNvPr>
          <p:cNvSpPr/>
          <p:nvPr/>
        </p:nvSpPr>
        <p:spPr>
          <a:xfrm>
            <a:off x="7924800" y="3365761"/>
            <a:ext cx="3759200" cy="926322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D813804C-3F57-FDFA-7C7B-E8648FDC48F0}"/>
              </a:ext>
            </a:extLst>
          </p:cNvPr>
          <p:cNvSpPr/>
          <p:nvPr/>
        </p:nvSpPr>
        <p:spPr>
          <a:xfrm>
            <a:off x="8051800" y="3467361"/>
            <a:ext cx="3505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arlow" pitchFamily="34" charset="0"/>
              </a:rPr>
              <a:t>X</a:t>
            </a:r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E3621AD1-3D55-13E7-F9B3-484056CFB025}"/>
              </a:ext>
            </a:extLst>
          </p:cNvPr>
          <p:cNvSpPr/>
          <p:nvPr/>
        </p:nvSpPr>
        <p:spPr>
          <a:xfrm>
            <a:off x="8013700" y="3961883"/>
            <a:ext cx="358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Missing credits received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2104FB-4DE7-F768-4858-DDD4B597B865}"/>
              </a:ext>
            </a:extLst>
          </p:cNvPr>
          <p:cNvSpPr/>
          <p:nvPr/>
        </p:nvSpPr>
        <p:spPr>
          <a:xfrm>
            <a:off x="7924800" y="3365761"/>
            <a:ext cx="3759200" cy="889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F6BABC59-CF1E-D61B-7353-85A9C960FA50}"/>
              </a:ext>
            </a:extLst>
          </p:cNvPr>
          <p:cNvSpPr/>
          <p:nvPr/>
        </p:nvSpPr>
        <p:spPr>
          <a:xfrm>
            <a:off x="7924800" y="4438780"/>
            <a:ext cx="3759200" cy="1872342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A1B7DD2F-AC5C-F0BC-6B91-5A4750475C3B}"/>
              </a:ext>
            </a:extLst>
          </p:cNvPr>
          <p:cNvSpPr/>
          <p:nvPr/>
        </p:nvSpPr>
        <p:spPr>
          <a:xfrm>
            <a:off x="8051800" y="4577702"/>
            <a:ext cx="3505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arlow" pitchFamily="34" charset="0"/>
              </a:rPr>
              <a:t>X</a:t>
            </a:r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AB2B6ADB-DCF8-108E-144E-F169E1983E38}"/>
              </a:ext>
            </a:extLst>
          </p:cNvPr>
          <p:cNvSpPr/>
          <p:nvPr/>
        </p:nvSpPr>
        <p:spPr>
          <a:xfrm>
            <a:off x="8013700" y="5072224"/>
            <a:ext cx="358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Vendors represent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FE9FE3-2109-BEA8-821F-9566E9A7464E}"/>
              </a:ext>
            </a:extLst>
          </p:cNvPr>
          <p:cNvSpPr/>
          <p:nvPr/>
        </p:nvSpPr>
        <p:spPr>
          <a:xfrm>
            <a:off x="7924800" y="4438780"/>
            <a:ext cx="3759200" cy="889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BE5342F6-09B3-70F7-CF1C-1EFA780D1BAF}"/>
              </a:ext>
            </a:extLst>
          </p:cNvPr>
          <p:cNvSpPr/>
          <p:nvPr/>
        </p:nvSpPr>
        <p:spPr>
          <a:xfrm>
            <a:off x="8051800" y="5370807"/>
            <a:ext cx="3505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arlow" pitchFamily="34" charset="0"/>
              </a:rPr>
              <a:t>X%</a:t>
            </a: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C2CA9B0E-B20E-A5EC-5341-A78A7C3C618B}"/>
              </a:ext>
            </a:extLst>
          </p:cNvPr>
          <p:cNvSpPr/>
          <p:nvPr/>
        </p:nvSpPr>
        <p:spPr>
          <a:xfrm>
            <a:off x="8013700" y="5977295"/>
            <a:ext cx="358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total spend</a:t>
            </a:r>
          </a:p>
        </p:txBody>
      </p:sp>
    </p:spTree>
    <p:extLst>
      <p:ext uri="{BB962C8B-B14F-4D97-AF65-F5344CB8AC3E}">
        <p14:creationId xmlns:p14="http://schemas.microsoft.com/office/powerpoint/2010/main" val="491618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0C2AC-FB5C-292D-A14A-7013B71C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3564476A-EDB6-B4EE-2233-F4D36322351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>
            <a:extLst>
              <a:ext uri="{FF2B5EF4-FFF2-40B4-BE49-F238E27FC236}">
                <a16:creationId xmlns:a16="http://schemas.microsoft.com/office/drawing/2014/main" id="{64DCF810-B4C4-2E7C-6902-077AAF733741}"/>
              </a:ext>
            </a:extLst>
          </p:cNvPr>
          <p:cNvSpPr/>
          <p:nvPr/>
        </p:nvSpPr>
        <p:spPr>
          <a:xfrm>
            <a:off x="508000" y="702452"/>
            <a:ext cx="11176000" cy="4451632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76DF01D9-7159-C31E-68FD-CA95ADB9BA6E}"/>
              </a:ext>
            </a:extLst>
          </p:cNvPr>
          <p:cNvSpPr/>
          <p:nvPr/>
        </p:nvSpPr>
        <p:spPr>
          <a:xfrm>
            <a:off x="508000" y="5510742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STATEMENTS</a:t>
            </a:r>
          </a:p>
        </p:txBody>
      </p:sp>
      <p:sp>
        <p:nvSpPr>
          <p:cNvPr id="12" name="CaptionTitle">
            <a:extLst>
              <a:ext uri="{FF2B5EF4-FFF2-40B4-BE49-F238E27FC236}">
                <a16:creationId xmlns:a16="http://schemas.microsoft.com/office/drawing/2014/main" id="{B1DD0184-3926-5219-BCCD-771984E9181D}"/>
              </a:ext>
            </a:extLst>
          </p:cNvPr>
          <p:cNvSpPr/>
          <p:nvPr/>
        </p:nvSpPr>
        <p:spPr>
          <a:xfrm>
            <a:off x="507999" y="5790142"/>
            <a:ext cx="11341879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800" b="1" dirty="0">
                <a:solidFill>
                  <a:srgbClr val="CED1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How reconciliation performance compares across the X landscape</a:t>
            </a:r>
          </a:p>
        </p:txBody>
      </p:sp>
    </p:spTree>
    <p:extLst>
      <p:ext uri="{BB962C8B-B14F-4D97-AF65-F5344CB8AC3E}">
        <p14:creationId xmlns:p14="http://schemas.microsoft.com/office/powerpoint/2010/main" val="335365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B7C19-CF6A-BC36-C5A9-6C383703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06DF9B22-2059-4412-3565-0C132B80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20131" y="25400"/>
            <a:ext cx="47718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ccentBar">
            <a:extLst>
              <a:ext uri="{FF2B5EF4-FFF2-40B4-BE49-F238E27FC236}">
                <a16:creationId xmlns:a16="http://schemas.microsoft.com/office/drawing/2014/main" id="{4A5EE829-C67C-5965-4ECF-B505B76050D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>
            <a:extLst>
              <a:ext uri="{FF2B5EF4-FFF2-40B4-BE49-F238E27FC236}">
                <a16:creationId xmlns:a16="http://schemas.microsoft.com/office/drawing/2014/main" id="{9A7E85D8-0EB1-B27D-181B-AF91D4911463}"/>
              </a:ext>
            </a:extLst>
          </p:cNvPr>
          <p:cNvSpPr/>
          <p:nvPr/>
        </p:nvSpPr>
        <p:spPr>
          <a:xfrm>
            <a:off x="260000" y="702452"/>
            <a:ext cx="6912131" cy="5557606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FECFF27F-467F-AD87-C686-50387FC29192}"/>
              </a:ext>
            </a:extLst>
          </p:cNvPr>
          <p:cNvSpPr/>
          <p:nvPr/>
        </p:nvSpPr>
        <p:spPr>
          <a:xfrm>
            <a:off x="7928131" y="702452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STATEMENTS</a:t>
            </a:r>
          </a:p>
        </p:txBody>
      </p:sp>
      <p:sp>
        <p:nvSpPr>
          <p:cNvPr id="4" name="CaptionTitle">
            <a:extLst>
              <a:ext uri="{FF2B5EF4-FFF2-40B4-BE49-F238E27FC236}">
                <a16:creationId xmlns:a16="http://schemas.microsoft.com/office/drawing/2014/main" id="{92C7B301-0652-88E9-BA5C-248827F6AA1D}"/>
              </a:ext>
            </a:extLst>
          </p:cNvPr>
          <p:cNvSpPr/>
          <p:nvPr/>
        </p:nvSpPr>
        <p:spPr>
          <a:xfrm>
            <a:off x="7928131" y="981852"/>
            <a:ext cx="3511200" cy="26197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800" b="1" dirty="0">
                <a:solidFill>
                  <a:srgbClr val="BDAFF1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Reconciliation coverage across total invoice volume</a:t>
            </a:r>
          </a:p>
        </p:txBody>
      </p:sp>
      <p:sp>
        <p:nvSpPr>
          <p:cNvPr id="5" name="Shape 14">
            <a:extLst>
              <a:ext uri="{FF2B5EF4-FFF2-40B4-BE49-F238E27FC236}">
                <a16:creationId xmlns:a16="http://schemas.microsoft.com/office/drawing/2014/main" id="{EE740144-E41D-5BCC-F32E-A063AB00154F}"/>
              </a:ext>
            </a:extLst>
          </p:cNvPr>
          <p:cNvSpPr/>
          <p:nvPr/>
        </p:nvSpPr>
        <p:spPr>
          <a:xfrm>
            <a:off x="7924800" y="4625390"/>
            <a:ext cx="3759200" cy="1530158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66BC967F-7E3D-4313-48F6-3236BF650D90}"/>
              </a:ext>
            </a:extLst>
          </p:cNvPr>
          <p:cNvSpPr/>
          <p:nvPr/>
        </p:nvSpPr>
        <p:spPr>
          <a:xfrm>
            <a:off x="8051800" y="4764311"/>
            <a:ext cx="3505200" cy="71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arlow" pitchFamily="34" charset="0"/>
              </a:rPr>
              <a:t>X</a:t>
            </a:r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BBA3554B-103E-D5AB-10E3-CD994D638EF7}"/>
              </a:ext>
            </a:extLst>
          </p:cNvPr>
          <p:cNvSpPr/>
          <p:nvPr/>
        </p:nvSpPr>
        <p:spPr>
          <a:xfrm>
            <a:off x="8013700" y="5538750"/>
            <a:ext cx="3581400" cy="335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5A3BD2-0380-6D95-8E91-5ED366AE940E}"/>
              </a:ext>
            </a:extLst>
          </p:cNvPr>
          <p:cNvSpPr/>
          <p:nvPr/>
        </p:nvSpPr>
        <p:spPr>
          <a:xfrm>
            <a:off x="7924800" y="4625389"/>
            <a:ext cx="3759200" cy="146851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83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18FE8-378E-76C2-CE68-1D23DB7F4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5E4E6AF0-CBEC-B703-2C5F-64D2E759E6B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>
            <a:extLst>
              <a:ext uri="{FF2B5EF4-FFF2-40B4-BE49-F238E27FC236}">
                <a16:creationId xmlns:a16="http://schemas.microsoft.com/office/drawing/2014/main" id="{973831BC-CFA0-1456-BAC6-E3120F0B4267}"/>
              </a:ext>
            </a:extLst>
          </p:cNvPr>
          <p:cNvSpPr/>
          <p:nvPr/>
        </p:nvSpPr>
        <p:spPr>
          <a:xfrm>
            <a:off x="507999" y="1977483"/>
            <a:ext cx="5426269" cy="3681922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D457A4CF-31BD-8132-3408-E4BD79EAEE52}"/>
              </a:ext>
            </a:extLst>
          </p:cNvPr>
          <p:cNvSpPr/>
          <p:nvPr/>
        </p:nvSpPr>
        <p:spPr>
          <a:xfrm>
            <a:off x="508000" y="453355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STATEMENTS</a:t>
            </a:r>
          </a:p>
        </p:txBody>
      </p:sp>
      <p:sp>
        <p:nvSpPr>
          <p:cNvPr id="12" name="CaptionTitle">
            <a:extLst>
              <a:ext uri="{FF2B5EF4-FFF2-40B4-BE49-F238E27FC236}">
                <a16:creationId xmlns:a16="http://schemas.microsoft.com/office/drawing/2014/main" id="{E8CD6915-9BB8-2800-A578-9AA9E19C89C1}"/>
              </a:ext>
            </a:extLst>
          </p:cNvPr>
          <p:cNvSpPr/>
          <p:nvPr/>
        </p:nvSpPr>
        <p:spPr>
          <a:xfrm>
            <a:off x="507999" y="732755"/>
            <a:ext cx="11341879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How reconciliation automation has evolved in 2025</a:t>
            </a:r>
          </a:p>
        </p:txBody>
      </p:sp>
      <p:sp>
        <p:nvSpPr>
          <p:cNvPr id="4" name="ImagePlaceholder">
            <a:extLst>
              <a:ext uri="{FF2B5EF4-FFF2-40B4-BE49-F238E27FC236}">
                <a16:creationId xmlns:a16="http://schemas.microsoft.com/office/drawing/2014/main" id="{CA40C7F9-53CD-1DBC-6F69-69D2DA6BCB14}"/>
              </a:ext>
            </a:extLst>
          </p:cNvPr>
          <p:cNvSpPr/>
          <p:nvPr/>
        </p:nvSpPr>
        <p:spPr>
          <a:xfrm>
            <a:off x="6178938" y="1977483"/>
            <a:ext cx="5426269" cy="3681922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5" name="Shape 14">
            <a:extLst>
              <a:ext uri="{FF2B5EF4-FFF2-40B4-BE49-F238E27FC236}">
                <a16:creationId xmlns:a16="http://schemas.microsoft.com/office/drawing/2014/main" id="{15D05220-7946-E542-5187-55EE046D24B9}"/>
              </a:ext>
            </a:extLst>
          </p:cNvPr>
          <p:cNvSpPr/>
          <p:nvPr/>
        </p:nvSpPr>
        <p:spPr>
          <a:xfrm>
            <a:off x="507999" y="5878315"/>
            <a:ext cx="3759200" cy="52633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901F624A-DE7A-E554-D130-5BD8B2358676}"/>
              </a:ext>
            </a:extLst>
          </p:cNvPr>
          <p:cNvSpPr/>
          <p:nvPr/>
        </p:nvSpPr>
        <p:spPr>
          <a:xfrm>
            <a:off x="596899" y="6086990"/>
            <a:ext cx="3581400" cy="139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from previous EBR</a:t>
            </a: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2D8BABB5-5FA2-613C-D288-9CD2EA38341D}"/>
              </a:ext>
            </a:extLst>
          </p:cNvPr>
          <p:cNvSpPr/>
          <p:nvPr/>
        </p:nvSpPr>
        <p:spPr>
          <a:xfrm>
            <a:off x="6178938" y="5878315"/>
            <a:ext cx="3759200" cy="52633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A2F9C11B-21C7-D97E-59D0-6C546B156704}"/>
              </a:ext>
            </a:extLst>
          </p:cNvPr>
          <p:cNvSpPr/>
          <p:nvPr/>
        </p:nvSpPr>
        <p:spPr>
          <a:xfrm>
            <a:off x="6267838" y="6086990"/>
            <a:ext cx="3581400" cy="139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Statement Automation Now</a:t>
            </a:r>
          </a:p>
        </p:txBody>
      </p:sp>
    </p:spTree>
    <p:extLst>
      <p:ext uri="{BB962C8B-B14F-4D97-AF65-F5344CB8AC3E}">
        <p14:creationId xmlns:p14="http://schemas.microsoft.com/office/powerpoint/2010/main" val="2299442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1AF34-E3CA-62CD-FAE7-71D054EB0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C67211E7-D0C9-5941-E199-55B4A221D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02170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FFCBC0EE-27B9-88FC-CF4A-5954470B6DA3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spc="700" dirty="0">
                <a:solidFill>
                  <a:srgbClr val="D92398"/>
                </a:solidFill>
                <a:latin typeface="Barlow Black" pitchFamily="34" charset="0"/>
              </a:rPr>
              <a:t>STATEMENTS</a:t>
            </a:r>
          </a:p>
        </p:txBody>
      </p:sp>
      <p:sp>
        <p:nvSpPr>
          <p:cNvPr id="9" name="TitleAccent">
            <a:extLst>
              <a:ext uri="{FF2B5EF4-FFF2-40B4-BE49-F238E27FC236}">
                <a16:creationId xmlns:a16="http://schemas.microsoft.com/office/drawing/2014/main" id="{A2E73441-C551-EC2B-C473-4D50D125C41F}"/>
              </a:ext>
            </a:extLst>
          </p:cNvPr>
          <p:cNvSpPr/>
          <p:nvPr/>
        </p:nvSpPr>
        <p:spPr>
          <a:xfrm>
            <a:off x="502920" y="2066636"/>
            <a:ext cx="1524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1" name="CardBody">
            <a:extLst>
              <a:ext uri="{FF2B5EF4-FFF2-40B4-BE49-F238E27FC236}">
                <a16:creationId xmlns:a16="http://schemas.microsoft.com/office/drawing/2014/main" id="{5F0C0FEE-4467-BBF5-D331-4AA4E961DADF}"/>
              </a:ext>
            </a:extLst>
          </p:cNvPr>
          <p:cNvSpPr/>
          <p:nvPr/>
        </p:nvSpPr>
        <p:spPr>
          <a:xfrm>
            <a:off x="5816600" y="1422400"/>
            <a:ext cx="5638800" cy="4572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anchor="t">
            <a:normAutofit/>
          </a:bodyPr>
          <a:lstStyle/>
          <a:p>
            <a:r>
              <a:rPr lang="en-GB" sz="1400" dirty="0">
                <a:solidFill>
                  <a:srgbClr val="FFFFFF"/>
                </a:solidFill>
                <a:latin typeface="Barlow"/>
              </a:rPr>
              <a:t>SUMMARY_PLACEHOLDER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2AC76DFC-1317-BCB5-F5F1-CC2D95F4372A}"/>
              </a:ext>
            </a:extLst>
          </p:cNvPr>
          <p:cNvSpPr/>
          <p:nvPr/>
        </p:nvSpPr>
        <p:spPr>
          <a:xfrm>
            <a:off x="466343" y="974309"/>
            <a:ext cx="346834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SUMMARY &amp; RECCOMENDATIONS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74384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528E-74C4-BA8E-6CE7-6699E88D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191D3A21-C438-A795-09EA-2F9B5CA918C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0" name="Tag">
            <a:extLst>
              <a:ext uri="{FF2B5EF4-FFF2-40B4-BE49-F238E27FC236}">
                <a16:creationId xmlns:a16="http://schemas.microsoft.com/office/drawing/2014/main" id="{CB158DDC-BC7E-BF56-547A-4C217BC84413}"/>
              </a:ext>
            </a:extLst>
          </p:cNvPr>
          <p:cNvSpPr/>
          <p:nvPr/>
        </p:nvSpPr>
        <p:spPr>
          <a:xfrm>
            <a:off x="508000" y="2540000"/>
            <a:ext cx="11176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8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SECTION 5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96EA724C-411F-ADE9-AD2A-D37E92F50433}"/>
              </a:ext>
            </a:extLst>
          </p:cNvPr>
          <p:cNvSpPr/>
          <p:nvPr/>
        </p:nvSpPr>
        <p:spPr>
          <a:xfrm>
            <a:off x="508000" y="2857500"/>
            <a:ext cx="1117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HELPDESK</a:t>
            </a:r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85A4AFD3-DD50-F271-13BF-82AFB116825B}"/>
              </a:ext>
            </a:extLst>
          </p:cNvPr>
          <p:cNvSpPr/>
          <p:nvPr/>
        </p:nvSpPr>
        <p:spPr>
          <a:xfrm>
            <a:off x="4648200" y="3810000"/>
            <a:ext cx="2895600" cy="381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58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>
          <a:extLst>
            <a:ext uri="{FF2B5EF4-FFF2-40B4-BE49-F238E27FC236}">
              <a16:creationId xmlns:a16="http://schemas.microsoft.com/office/drawing/2014/main" id="{FDB3826F-88B1-6D53-52C1-77E11E793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2C1BFB-5852-9E17-512B-3CE0A51C639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CD4DF-23A5-7360-88DC-3440496FB65B}"/>
              </a:ext>
            </a:extLst>
          </p:cNvPr>
          <p:cNvSpPr txBox="1"/>
          <p:nvPr/>
        </p:nvSpPr>
        <p:spPr>
          <a:xfrm>
            <a:off x="508000" y="495300"/>
            <a:ext cx="36576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HELPDESK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68091-3EA3-3FA5-10CE-C7611DA673EF}"/>
              </a:ext>
            </a:extLst>
          </p:cNvPr>
          <p:cNvSpPr txBox="1"/>
          <p:nvPr/>
        </p:nvSpPr>
        <p:spPr>
          <a:xfrm>
            <a:off x="469900" y="977900"/>
            <a:ext cx="107315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VALUE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CB936C-2747-786A-8209-B15F75180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467265"/>
              </p:ext>
            </p:extLst>
          </p:nvPr>
        </p:nvGraphicFramePr>
        <p:xfrm>
          <a:off x="508000" y="1820564"/>
          <a:ext cx="11176000" cy="4271859"/>
        </p:xfrm>
        <a:graphic>
          <a:graphicData uri="http://schemas.openxmlformats.org/drawingml/2006/table">
            <a:tbl>
              <a:tblPr firstRow="1" bandRow="1">
                <a:tableStyleId>{D5BCAB09-D571-4314-BB93-0DD3BD3F9BFD}</a:tableStyleId>
              </a:tblPr>
              <a:tblGrid>
                <a:gridCol w="2720392">
                  <a:extLst>
                    <a:ext uri="{9D8B030D-6E8A-4147-A177-3AD203B41FA5}">
                      <a16:colId xmlns:a16="http://schemas.microsoft.com/office/drawing/2014/main" val="3908832254"/>
                    </a:ext>
                  </a:extLst>
                </a:gridCol>
                <a:gridCol w="4012163">
                  <a:extLst>
                    <a:ext uri="{9D8B030D-6E8A-4147-A177-3AD203B41FA5}">
                      <a16:colId xmlns:a16="http://schemas.microsoft.com/office/drawing/2014/main" val="526657767"/>
                    </a:ext>
                  </a:extLst>
                </a:gridCol>
                <a:gridCol w="2183363">
                  <a:extLst>
                    <a:ext uri="{9D8B030D-6E8A-4147-A177-3AD203B41FA5}">
                      <a16:colId xmlns:a16="http://schemas.microsoft.com/office/drawing/2014/main" val="1699126102"/>
                    </a:ext>
                  </a:extLst>
                </a:gridCol>
                <a:gridCol w="1156996">
                  <a:extLst>
                    <a:ext uri="{9D8B030D-6E8A-4147-A177-3AD203B41FA5}">
                      <a16:colId xmlns:a16="http://schemas.microsoft.com/office/drawing/2014/main" val="125966804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906799864"/>
                    </a:ext>
                  </a:extLst>
                </a:gridCol>
              </a:tblGrid>
              <a:tr h="60340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KPIs to track this goal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Current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arlow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23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296227"/>
                  </a:ext>
                </a:extLst>
              </a:tr>
              <a:tr h="733690">
                <a:tc row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lt1"/>
                          </a:solidFill>
                          <a:latin typeface="Barlow ExtraBold"/>
                          <a:ea typeface="Barlow ExtraBold"/>
                          <a:cs typeface="Barlow ExtraBold"/>
                          <a:sym typeface="Barlow ExtraBold"/>
                        </a:rPr>
                        <a:t>Spend less FTE time managing vendor queries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Average handling time decreased from A -&gt; 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/>
                        </a:rPr>
                        <a:t> X - 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395726"/>
                  </a:ext>
                </a:extLst>
              </a:tr>
              <a:tr h="733690">
                <a:tc vMerge="1">
                  <a:txBody>
                    <a:bodyPr/>
                    <a:lstStyle/>
                    <a:p>
                      <a:pPr algn="l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First response time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/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758308"/>
                  </a:ext>
                </a:extLst>
              </a:tr>
              <a:tr h="733690">
                <a:tc vMerge="1"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% of tickets where generated replies were used when available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Barlow"/>
                        </a:rPr>
                        <a:t>XX%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229736"/>
                  </a:ext>
                </a:extLst>
              </a:tr>
              <a:tr h="733690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lt1"/>
                          </a:solidFill>
                          <a:latin typeface="Barlow ExtraBold"/>
                          <a:ea typeface="Barlow ExtraBold"/>
                          <a:cs typeface="Barlow ExtraBold"/>
                          <a:sym typeface="Barlow ExtraBold"/>
                        </a:rPr>
                        <a:t>Improve vendor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SLA Adherence (X% of tickets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met SLA)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/>
                        </a:rPr>
                        <a:t>XX%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456973"/>
                  </a:ext>
                </a:extLst>
              </a:tr>
              <a:tr h="733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% decrease in ticket resolution time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/>
                        </a:rPr>
                        <a:t>XX%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456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320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95953C-01A6-1AA5-5F82-A07BBA4C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09A9651C-CAE1-8215-0DAE-3A7FB431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20131" y="25400"/>
            <a:ext cx="47718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ccentBar">
            <a:extLst>
              <a:ext uri="{FF2B5EF4-FFF2-40B4-BE49-F238E27FC236}">
                <a16:creationId xmlns:a16="http://schemas.microsoft.com/office/drawing/2014/main" id="{60D434C5-326A-F75E-909E-FC8FD77659E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>
            <a:extLst>
              <a:ext uri="{FF2B5EF4-FFF2-40B4-BE49-F238E27FC236}">
                <a16:creationId xmlns:a16="http://schemas.microsoft.com/office/drawing/2014/main" id="{5F214C68-EE83-0217-F60E-9B46B4485473}"/>
              </a:ext>
            </a:extLst>
          </p:cNvPr>
          <p:cNvSpPr/>
          <p:nvPr/>
        </p:nvSpPr>
        <p:spPr>
          <a:xfrm>
            <a:off x="260000" y="702452"/>
            <a:ext cx="6912131" cy="5557606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E9AF8951-3791-C3DD-C571-2130281E8A75}"/>
              </a:ext>
            </a:extLst>
          </p:cNvPr>
          <p:cNvSpPr/>
          <p:nvPr/>
        </p:nvSpPr>
        <p:spPr>
          <a:xfrm>
            <a:off x="7928131" y="702452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HELPDESK</a:t>
            </a:r>
          </a:p>
        </p:txBody>
      </p:sp>
      <p:sp>
        <p:nvSpPr>
          <p:cNvPr id="4" name="CaptionTitle">
            <a:extLst>
              <a:ext uri="{FF2B5EF4-FFF2-40B4-BE49-F238E27FC236}">
                <a16:creationId xmlns:a16="http://schemas.microsoft.com/office/drawing/2014/main" id="{D82A7D47-9E88-3F6B-0B1C-7D705ACEA993}"/>
              </a:ext>
            </a:extLst>
          </p:cNvPr>
          <p:cNvSpPr/>
          <p:nvPr/>
        </p:nvSpPr>
        <p:spPr>
          <a:xfrm>
            <a:off x="7928131" y="981852"/>
            <a:ext cx="3511200" cy="26197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800" b="1" dirty="0">
                <a:solidFill>
                  <a:srgbClr val="BDAFF1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A month-on-month increase of outbound messages due to GenAi</a:t>
            </a:r>
          </a:p>
        </p:txBody>
      </p:sp>
      <p:sp>
        <p:nvSpPr>
          <p:cNvPr id="5" name="Shape 14">
            <a:extLst>
              <a:ext uri="{FF2B5EF4-FFF2-40B4-BE49-F238E27FC236}">
                <a16:creationId xmlns:a16="http://schemas.microsoft.com/office/drawing/2014/main" id="{9B5E4681-DF44-915D-03FF-FA86016E15D5}"/>
              </a:ext>
            </a:extLst>
          </p:cNvPr>
          <p:cNvSpPr/>
          <p:nvPr/>
        </p:nvSpPr>
        <p:spPr>
          <a:xfrm>
            <a:off x="7924800" y="4625390"/>
            <a:ext cx="3759200" cy="1530158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F33DCB-F8EB-4C02-A8F6-B39FF53F9BAA}"/>
              </a:ext>
            </a:extLst>
          </p:cNvPr>
          <p:cNvSpPr/>
          <p:nvPr/>
        </p:nvSpPr>
        <p:spPr>
          <a:xfrm>
            <a:off x="7924800" y="4625389"/>
            <a:ext cx="3759200" cy="146851"/>
          </a:xfrm>
          <a:prstGeom prst="rect">
            <a:avLst/>
          </a:prstGeom>
          <a:solidFill>
            <a:srgbClr val="D9239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FA0C654F-1AC2-1F0B-1426-F386C310269E}"/>
              </a:ext>
            </a:extLst>
          </p:cNvPr>
          <p:cNvSpPr/>
          <p:nvPr/>
        </p:nvSpPr>
        <p:spPr>
          <a:xfrm>
            <a:off x="8051800" y="4764311"/>
            <a:ext cx="3505200" cy="71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arlow" pitchFamily="34" charset="0"/>
              </a:rPr>
              <a:t>X%</a:t>
            </a:r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5C725977-7A20-79B4-39D8-A0393BC7DDD2}"/>
              </a:ext>
            </a:extLst>
          </p:cNvPr>
          <p:cNvSpPr/>
          <p:nvPr/>
        </p:nvSpPr>
        <p:spPr>
          <a:xfrm>
            <a:off x="8013700" y="5538750"/>
            <a:ext cx="3581400" cy="335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lang="en-US" dirty="0">
                <a:solidFill>
                  <a:srgbClr val="CED1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tickets used Gen Reply</a:t>
            </a:r>
          </a:p>
          <a:p>
            <a:pPr lvl="0" algn="ctr"/>
            <a:endParaRPr lang="en-US" dirty="0">
              <a:solidFill>
                <a:srgbClr val="CED1FF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0668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E6EDC-5D6D-4B17-C731-37ACD62A4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E4C2A0C2-AA42-0CD2-EC6D-C5C232C5DED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>
            <a:extLst>
              <a:ext uri="{FF2B5EF4-FFF2-40B4-BE49-F238E27FC236}">
                <a16:creationId xmlns:a16="http://schemas.microsoft.com/office/drawing/2014/main" id="{2EE79929-4FAC-595B-01B1-3FC1D5A0A68E}"/>
              </a:ext>
            </a:extLst>
          </p:cNvPr>
          <p:cNvSpPr/>
          <p:nvPr/>
        </p:nvSpPr>
        <p:spPr>
          <a:xfrm>
            <a:off x="507999" y="1135310"/>
            <a:ext cx="5426269" cy="4524095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C88AFB95-549A-92E2-A71E-C1A07DB39B30}"/>
              </a:ext>
            </a:extLst>
          </p:cNvPr>
          <p:cNvSpPr/>
          <p:nvPr/>
        </p:nvSpPr>
        <p:spPr>
          <a:xfrm>
            <a:off x="508000" y="453355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HELPDESK</a:t>
            </a:r>
          </a:p>
        </p:txBody>
      </p:sp>
      <p:sp>
        <p:nvSpPr>
          <p:cNvPr id="4" name="ImagePlaceholder">
            <a:extLst>
              <a:ext uri="{FF2B5EF4-FFF2-40B4-BE49-F238E27FC236}">
                <a16:creationId xmlns:a16="http://schemas.microsoft.com/office/drawing/2014/main" id="{B092511A-45A1-9700-0368-1B847C1BE501}"/>
              </a:ext>
            </a:extLst>
          </p:cNvPr>
          <p:cNvSpPr/>
          <p:nvPr/>
        </p:nvSpPr>
        <p:spPr>
          <a:xfrm>
            <a:off x="6178938" y="1135310"/>
            <a:ext cx="5426269" cy="4524095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5" name="Shape 14">
            <a:extLst>
              <a:ext uri="{FF2B5EF4-FFF2-40B4-BE49-F238E27FC236}">
                <a16:creationId xmlns:a16="http://schemas.microsoft.com/office/drawing/2014/main" id="{E3AA85CF-3624-DAAD-521D-F4AD9B792FD4}"/>
              </a:ext>
            </a:extLst>
          </p:cNvPr>
          <p:cNvSpPr/>
          <p:nvPr/>
        </p:nvSpPr>
        <p:spPr>
          <a:xfrm>
            <a:off x="507999" y="5878315"/>
            <a:ext cx="3759200" cy="52633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9BAB22CE-EAAB-9609-80FD-69F1FB8C1164}"/>
              </a:ext>
            </a:extLst>
          </p:cNvPr>
          <p:cNvSpPr/>
          <p:nvPr/>
        </p:nvSpPr>
        <p:spPr>
          <a:xfrm>
            <a:off x="622657" y="6086990"/>
            <a:ext cx="3581400" cy="139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b="1" dirty="0">
                <a:solidFill>
                  <a:srgbClr val="CED1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Average handling time (days)</a:t>
            </a: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546DBC60-F087-F1B0-07F5-EB18FC7922BB}"/>
              </a:ext>
            </a:extLst>
          </p:cNvPr>
          <p:cNvSpPr/>
          <p:nvPr/>
        </p:nvSpPr>
        <p:spPr>
          <a:xfrm>
            <a:off x="6178938" y="5878315"/>
            <a:ext cx="3759200" cy="52633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572586E3-BCD3-9E5B-83F7-B014C880B337}"/>
              </a:ext>
            </a:extLst>
          </p:cNvPr>
          <p:cNvSpPr/>
          <p:nvPr/>
        </p:nvSpPr>
        <p:spPr>
          <a:xfrm>
            <a:off x="6293596" y="6086990"/>
            <a:ext cx="3581400" cy="139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b="1" dirty="0">
                <a:solidFill>
                  <a:srgbClr val="CED1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Average handling time by user (days)</a:t>
            </a:r>
          </a:p>
        </p:txBody>
      </p:sp>
    </p:spTree>
    <p:extLst>
      <p:ext uri="{BB962C8B-B14F-4D97-AF65-F5344CB8AC3E}">
        <p14:creationId xmlns:p14="http://schemas.microsoft.com/office/powerpoint/2010/main" val="3002694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7FDA-9C9A-AFDA-8085-C5E95630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B791EAB3-7A91-8D64-068F-1C211814E53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" name="ImagePlaceholder">
            <a:extLst>
              <a:ext uri="{FF2B5EF4-FFF2-40B4-BE49-F238E27FC236}">
                <a16:creationId xmlns:a16="http://schemas.microsoft.com/office/drawing/2014/main" id="{920856BD-6ADB-4F72-5828-D633E910E26E}"/>
              </a:ext>
            </a:extLst>
          </p:cNvPr>
          <p:cNvSpPr/>
          <p:nvPr/>
        </p:nvSpPr>
        <p:spPr>
          <a:xfrm>
            <a:off x="507999" y="1135310"/>
            <a:ext cx="5426269" cy="4524095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0893EAC7-F777-4E7D-518B-BA289C4C241B}"/>
              </a:ext>
            </a:extLst>
          </p:cNvPr>
          <p:cNvSpPr/>
          <p:nvPr/>
        </p:nvSpPr>
        <p:spPr>
          <a:xfrm>
            <a:off x="508000" y="453355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HELPDESK</a:t>
            </a:r>
          </a:p>
        </p:txBody>
      </p:sp>
      <p:sp>
        <p:nvSpPr>
          <p:cNvPr id="4" name="ImagePlaceholder">
            <a:extLst>
              <a:ext uri="{FF2B5EF4-FFF2-40B4-BE49-F238E27FC236}">
                <a16:creationId xmlns:a16="http://schemas.microsoft.com/office/drawing/2014/main" id="{4CD7586F-D7B7-3BA0-12FE-2F39C473C83B}"/>
              </a:ext>
            </a:extLst>
          </p:cNvPr>
          <p:cNvSpPr/>
          <p:nvPr/>
        </p:nvSpPr>
        <p:spPr>
          <a:xfrm>
            <a:off x="6178938" y="1135310"/>
            <a:ext cx="5426269" cy="4524095"/>
          </a:xfrm>
          <a:prstGeom prst="roundRect">
            <a:avLst>
              <a:gd name="adj" fmla="val 3000"/>
            </a:avLst>
          </a:prstGeom>
          <a:noFill/>
          <a:ln w="19050" cap="flat" cmpd="sng">
            <a:solidFill>
              <a:srgbClr val="CCBBFF">
                <a:alpha val="40000"/>
              </a:srgbClr>
            </a:solidFill>
            <a:prstDash val="dash"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CCBBFF">
                    <a:alpha val="60000"/>
                  </a:srgbClr>
                </a:solidFill>
                <a:latin typeface="Barlow Black" pitchFamily="34" charset="0"/>
              </a:rPr>
              <a:t>INSERT IMAGE HERE</a:t>
            </a:r>
          </a:p>
        </p:txBody>
      </p:sp>
      <p:sp>
        <p:nvSpPr>
          <p:cNvPr id="5" name="Shape 14">
            <a:extLst>
              <a:ext uri="{FF2B5EF4-FFF2-40B4-BE49-F238E27FC236}">
                <a16:creationId xmlns:a16="http://schemas.microsoft.com/office/drawing/2014/main" id="{D1423F49-EBF9-6B12-9E49-B6F69486BEEB}"/>
              </a:ext>
            </a:extLst>
          </p:cNvPr>
          <p:cNvSpPr/>
          <p:nvPr/>
        </p:nvSpPr>
        <p:spPr>
          <a:xfrm>
            <a:off x="507999" y="5878315"/>
            <a:ext cx="3759200" cy="52633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E59A566F-C21D-75E6-1735-1630731C6FAF}"/>
              </a:ext>
            </a:extLst>
          </p:cNvPr>
          <p:cNvSpPr/>
          <p:nvPr/>
        </p:nvSpPr>
        <p:spPr>
          <a:xfrm>
            <a:off x="622657" y="6086990"/>
            <a:ext cx="3581400" cy="139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b="1" dirty="0">
                <a:solidFill>
                  <a:srgbClr val="CED1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Breakdown of ticket type</a:t>
            </a: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E4ACD40A-BCD9-CCB8-C450-C545FF530150}"/>
              </a:ext>
            </a:extLst>
          </p:cNvPr>
          <p:cNvSpPr/>
          <p:nvPr/>
        </p:nvSpPr>
        <p:spPr>
          <a:xfrm>
            <a:off x="6178938" y="5878315"/>
            <a:ext cx="3759200" cy="52633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A291F7D6-3088-27D6-AC80-8947CBC5E51B}"/>
              </a:ext>
            </a:extLst>
          </p:cNvPr>
          <p:cNvSpPr/>
          <p:nvPr/>
        </p:nvSpPr>
        <p:spPr>
          <a:xfrm>
            <a:off x="6293596" y="6086990"/>
            <a:ext cx="3581400" cy="139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b="1" dirty="0">
                <a:solidFill>
                  <a:srgbClr val="CED1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Ticket assignment type</a:t>
            </a:r>
          </a:p>
        </p:txBody>
      </p:sp>
    </p:spTree>
    <p:extLst>
      <p:ext uri="{BB962C8B-B14F-4D97-AF65-F5344CB8AC3E}">
        <p14:creationId xmlns:p14="http://schemas.microsoft.com/office/powerpoint/2010/main" val="1477029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07C4A-B4CA-01B7-BFDE-EC0C42944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F4D84498-4EDB-706F-46FB-CD69E1ECD5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02170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00AE364E-0953-3CC9-4417-5011815C0ECC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spc="700" dirty="0">
                <a:solidFill>
                  <a:srgbClr val="D92398"/>
                </a:solidFill>
                <a:latin typeface="Barlow Black" pitchFamily="34" charset="0"/>
              </a:rPr>
              <a:t>HELPDESK</a:t>
            </a:r>
          </a:p>
        </p:txBody>
      </p:sp>
      <p:sp>
        <p:nvSpPr>
          <p:cNvPr id="9" name="TitleAccent">
            <a:extLst>
              <a:ext uri="{FF2B5EF4-FFF2-40B4-BE49-F238E27FC236}">
                <a16:creationId xmlns:a16="http://schemas.microsoft.com/office/drawing/2014/main" id="{23FF293B-87A9-6EBA-95DA-B04643434AA4}"/>
              </a:ext>
            </a:extLst>
          </p:cNvPr>
          <p:cNvSpPr/>
          <p:nvPr/>
        </p:nvSpPr>
        <p:spPr>
          <a:xfrm>
            <a:off x="502920" y="2066636"/>
            <a:ext cx="1524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1" name="CardBody">
            <a:extLst>
              <a:ext uri="{FF2B5EF4-FFF2-40B4-BE49-F238E27FC236}">
                <a16:creationId xmlns:a16="http://schemas.microsoft.com/office/drawing/2014/main" id="{FD4DE711-9E40-83AB-6309-E845A6E96AF9}"/>
              </a:ext>
            </a:extLst>
          </p:cNvPr>
          <p:cNvSpPr/>
          <p:nvPr/>
        </p:nvSpPr>
        <p:spPr>
          <a:xfrm>
            <a:off x="5816600" y="1422400"/>
            <a:ext cx="5638800" cy="4572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anchor="t">
            <a:normAutofit/>
          </a:bodyPr>
          <a:lstStyle/>
          <a:p>
            <a:r>
              <a:rPr lang="en-GB" sz="1400" dirty="0">
                <a:solidFill>
                  <a:srgbClr val="FFFFFF"/>
                </a:solidFill>
                <a:latin typeface="Barlow"/>
              </a:rPr>
              <a:t>SUMMARY_PLACEHOLDER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592D257-C171-6C94-041C-5BCACF8B2D62}"/>
              </a:ext>
            </a:extLst>
          </p:cNvPr>
          <p:cNvSpPr/>
          <p:nvPr/>
        </p:nvSpPr>
        <p:spPr>
          <a:xfrm>
            <a:off x="466343" y="974309"/>
            <a:ext cx="346834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SUMMARY &amp; RECCOMENDATIONS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32674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C0515-0B95-6C6C-AAB4-13E529E1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068B3050-A291-03A0-E740-C9ECAD11B6B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0" name="Tag">
            <a:extLst>
              <a:ext uri="{FF2B5EF4-FFF2-40B4-BE49-F238E27FC236}">
                <a16:creationId xmlns:a16="http://schemas.microsoft.com/office/drawing/2014/main" id="{60267EEC-1452-A6DB-4A9A-D6246DF41B5E}"/>
              </a:ext>
            </a:extLst>
          </p:cNvPr>
          <p:cNvSpPr/>
          <p:nvPr/>
        </p:nvSpPr>
        <p:spPr>
          <a:xfrm>
            <a:off x="508000" y="2540000"/>
            <a:ext cx="11176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8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SECTION SIX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4905FB16-8508-7131-CA26-D4CCC2A04EA7}"/>
              </a:ext>
            </a:extLst>
          </p:cNvPr>
          <p:cNvSpPr/>
          <p:nvPr/>
        </p:nvSpPr>
        <p:spPr>
          <a:xfrm>
            <a:off x="508000" y="2857500"/>
            <a:ext cx="1117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SUPPORT TICKETS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E46AF4B5-C237-FC1D-3BCE-B39E331FAC6E}"/>
              </a:ext>
            </a:extLst>
          </p:cNvPr>
          <p:cNvSpPr/>
          <p:nvPr/>
        </p:nvSpPr>
        <p:spPr>
          <a:xfrm>
            <a:off x="1524000" y="4031596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600" dirty="0">
                <a:solidFill>
                  <a:srgbClr val="CCBB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Tickets from the last 12 months</a:t>
            </a:r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3D46E47A-54BB-9461-3ED0-FC81C0ED893C}"/>
              </a:ext>
            </a:extLst>
          </p:cNvPr>
          <p:cNvSpPr/>
          <p:nvPr/>
        </p:nvSpPr>
        <p:spPr>
          <a:xfrm>
            <a:off x="4648200" y="3810000"/>
            <a:ext cx="2895600" cy="381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7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9400" y="48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700" dirty="0">
                <a:solidFill>
                  <a:srgbClr val="D92398"/>
                </a:solidFill>
                <a:latin typeface="Barlow Black" pitchFamily="34" charset="0"/>
              </a:rPr>
              <a:t>TICKET VOLUMES</a:t>
            </a:r>
            <a:endParaRPr lang="en-US" sz="1100" dirty="0">
              <a:solidFill>
                <a:srgbClr val="D92398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466344" y="974309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2800" b="1" dirty="0">
                <a:solidFill>
                  <a:srgbClr val="CCBBFF"/>
                </a:solidFill>
                <a:latin typeface="Barlow" pitchFamily="34" charset="0"/>
              </a:rPr>
              <a:t>Metrics from the last 12 months</a:t>
            </a:r>
            <a:endParaRPr lang="en-US" sz="2800" b="1" dirty="0"/>
          </a:p>
        </p:txBody>
      </p:sp>
      <p:sp>
        <p:nvSpPr>
          <p:cNvPr id="9" name="Shape 5"/>
          <p:cNvSpPr/>
          <p:nvPr/>
        </p:nvSpPr>
        <p:spPr>
          <a:xfrm>
            <a:off x="502920" y="4849587"/>
            <a:ext cx="73152" cy="1554480"/>
          </a:xfrm>
          <a:prstGeom prst="rect">
            <a:avLst/>
          </a:prstGeom>
          <a:solidFill>
            <a:srgbClr val="D92398"/>
          </a:solidFill>
          <a:ln w="12700">
            <a:solidFill>
              <a:srgbClr val="D923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85800" y="5058165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500" dirty="0">
                <a:solidFill>
                  <a:srgbClr val="CCBAFF"/>
                </a:solidFill>
                <a:latin typeface="Barlow Black" pitchFamily="34" charset="0"/>
              </a:rPr>
              <a:t>TICKETS RAISED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85800" y="5441477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X</a:t>
            </a:r>
            <a:endParaRPr lang="en-US" sz="4200" dirty="0"/>
          </a:p>
        </p:txBody>
      </p:sp>
      <p:sp>
        <p:nvSpPr>
          <p:cNvPr id="21" name="Text 17"/>
          <p:cNvSpPr/>
          <p:nvPr/>
        </p:nvSpPr>
        <p:spPr>
          <a:xfrm>
            <a:off x="5359400" y="226733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0F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Volume of new support tickets                   </a:t>
            </a:r>
          </a:p>
        </p:txBody>
      </p:sp>
      <p:sp>
        <p:nvSpPr>
          <p:cNvPr id="22" name="Text 18"/>
          <p:cNvSpPr/>
          <p:nvPr/>
        </p:nvSpPr>
        <p:spPr>
          <a:xfrm>
            <a:off x="10248900" y="2324481"/>
            <a:ext cx="12827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F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749"/>
                </a:solidFill>
                <a:latin typeface="Barlow Black" pitchFamily="34" charset="0"/>
              </a:rPr>
              <a:t>X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359400" y="272453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0F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Volume of support tickets open </a:t>
            </a:r>
          </a:p>
        </p:txBody>
      </p:sp>
      <p:sp>
        <p:nvSpPr>
          <p:cNvPr id="24" name="Text 20"/>
          <p:cNvSpPr/>
          <p:nvPr/>
        </p:nvSpPr>
        <p:spPr>
          <a:xfrm>
            <a:off x="10248900" y="2781681"/>
            <a:ext cx="12827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F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749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X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359400" y="3362897"/>
            <a:ext cx="6172200" cy="18288"/>
          </a:xfrm>
          <a:prstGeom prst="rect">
            <a:avLst/>
          </a:prstGeom>
          <a:solidFill>
            <a:srgbClr val="E53B90"/>
          </a:solidFill>
          <a:ln w="12700">
            <a:solidFill>
              <a:srgbClr val="E53B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359400" y="4128138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0F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Volume of support tickets waiting on </a:t>
            </a:r>
            <a:r>
              <a:rPr lang="en-US" sz="1200" dirty="0" err="1">
                <a:solidFill>
                  <a:srgbClr val="0B0F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Xelix</a:t>
            </a:r>
            <a:endParaRPr lang="en-US" sz="1200" dirty="0">
              <a:solidFill>
                <a:srgbClr val="0B0F2C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10248900" y="4185288"/>
            <a:ext cx="12827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F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749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X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359400" y="4585338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0F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Volume of support tickets waiting for {CUSTOMER}</a:t>
            </a:r>
          </a:p>
        </p:txBody>
      </p:sp>
      <p:sp>
        <p:nvSpPr>
          <p:cNvPr id="32" name="Text 28"/>
          <p:cNvSpPr/>
          <p:nvPr/>
        </p:nvSpPr>
        <p:spPr>
          <a:xfrm>
            <a:off x="10248900" y="4642488"/>
            <a:ext cx="12827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F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749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X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359400" y="5332292"/>
            <a:ext cx="6172200" cy="18288"/>
          </a:xfrm>
          <a:prstGeom prst="rect">
            <a:avLst/>
          </a:prstGeom>
          <a:solidFill>
            <a:srgbClr val="E53B90"/>
          </a:solidFill>
          <a:ln w="12700">
            <a:solidFill>
              <a:srgbClr val="E53B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5359400" y="6019038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B0F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Volume of support tickets closed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10248900" y="6076188"/>
            <a:ext cx="1282700" cy="342900"/>
          </a:xfrm>
          <a:prstGeom prst="roundRect">
            <a:avLst>
              <a:gd name="adj" fmla="val 16667"/>
            </a:avLst>
          </a:prstGeom>
          <a:solidFill>
            <a:srgbClr val="D92398"/>
          </a:solidFill>
          <a:ln w="12700">
            <a:solidFill>
              <a:srgbClr val="D9239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Black" pitchFamily="34" charset="0"/>
              </a:rPr>
              <a:t>X</a:t>
            </a:r>
            <a:endParaRPr lang="en-US" sz="13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A0773D5A-99C2-F8B1-9DA5-14981DEB2872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700" dirty="0">
                <a:solidFill>
                  <a:srgbClr val="D92398"/>
                </a:solidFill>
                <a:latin typeface="Barlow Black" pitchFamily="34" charset="0"/>
              </a:rPr>
              <a:t>SUPPORT TICKETS</a:t>
            </a:r>
            <a:endParaRPr lang="en-US" sz="1100" dirty="0">
              <a:solidFill>
                <a:srgbClr val="D923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830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15041-36F9-5792-BB06-1A01E749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D6E94A02-6CCC-12E4-A6A4-79A7BA3E27C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0" name="Tag">
            <a:extLst>
              <a:ext uri="{FF2B5EF4-FFF2-40B4-BE49-F238E27FC236}">
                <a16:creationId xmlns:a16="http://schemas.microsoft.com/office/drawing/2014/main" id="{2D5B978F-D049-88C9-F1B7-5332C6B56C89}"/>
              </a:ext>
            </a:extLst>
          </p:cNvPr>
          <p:cNvSpPr/>
          <p:nvPr/>
        </p:nvSpPr>
        <p:spPr>
          <a:xfrm>
            <a:off x="508000" y="2540000"/>
            <a:ext cx="11176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800" dirty="0">
                <a:solidFill>
                  <a:srgbClr val="D92398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SECTION SEVEN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483DF60F-54D1-ABB1-4356-19ABA9621357}"/>
              </a:ext>
            </a:extLst>
          </p:cNvPr>
          <p:cNvSpPr/>
          <p:nvPr/>
        </p:nvSpPr>
        <p:spPr>
          <a:xfrm>
            <a:off x="508000" y="2857500"/>
            <a:ext cx="1117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NEXT STEPS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E6B6BAB6-48AB-BC39-2571-A65CC2E26B1B}"/>
              </a:ext>
            </a:extLst>
          </p:cNvPr>
          <p:cNvSpPr/>
          <p:nvPr/>
        </p:nvSpPr>
        <p:spPr>
          <a:xfrm>
            <a:off x="1524000" y="4031596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600" dirty="0" err="1">
                <a:solidFill>
                  <a:srgbClr val="CCBB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Reccommendations</a:t>
            </a:r>
            <a:endParaRPr lang="en-US" sz="1600" dirty="0">
              <a:solidFill>
                <a:srgbClr val="CCBBFF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FE994BB0-813C-E08B-BFF2-E8219EA5CBAE}"/>
              </a:ext>
            </a:extLst>
          </p:cNvPr>
          <p:cNvSpPr/>
          <p:nvPr/>
        </p:nvSpPr>
        <p:spPr>
          <a:xfrm>
            <a:off x="4648200" y="3810000"/>
            <a:ext cx="2895600" cy="381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61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" name="Timeline"/>
          <p:cNvSpPr/>
          <p:nvPr/>
        </p:nvSpPr>
        <p:spPr>
          <a:xfrm>
            <a:off x="508000" y="3048000"/>
            <a:ext cx="11176000" cy="38100"/>
          </a:xfrm>
          <a:prstGeom prst="rect">
            <a:avLst/>
          </a:prstGeom>
          <a:solidFill>
            <a:srgbClr val="CCBB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20" name="Node 1"/>
          <p:cNvSpPr/>
          <p:nvPr/>
        </p:nvSpPr>
        <p:spPr>
          <a:xfrm>
            <a:off x="1270000" y="2813050"/>
            <a:ext cx="508000" cy="508000"/>
          </a:xfrm>
          <a:prstGeom prst="ellipse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 Black" pitchFamily="34" charset="0"/>
              </a:rPr>
              <a:t>01</a:t>
            </a:r>
          </a:p>
        </p:txBody>
      </p:sp>
      <p:sp>
        <p:nvSpPr>
          <p:cNvPr id="21" name="Step 1"/>
          <p:cNvSpPr/>
          <p:nvPr/>
        </p:nvSpPr>
        <p:spPr>
          <a:xfrm>
            <a:off x="508000" y="36576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kern="0" spc="300" dirty="0">
                <a:solidFill>
                  <a:srgbClr val="CCBBFF"/>
                </a:solidFill>
                <a:latin typeface="Barlow Black" pitchFamily="34" charset="0"/>
              </a:rPr>
              <a:t>STEP 01</a:t>
            </a:r>
          </a:p>
        </p:txBody>
      </p:sp>
      <p:sp>
        <p:nvSpPr>
          <p:cNvPr id="22" name="Desc 1"/>
          <p:cNvSpPr/>
          <p:nvPr/>
        </p:nvSpPr>
        <p:spPr>
          <a:xfrm>
            <a:off x="508000" y="4013200"/>
            <a:ext cx="203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Description text for this step</a:t>
            </a:r>
          </a:p>
        </p:txBody>
      </p:sp>
      <p:sp>
        <p:nvSpPr>
          <p:cNvPr id="30" name="Node 2"/>
          <p:cNvSpPr/>
          <p:nvPr/>
        </p:nvSpPr>
        <p:spPr>
          <a:xfrm>
            <a:off x="3556000" y="2813050"/>
            <a:ext cx="508000" cy="508000"/>
          </a:xfrm>
          <a:prstGeom prst="ellipse">
            <a:avLst/>
          </a:prstGeom>
          <a:solidFill>
            <a:srgbClr val="B81A9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 Black" pitchFamily="34" charset="0"/>
              </a:rPr>
              <a:t>02</a:t>
            </a:r>
          </a:p>
        </p:txBody>
      </p:sp>
      <p:sp>
        <p:nvSpPr>
          <p:cNvPr id="31" name="Step 2"/>
          <p:cNvSpPr/>
          <p:nvPr/>
        </p:nvSpPr>
        <p:spPr>
          <a:xfrm>
            <a:off x="2794000" y="36576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kern="0" spc="300" dirty="0">
                <a:solidFill>
                  <a:srgbClr val="CCBBFF"/>
                </a:solidFill>
                <a:latin typeface="Barlow Black" pitchFamily="34" charset="0"/>
              </a:rPr>
              <a:t>STEP 02</a:t>
            </a:r>
          </a:p>
        </p:txBody>
      </p:sp>
      <p:sp>
        <p:nvSpPr>
          <p:cNvPr id="32" name="Desc 2"/>
          <p:cNvSpPr/>
          <p:nvPr/>
        </p:nvSpPr>
        <p:spPr>
          <a:xfrm>
            <a:off x="2794000" y="4013200"/>
            <a:ext cx="203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Description text for this step</a:t>
            </a:r>
          </a:p>
        </p:txBody>
      </p:sp>
      <p:sp>
        <p:nvSpPr>
          <p:cNvPr id="40" name="Node 3"/>
          <p:cNvSpPr/>
          <p:nvPr/>
        </p:nvSpPr>
        <p:spPr>
          <a:xfrm>
            <a:off x="5842000" y="2813050"/>
            <a:ext cx="508000" cy="508000"/>
          </a:xfrm>
          <a:prstGeom prst="ellipse">
            <a:avLst/>
          </a:prstGeom>
          <a:solidFill>
            <a:srgbClr val="B81A9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 Black" pitchFamily="34" charset="0"/>
              </a:rPr>
              <a:t>03</a:t>
            </a:r>
          </a:p>
        </p:txBody>
      </p:sp>
      <p:sp>
        <p:nvSpPr>
          <p:cNvPr id="41" name="Step 3"/>
          <p:cNvSpPr/>
          <p:nvPr/>
        </p:nvSpPr>
        <p:spPr>
          <a:xfrm>
            <a:off x="5080000" y="36576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kern="0" spc="300" dirty="0">
                <a:solidFill>
                  <a:srgbClr val="CCBBFF"/>
                </a:solidFill>
                <a:latin typeface="Barlow Black" pitchFamily="34" charset="0"/>
              </a:rPr>
              <a:t>STEP 03</a:t>
            </a:r>
          </a:p>
        </p:txBody>
      </p:sp>
      <p:sp>
        <p:nvSpPr>
          <p:cNvPr id="42" name="Desc 3"/>
          <p:cNvSpPr/>
          <p:nvPr/>
        </p:nvSpPr>
        <p:spPr>
          <a:xfrm>
            <a:off x="5080000" y="4013200"/>
            <a:ext cx="203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Description text for this step</a:t>
            </a:r>
          </a:p>
        </p:txBody>
      </p:sp>
      <p:sp>
        <p:nvSpPr>
          <p:cNvPr id="50" name="Node 4"/>
          <p:cNvSpPr/>
          <p:nvPr/>
        </p:nvSpPr>
        <p:spPr>
          <a:xfrm>
            <a:off x="8128000" y="2813050"/>
            <a:ext cx="508000" cy="508000"/>
          </a:xfrm>
          <a:prstGeom prst="ellipse">
            <a:avLst/>
          </a:prstGeom>
          <a:solidFill>
            <a:srgbClr val="B81A9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 Black" pitchFamily="34" charset="0"/>
              </a:rPr>
              <a:t>04</a:t>
            </a:r>
          </a:p>
        </p:txBody>
      </p:sp>
      <p:sp>
        <p:nvSpPr>
          <p:cNvPr id="51" name="Step 4"/>
          <p:cNvSpPr/>
          <p:nvPr/>
        </p:nvSpPr>
        <p:spPr>
          <a:xfrm>
            <a:off x="7366000" y="36576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kern="0" spc="300" dirty="0">
                <a:solidFill>
                  <a:srgbClr val="CCBBFF"/>
                </a:solidFill>
                <a:latin typeface="Barlow Black" pitchFamily="34" charset="0"/>
              </a:rPr>
              <a:t>STEP 04</a:t>
            </a:r>
          </a:p>
        </p:txBody>
      </p:sp>
      <p:sp>
        <p:nvSpPr>
          <p:cNvPr id="52" name="Desc 4"/>
          <p:cNvSpPr/>
          <p:nvPr/>
        </p:nvSpPr>
        <p:spPr>
          <a:xfrm>
            <a:off x="7366000" y="4013200"/>
            <a:ext cx="203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Description text for this step</a:t>
            </a:r>
          </a:p>
        </p:txBody>
      </p:sp>
      <p:sp>
        <p:nvSpPr>
          <p:cNvPr id="60" name="Node 5"/>
          <p:cNvSpPr/>
          <p:nvPr/>
        </p:nvSpPr>
        <p:spPr>
          <a:xfrm>
            <a:off x="10414000" y="2813050"/>
            <a:ext cx="508000" cy="508000"/>
          </a:xfrm>
          <a:prstGeom prst="ellipse">
            <a:avLst/>
          </a:prstGeom>
          <a:solidFill>
            <a:srgbClr val="B81A9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 Black" pitchFamily="34" charset="0"/>
              </a:rPr>
              <a:t>05</a:t>
            </a:r>
          </a:p>
        </p:txBody>
      </p:sp>
      <p:sp>
        <p:nvSpPr>
          <p:cNvPr id="61" name="Step 5"/>
          <p:cNvSpPr/>
          <p:nvPr/>
        </p:nvSpPr>
        <p:spPr>
          <a:xfrm>
            <a:off x="9652000" y="36576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kern="0" spc="300" dirty="0">
                <a:solidFill>
                  <a:srgbClr val="CCBBFF"/>
                </a:solidFill>
                <a:latin typeface="Barlow Black" pitchFamily="34" charset="0"/>
              </a:rPr>
              <a:t>STEP 05</a:t>
            </a:r>
          </a:p>
        </p:txBody>
      </p:sp>
      <p:sp>
        <p:nvSpPr>
          <p:cNvPr id="62" name="Desc 5"/>
          <p:cNvSpPr/>
          <p:nvPr/>
        </p:nvSpPr>
        <p:spPr>
          <a:xfrm>
            <a:off x="9652000" y="4013200"/>
            <a:ext cx="203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Description text for this step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2811D6-8708-C8C4-E20E-91041F8A555F}"/>
              </a:ext>
            </a:extLst>
          </p:cNvPr>
          <p:cNvSpPr/>
          <p:nvPr/>
        </p:nvSpPr>
        <p:spPr>
          <a:xfrm>
            <a:off x="466344" y="974309"/>
            <a:ext cx="10735056" cy="397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TIMELINE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E50F09C-2895-C238-D98C-FDC037157C7B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700" dirty="0">
                <a:solidFill>
                  <a:srgbClr val="D92398"/>
                </a:solidFill>
                <a:latin typeface="Barlow Black" pitchFamily="34" charset="0"/>
              </a:rPr>
              <a:t>NEXT STEPS</a:t>
            </a:r>
          </a:p>
        </p:txBody>
      </p:sp>
      <p:sp>
        <p:nvSpPr>
          <p:cNvPr id="2" name="TitleAccent">
            <a:extLst>
              <a:ext uri="{FF2B5EF4-FFF2-40B4-BE49-F238E27FC236}">
                <a16:creationId xmlns:a16="http://schemas.microsoft.com/office/drawing/2014/main" id="{1304778E-BAF3-FB8C-4D23-85559BD1EB57}"/>
              </a:ext>
            </a:extLst>
          </p:cNvPr>
          <p:cNvSpPr/>
          <p:nvPr/>
        </p:nvSpPr>
        <p:spPr>
          <a:xfrm>
            <a:off x="502920" y="1675068"/>
            <a:ext cx="1524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461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32A68-F20A-0C44-2B8A-B5274742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dark.jpg">
            <a:extLst>
              <a:ext uri="{FF2B5EF4-FFF2-40B4-BE49-F238E27FC236}">
                <a16:creationId xmlns:a16="http://schemas.microsoft.com/office/drawing/2014/main" id="{0534817F-429B-5F6C-7815-19D8828CAA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1918879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C8BD049C-D599-7059-40DE-90EC3F3937C9}"/>
              </a:ext>
            </a:extLst>
          </p:cNvPr>
          <p:cNvSpPr/>
          <p:nvPr/>
        </p:nvSpPr>
        <p:spPr>
          <a:xfrm>
            <a:off x="466344" y="974309"/>
            <a:ext cx="420511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XELIX RENEWAL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 </a:t>
            </a:r>
            <a:endParaRPr lang="en-US" sz="28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81D384FB-E87A-6AD1-145B-8BD478A36B78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800" dirty="0">
                <a:solidFill>
                  <a:srgbClr val="D92398"/>
                </a:solidFill>
                <a:latin typeface="Barlow Black" pitchFamily="34" charset="0"/>
              </a:rPr>
              <a:t>NEXT STEPS</a:t>
            </a:r>
          </a:p>
        </p:txBody>
      </p:sp>
      <p:sp>
        <p:nvSpPr>
          <p:cNvPr id="13" name="AccentBar">
            <a:extLst>
              <a:ext uri="{FF2B5EF4-FFF2-40B4-BE49-F238E27FC236}">
                <a16:creationId xmlns:a16="http://schemas.microsoft.com/office/drawing/2014/main" id="{25332B06-589A-6799-ACD4-09EA5D396DE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CardYear 1">
            <a:extLst>
              <a:ext uri="{FF2B5EF4-FFF2-40B4-BE49-F238E27FC236}">
                <a16:creationId xmlns:a16="http://schemas.microsoft.com/office/drawing/2014/main" id="{5C7FA4F1-716D-7BE0-9DCD-E2714EEFD7CF}"/>
              </a:ext>
            </a:extLst>
          </p:cNvPr>
          <p:cNvSpPr/>
          <p:nvPr/>
        </p:nvSpPr>
        <p:spPr>
          <a:xfrm>
            <a:off x="508000" y="2317496"/>
            <a:ext cx="3556000" cy="26670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6350">
            <a:solidFill>
              <a:srgbClr val="D92398"/>
            </a:solidFill>
          </a:ln>
        </p:spPr>
        <p:txBody>
          <a:bodyPr wrap="square" lIns="91440" tIns="45720" rIns="91440" bIns="45720"/>
          <a:lstStyle/>
          <a:p>
            <a:endParaRPr lang="en-US">
              <a:solidFill>
                <a:srgbClr val="002749"/>
              </a:solidFill>
            </a:endParaRPr>
          </a:p>
        </p:txBody>
      </p:sp>
      <p:sp>
        <p:nvSpPr>
          <p:cNvPr id="5" name="Year 1Pill">
            <a:extLst>
              <a:ext uri="{FF2B5EF4-FFF2-40B4-BE49-F238E27FC236}">
                <a16:creationId xmlns:a16="http://schemas.microsoft.com/office/drawing/2014/main" id="{7E163407-CAE0-740A-680B-FBEB922A3D06}"/>
              </a:ext>
            </a:extLst>
          </p:cNvPr>
          <p:cNvSpPr/>
          <p:nvPr/>
        </p:nvSpPr>
        <p:spPr>
          <a:xfrm>
            <a:off x="711200" y="2531872"/>
            <a:ext cx="3149600" cy="406400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spc="400" dirty="0">
                <a:solidFill>
                  <a:srgbClr val="FFFFFF"/>
                </a:solidFill>
                <a:latin typeface="Barlow Black" pitchFamily="34" charset="0"/>
              </a:rPr>
              <a:t>RENEWAL DATE</a:t>
            </a:r>
          </a:p>
        </p:txBody>
      </p:sp>
      <p:sp>
        <p:nvSpPr>
          <p:cNvPr id="18" name="Year 1TotalVal">
            <a:extLst>
              <a:ext uri="{FF2B5EF4-FFF2-40B4-BE49-F238E27FC236}">
                <a16:creationId xmlns:a16="http://schemas.microsoft.com/office/drawing/2014/main" id="{25374FE5-1BC6-B457-3BB0-B032E06C6D76}"/>
              </a:ext>
            </a:extLst>
          </p:cNvPr>
          <p:cNvSpPr/>
          <p:nvPr/>
        </p:nvSpPr>
        <p:spPr>
          <a:xfrm>
            <a:off x="711200" y="3270251"/>
            <a:ext cx="3127248" cy="111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dirty="0">
                <a:solidFill>
                  <a:srgbClr val="5D139F"/>
                </a:solidFill>
                <a:latin typeface="Barlow Black" pitchFamily="34" charset="0"/>
              </a:rPr>
              <a:t>DAY 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5D139F"/>
                </a:solidFill>
                <a:latin typeface="Barlow Black" pitchFamily="34" charset="0"/>
              </a:rPr>
              <a:t>MONTH 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5D139F"/>
                </a:solidFill>
                <a:latin typeface="Barlow Black" pitchFamily="34" charset="0"/>
              </a:rPr>
              <a:t>2026</a:t>
            </a:r>
          </a:p>
        </p:txBody>
      </p:sp>
      <p:sp>
        <p:nvSpPr>
          <p:cNvPr id="19" name="CardYear 2">
            <a:extLst>
              <a:ext uri="{FF2B5EF4-FFF2-40B4-BE49-F238E27FC236}">
                <a16:creationId xmlns:a16="http://schemas.microsoft.com/office/drawing/2014/main" id="{01ED3244-D7EA-5D6D-29BC-BA9C978053A5}"/>
              </a:ext>
            </a:extLst>
          </p:cNvPr>
          <p:cNvSpPr/>
          <p:nvPr/>
        </p:nvSpPr>
        <p:spPr>
          <a:xfrm>
            <a:off x="4318000" y="2317496"/>
            <a:ext cx="7366000" cy="26670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6350">
            <a:solidFill>
              <a:srgbClr val="D92398"/>
            </a:solidFill>
          </a:ln>
        </p:spPr>
        <p:txBody>
          <a:bodyPr wrap="square" lIns="91440" tIns="45720" rIns="91440" bIns="45720"/>
          <a:lstStyle/>
          <a:p>
            <a:endParaRPr lang="en-US" dirty="0">
              <a:solidFill>
                <a:srgbClr val="002749"/>
              </a:solidFill>
            </a:endParaRPr>
          </a:p>
        </p:txBody>
      </p:sp>
      <p:sp>
        <p:nvSpPr>
          <p:cNvPr id="20" name="Year 2Pill">
            <a:extLst>
              <a:ext uri="{FF2B5EF4-FFF2-40B4-BE49-F238E27FC236}">
                <a16:creationId xmlns:a16="http://schemas.microsoft.com/office/drawing/2014/main" id="{9C6B8703-1E1C-CE3C-B85C-EA9EEB74B8A7}"/>
              </a:ext>
            </a:extLst>
          </p:cNvPr>
          <p:cNvSpPr/>
          <p:nvPr/>
        </p:nvSpPr>
        <p:spPr>
          <a:xfrm>
            <a:off x="5104384" y="2560302"/>
            <a:ext cx="5793232" cy="349539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spc="400" dirty="0">
                <a:solidFill>
                  <a:srgbClr val="FFFFFF"/>
                </a:solidFill>
                <a:latin typeface="Barlow Black" pitchFamily="34" charset="0"/>
              </a:rPr>
              <a:t>PROCESS &amp; STAKEHOLDERS</a:t>
            </a:r>
          </a:p>
        </p:txBody>
      </p:sp>
      <p:sp>
        <p:nvSpPr>
          <p:cNvPr id="48" name="ScopeTag">
            <a:extLst>
              <a:ext uri="{FF2B5EF4-FFF2-40B4-BE49-F238E27FC236}">
                <a16:creationId xmlns:a16="http://schemas.microsoft.com/office/drawing/2014/main" id="{393E5F14-D154-D78A-F66E-514E944572AC}"/>
              </a:ext>
            </a:extLst>
          </p:cNvPr>
          <p:cNvSpPr/>
          <p:nvPr/>
        </p:nvSpPr>
        <p:spPr>
          <a:xfrm>
            <a:off x="502920" y="5323169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D92398"/>
                </a:solidFill>
                <a:latin typeface="Barlow Black" pitchFamily="34" charset="0"/>
              </a:rPr>
              <a:t>MODULES</a:t>
            </a:r>
          </a:p>
        </p:txBody>
      </p:sp>
      <p:sp>
        <p:nvSpPr>
          <p:cNvPr id="49" name="ScopeModulesBg">
            <a:extLst>
              <a:ext uri="{FF2B5EF4-FFF2-40B4-BE49-F238E27FC236}">
                <a16:creationId xmlns:a16="http://schemas.microsoft.com/office/drawing/2014/main" id="{6E3DAA43-6180-F400-F64D-988ADCCB1796}"/>
              </a:ext>
            </a:extLst>
          </p:cNvPr>
          <p:cNvSpPr/>
          <p:nvPr/>
        </p:nvSpPr>
        <p:spPr>
          <a:xfrm>
            <a:off x="508000" y="5678424"/>
            <a:ext cx="2641600" cy="685800"/>
          </a:xfrm>
          <a:prstGeom prst="roundRect">
            <a:avLst>
              <a:gd name="adj" fmla="val 12000"/>
            </a:avLst>
          </a:prstGeom>
          <a:solidFill>
            <a:srgbClr val="BDAFF1">
              <a:alpha val="72157"/>
            </a:srgbClr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0" name="ScopeModulesLabel">
            <a:extLst>
              <a:ext uri="{FF2B5EF4-FFF2-40B4-BE49-F238E27FC236}">
                <a16:creationId xmlns:a16="http://schemas.microsoft.com/office/drawing/2014/main" id="{59E7DA56-D5E3-2331-10C5-CAB8BF90719F}"/>
              </a:ext>
            </a:extLst>
          </p:cNvPr>
          <p:cNvSpPr/>
          <p:nvPr/>
        </p:nvSpPr>
        <p:spPr>
          <a:xfrm>
            <a:off x="797215" y="5881624"/>
            <a:ext cx="2108859" cy="2579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buNone/>
            </a:pPr>
            <a:r>
              <a:rPr lang="en-US" b="1" kern="0" spc="300" dirty="0">
                <a:solidFill>
                  <a:schemeClr val="bg1"/>
                </a:solidFill>
                <a:latin typeface="Barlow Black" pitchFamily="34" charset="0"/>
              </a:rPr>
              <a:t>TRANSACTIONS</a:t>
            </a:r>
          </a:p>
        </p:txBody>
      </p:sp>
      <p:sp>
        <p:nvSpPr>
          <p:cNvPr id="52" name="ScopeUsersBg">
            <a:extLst>
              <a:ext uri="{FF2B5EF4-FFF2-40B4-BE49-F238E27FC236}">
                <a16:creationId xmlns:a16="http://schemas.microsoft.com/office/drawing/2014/main" id="{BEE959B8-7526-C558-2692-0C12958C37AA}"/>
              </a:ext>
            </a:extLst>
          </p:cNvPr>
          <p:cNvSpPr/>
          <p:nvPr/>
        </p:nvSpPr>
        <p:spPr>
          <a:xfrm>
            <a:off x="3330575" y="5699575"/>
            <a:ext cx="2641600" cy="685800"/>
          </a:xfrm>
          <a:prstGeom prst="roundRect">
            <a:avLst>
              <a:gd name="adj" fmla="val 12000"/>
            </a:avLst>
          </a:prstGeom>
          <a:solidFill>
            <a:srgbClr val="BDAFF1">
              <a:alpha val="72157"/>
            </a:srgbClr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5" name="ScopeScopeBg">
            <a:extLst>
              <a:ext uri="{FF2B5EF4-FFF2-40B4-BE49-F238E27FC236}">
                <a16:creationId xmlns:a16="http://schemas.microsoft.com/office/drawing/2014/main" id="{F9A08E90-45B7-1484-454E-57B14B068D86}"/>
              </a:ext>
            </a:extLst>
          </p:cNvPr>
          <p:cNvSpPr/>
          <p:nvPr/>
        </p:nvSpPr>
        <p:spPr>
          <a:xfrm>
            <a:off x="6161454" y="5678424"/>
            <a:ext cx="2641600" cy="685800"/>
          </a:xfrm>
          <a:prstGeom prst="roundRect">
            <a:avLst>
              <a:gd name="adj" fmla="val 12000"/>
            </a:avLst>
          </a:prstGeom>
          <a:solidFill>
            <a:srgbClr val="BDAFF1">
              <a:alpha val="72157"/>
            </a:srgbClr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ScopeUpgradesBg">
            <a:extLst>
              <a:ext uri="{FF2B5EF4-FFF2-40B4-BE49-F238E27FC236}">
                <a16:creationId xmlns:a16="http://schemas.microsoft.com/office/drawing/2014/main" id="{71919CF6-2B99-1E40-AE73-49E02F3BEED3}"/>
              </a:ext>
            </a:extLst>
          </p:cNvPr>
          <p:cNvSpPr/>
          <p:nvPr/>
        </p:nvSpPr>
        <p:spPr>
          <a:xfrm>
            <a:off x="9042400" y="5678424"/>
            <a:ext cx="2641600" cy="685800"/>
          </a:xfrm>
          <a:prstGeom prst="roundRect">
            <a:avLst>
              <a:gd name="adj" fmla="val 12000"/>
            </a:avLst>
          </a:prstGeom>
          <a:solidFill>
            <a:srgbClr val="BDAFF1">
              <a:alpha val="72157"/>
            </a:srgbClr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copeModulesLabel">
            <a:extLst>
              <a:ext uri="{FF2B5EF4-FFF2-40B4-BE49-F238E27FC236}">
                <a16:creationId xmlns:a16="http://schemas.microsoft.com/office/drawing/2014/main" id="{1B7E9E5F-FEF7-7259-36AC-647EEA50F84C}"/>
              </a:ext>
            </a:extLst>
          </p:cNvPr>
          <p:cNvSpPr/>
          <p:nvPr/>
        </p:nvSpPr>
        <p:spPr>
          <a:xfrm>
            <a:off x="3630283" y="5878648"/>
            <a:ext cx="2108859" cy="2579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buNone/>
            </a:pPr>
            <a:r>
              <a:rPr lang="en-US" b="1" kern="0" spc="300" dirty="0">
                <a:solidFill>
                  <a:schemeClr val="bg1"/>
                </a:solidFill>
                <a:latin typeface="Barlow Black" pitchFamily="34" charset="0"/>
              </a:rPr>
              <a:t>STATEMENTS</a:t>
            </a:r>
          </a:p>
        </p:txBody>
      </p:sp>
      <p:sp>
        <p:nvSpPr>
          <p:cNvPr id="9" name="ScopeModulesLabel">
            <a:extLst>
              <a:ext uri="{FF2B5EF4-FFF2-40B4-BE49-F238E27FC236}">
                <a16:creationId xmlns:a16="http://schemas.microsoft.com/office/drawing/2014/main" id="{F214C8BF-E53B-7F2D-0F6E-D5533DA7D7AE}"/>
              </a:ext>
            </a:extLst>
          </p:cNvPr>
          <p:cNvSpPr/>
          <p:nvPr/>
        </p:nvSpPr>
        <p:spPr>
          <a:xfrm>
            <a:off x="6452858" y="5878647"/>
            <a:ext cx="2108859" cy="2579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buNone/>
            </a:pPr>
            <a:r>
              <a:rPr lang="en-US" b="1" kern="0" spc="300" dirty="0">
                <a:solidFill>
                  <a:schemeClr val="bg1"/>
                </a:solidFill>
                <a:latin typeface="Barlow Black" pitchFamily="34" charset="0"/>
              </a:rPr>
              <a:t>HELPDESK</a:t>
            </a:r>
          </a:p>
        </p:txBody>
      </p:sp>
      <p:sp>
        <p:nvSpPr>
          <p:cNvPr id="11" name="ScopeModulesLabel">
            <a:extLst>
              <a:ext uri="{FF2B5EF4-FFF2-40B4-BE49-F238E27FC236}">
                <a16:creationId xmlns:a16="http://schemas.microsoft.com/office/drawing/2014/main" id="{1C217137-CF57-1259-7C77-8A0159E3C442}"/>
              </a:ext>
            </a:extLst>
          </p:cNvPr>
          <p:cNvSpPr/>
          <p:nvPr/>
        </p:nvSpPr>
        <p:spPr>
          <a:xfrm>
            <a:off x="9365874" y="5878646"/>
            <a:ext cx="2108859" cy="2579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buNone/>
            </a:pPr>
            <a:r>
              <a:rPr lang="en-US" b="1" kern="0" spc="300" dirty="0">
                <a:solidFill>
                  <a:schemeClr val="bg1"/>
                </a:solidFill>
                <a:latin typeface="Barlow Black" pitchFamily="34" charset="0"/>
              </a:rPr>
              <a:t>AP AUTOMATION</a:t>
            </a:r>
          </a:p>
        </p:txBody>
      </p:sp>
    </p:spTree>
    <p:extLst>
      <p:ext uri="{BB962C8B-B14F-4D97-AF65-F5344CB8AC3E}">
        <p14:creationId xmlns:p14="http://schemas.microsoft.com/office/powerpoint/2010/main" val="37495666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73A649E-5C11-4071-77BA-5D8EF77A62AA}"/>
              </a:ext>
            </a:extLst>
          </p:cNvPr>
          <p:cNvSpPr/>
          <p:nvPr/>
        </p:nvSpPr>
        <p:spPr>
          <a:xfrm>
            <a:off x="410128" y="4272598"/>
            <a:ext cx="5103237" cy="2096815"/>
          </a:xfrm>
          <a:prstGeom prst="roundRect">
            <a:avLst>
              <a:gd name="adj" fmla="val 6879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rgbClr val="CED1FF">
                  <a:alpha val="67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F84999-5C5C-D5A5-D0FF-96463AF19483}"/>
              </a:ext>
            </a:extLst>
          </p:cNvPr>
          <p:cNvSpPr/>
          <p:nvPr/>
        </p:nvSpPr>
        <p:spPr>
          <a:xfrm>
            <a:off x="410130" y="2205839"/>
            <a:ext cx="2970886" cy="1703015"/>
          </a:xfrm>
          <a:prstGeom prst="roundRect">
            <a:avLst>
              <a:gd name="adj" fmla="val 599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rgbClr val="CED1FF">
                  <a:alpha val="67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4" name="Google Shape;1004;p35" title="world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6491" y="728390"/>
            <a:ext cx="7497737" cy="494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35"/>
          <p:cNvSpPr txBox="1"/>
          <p:nvPr/>
        </p:nvSpPr>
        <p:spPr>
          <a:xfrm>
            <a:off x="677216" y="2491006"/>
            <a:ext cx="287960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LIVE REGIONS &amp; ENTITIES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07" name="Google Shape;1007;p35"/>
          <p:cNvSpPr txBox="1"/>
          <p:nvPr/>
        </p:nvSpPr>
        <p:spPr>
          <a:xfrm>
            <a:off x="677200" y="2923527"/>
            <a:ext cx="223248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ingdings" pitchFamily="2" charset="2"/>
              <a:buChar char="ü"/>
            </a:pPr>
            <a:r>
              <a:rPr lang="en-US" sz="160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North America</a:t>
            </a:r>
            <a:endParaRPr lang="en-GB" sz="1600" dirty="0"/>
          </a:p>
          <a:p>
            <a:pPr marL="889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en-GB" sz="1600" dirty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ingdings" pitchFamily="2" charset="2"/>
              <a:buChar char="ü"/>
            </a:pPr>
            <a:r>
              <a:rPr lang="en-US" sz="160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Europe</a:t>
            </a:r>
            <a:endParaRPr sz="1600" dirty="0"/>
          </a:p>
        </p:txBody>
      </p:sp>
      <p:sp>
        <p:nvSpPr>
          <p:cNvPr id="1008" name="Google Shape;1008;p35"/>
          <p:cNvSpPr txBox="1"/>
          <p:nvPr/>
        </p:nvSpPr>
        <p:spPr>
          <a:xfrm>
            <a:off x="677200" y="4504607"/>
            <a:ext cx="247320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ERP SYSTEMS</a:t>
            </a:r>
            <a:endParaRPr sz="1600" dirty="0"/>
          </a:p>
        </p:txBody>
      </p:sp>
      <p:sp>
        <p:nvSpPr>
          <p:cNvPr id="1009" name="Google Shape;1009;p35"/>
          <p:cNvSpPr txBox="1"/>
          <p:nvPr/>
        </p:nvSpPr>
        <p:spPr>
          <a:xfrm>
            <a:off x="2869136" y="4504607"/>
            <a:ext cx="264422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WORKFLOW SYSTEMS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4" name="Google Shape;1014;p35" title="Subtrac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9462" y="1306670"/>
            <a:ext cx="427027" cy="6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35" title="Subtrac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1845" y="2444571"/>
            <a:ext cx="427027" cy="6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35" title="Subtrac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2665" y="3865413"/>
            <a:ext cx="427027" cy="6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35" title="Subtrac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4835" y="2509887"/>
            <a:ext cx="427027" cy="6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35" title="Subtrac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51" y="3527988"/>
            <a:ext cx="427027" cy="6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35" title="Subtrac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92788" y="4223672"/>
            <a:ext cx="427027" cy="61944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27B034-5559-2E29-555C-057506F9F8A3}"/>
              </a:ext>
            </a:extLst>
          </p:cNvPr>
          <p:cNvSpPr/>
          <p:nvPr/>
        </p:nvSpPr>
        <p:spPr>
          <a:xfrm>
            <a:off x="689071" y="5040583"/>
            <a:ext cx="1359935" cy="438700"/>
          </a:xfrm>
          <a:prstGeom prst="roundRect">
            <a:avLst/>
          </a:prstGeom>
          <a:solidFill>
            <a:srgbClr val="CED1FF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GB" sz="1200" dirty="0">
                <a:solidFill>
                  <a:srgbClr val="5D139F"/>
                </a:solidFill>
                <a:latin typeface="Barlow"/>
              </a:rPr>
              <a:t>ERP_1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5512F09-D764-18DC-16F6-98141C7212B5}"/>
              </a:ext>
            </a:extLst>
          </p:cNvPr>
          <p:cNvSpPr/>
          <p:nvPr/>
        </p:nvSpPr>
        <p:spPr>
          <a:xfrm>
            <a:off x="685321" y="5657300"/>
            <a:ext cx="1359935" cy="438700"/>
          </a:xfrm>
          <a:prstGeom prst="roundRect">
            <a:avLst/>
          </a:prstGeom>
          <a:solidFill>
            <a:srgbClr val="CED1FF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GB" sz="1200" dirty="0">
                <a:solidFill>
                  <a:srgbClr val="5D139F"/>
                </a:solidFill>
                <a:latin typeface="Barlow"/>
              </a:rPr>
              <a:t>ERP_2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929B7C-EFFE-21E7-98E4-409BE20D77F7}"/>
              </a:ext>
            </a:extLst>
          </p:cNvPr>
          <p:cNvSpPr/>
          <p:nvPr/>
        </p:nvSpPr>
        <p:spPr>
          <a:xfrm>
            <a:off x="2951573" y="5040583"/>
            <a:ext cx="1359935" cy="438700"/>
          </a:xfrm>
          <a:prstGeom prst="roundRect">
            <a:avLst/>
          </a:prstGeom>
          <a:solidFill>
            <a:srgbClr val="CED1FF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GB" sz="1200" dirty="0">
                <a:solidFill>
                  <a:srgbClr val="5D139F"/>
                </a:solidFill>
                <a:latin typeface="Barlow"/>
              </a:rPr>
              <a:t>WORKFLOW_1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5B4B3B-DB05-D35F-8C46-C076C32494B3}"/>
              </a:ext>
            </a:extLst>
          </p:cNvPr>
          <p:cNvSpPr/>
          <p:nvPr/>
        </p:nvSpPr>
        <p:spPr>
          <a:xfrm>
            <a:off x="2947823" y="5657300"/>
            <a:ext cx="1359935" cy="438700"/>
          </a:xfrm>
          <a:prstGeom prst="roundRect">
            <a:avLst/>
          </a:prstGeom>
          <a:solidFill>
            <a:srgbClr val="CED1FF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GB" sz="1200" dirty="0">
                <a:solidFill>
                  <a:srgbClr val="5D139F"/>
                </a:solidFill>
                <a:latin typeface="Barlow"/>
              </a:rPr>
              <a:t>WORKFLOW_2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4CE7B4-64C1-F66E-4A74-40AF373D6F55}"/>
              </a:ext>
            </a:extLst>
          </p:cNvPr>
          <p:cNvSpPr/>
          <p:nvPr/>
        </p:nvSpPr>
        <p:spPr>
          <a:xfrm>
            <a:off x="466344" y="974309"/>
            <a:ext cx="10735056" cy="397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chemeClr val="bg1"/>
                </a:solidFill>
                <a:latin typeface="Barlow" pitchFamily="2" charset="77"/>
                <a:ea typeface="Barlow" pitchFamily="34" charset="-122"/>
                <a:cs typeface="Barlow" pitchFamily="34" charset="-120"/>
              </a:rPr>
              <a:t>SCOPE</a:t>
            </a:r>
          </a:p>
        </p:txBody>
      </p:sp>
      <p:sp>
        <p:nvSpPr>
          <p:cNvPr id="6" name="TitleAccent">
            <a:extLst>
              <a:ext uri="{FF2B5EF4-FFF2-40B4-BE49-F238E27FC236}">
                <a16:creationId xmlns:a16="http://schemas.microsoft.com/office/drawing/2014/main" id="{D5A6B548-D40B-33B7-F599-F293E9C1523B}"/>
              </a:ext>
            </a:extLst>
          </p:cNvPr>
          <p:cNvSpPr/>
          <p:nvPr/>
        </p:nvSpPr>
        <p:spPr>
          <a:xfrm>
            <a:off x="502920" y="1675068"/>
            <a:ext cx="1524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FF8C120-1B62-7BC2-441B-94C874432C12}"/>
              </a:ext>
            </a:extLst>
          </p:cNvPr>
          <p:cNvSpPr/>
          <p:nvPr/>
        </p:nvSpPr>
        <p:spPr>
          <a:xfrm>
            <a:off x="502920" y="493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800" dirty="0">
                <a:solidFill>
                  <a:srgbClr val="D92398"/>
                </a:solidFill>
                <a:latin typeface="Barlow Black" pitchFamily="34" charset="0"/>
              </a:rPr>
              <a:t>NEXT STEPS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0" name="ThankYou"/>
          <p:cNvSpPr/>
          <p:nvPr/>
        </p:nvSpPr>
        <p:spPr>
          <a:xfrm>
            <a:off x="1524000" y="2569830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Black" pitchFamily="34" charset="0"/>
                <a:ea typeface="Barlow Black" pitchFamily="34" charset="-122"/>
                <a:cs typeface="Barlow Black" pitchFamily="34" charset="-120"/>
              </a:rPr>
              <a:t>THANK YOU</a:t>
            </a:r>
          </a:p>
        </p:txBody>
      </p:sp>
      <p:sp>
        <p:nvSpPr>
          <p:cNvPr id="11" name="Divider"/>
          <p:cNvSpPr/>
          <p:nvPr/>
        </p:nvSpPr>
        <p:spPr>
          <a:xfrm>
            <a:off x="4826000" y="3554187"/>
            <a:ext cx="2540000" cy="38100"/>
          </a:xfrm>
          <a:prstGeom prst="rect">
            <a:avLst/>
          </a:prstGeom>
          <a:solidFill>
            <a:srgbClr val="D9239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0" name="ContactLabel 1"/>
          <p:cNvSpPr/>
          <p:nvPr/>
        </p:nvSpPr>
        <p:spPr>
          <a:xfrm>
            <a:off x="1016000" y="4824187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</a:rPr>
              <a:t>EMAIL</a:t>
            </a:r>
          </a:p>
        </p:txBody>
      </p:sp>
      <p:sp>
        <p:nvSpPr>
          <p:cNvPr id="21" name="ContactVal 1"/>
          <p:cNvSpPr/>
          <p:nvPr/>
        </p:nvSpPr>
        <p:spPr>
          <a:xfrm>
            <a:off x="1016000" y="5128987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email@company.com</a:t>
            </a:r>
          </a:p>
        </p:txBody>
      </p:sp>
      <p:sp>
        <p:nvSpPr>
          <p:cNvPr id="30" name="ContactLabel 2"/>
          <p:cNvSpPr/>
          <p:nvPr/>
        </p:nvSpPr>
        <p:spPr>
          <a:xfrm>
            <a:off x="4572000" y="4824187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</a:rPr>
              <a:t>PHONE</a:t>
            </a:r>
          </a:p>
        </p:txBody>
      </p:sp>
      <p:sp>
        <p:nvSpPr>
          <p:cNvPr id="31" name="ContactVal 2"/>
          <p:cNvSpPr/>
          <p:nvPr/>
        </p:nvSpPr>
        <p:spPr>
          <a:xfrm>
            <a:off x="4572000" y="5128987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dirty="0">
                <a:solidFill>
                  <a:srgbClr val="CCBBFF"/>
                </a:solidFill>
                <a:latin typeface="Barlow" pitchFamily="34" charset="0"/>
              </a:rPr>
              <a:t>+44 (555) 000-000</a:t>
            </a:r>
          </a:p>
        </p:txBody>
      </p:sp>
      <p:sp>
        <p:nvSpPr>
          <p:cNvPr id="40" name="ContactLabel 3"/>
          <p:cNvSpPr/>
          <p:nvPr/>
        </p:nvSpPr>
        <p:spPr>
          <a:xfrm>
            <a:off x="8128000" y="4824187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600" dirty="0">
                <a:solidFill>
                  <a:srgbClr val="D92398"/>
                </a:solidFill>
                <a:latin typeface="Barlow Black" pitchFamily="34" charset="0"/>
              </a:rPr>
              <a:t>WEBSITE</a:t>
            </a:r>
          </a:p>
        </p:txBody>
      </p:sp>
      <p:sp>
        <p:nvSpPr>
          <p:cNvPr id="41" name="ContactVal 3"/>
          <p:cNvSpPr/>
          <p:nvPr/>
        </p:nvSpPr>
        <p:spPr>
          <a:xfrm>
            <a:off x="8128000" y="5128987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dirty="0" err="1">
                <a:solidFill>
                  <a:srgbClr val="CCBBFF"/>
                </a:solidFill>
                <a:latin typeface="Barlow" pitchFamily="34" charset="0"/>
              </a:rPr>
              <a:t>www.xelix.com</a:t>
            </a:r>
            <a:endParaRPr lang="en-US" sz="1400" dirty="0">
              <a:solidFill>
                <a:srgbClr val="CCBBFF"/>
              </a:solidFill>
              <a:latin typeface="Barl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739659"/>
      </p:ext>
    </p:extLst>
  </p:cSld>
  <p:clrMapOvr>
    <a:masterClrMapping/>
  </p:clrMapOvr>
</p:sld>
</file>

<file path=ppt/theme/theme1.xml><?xml version="1.0" encoding="utf-8"?>
<a:theme xmlns:a="http://schemas.openxmlformats.org/drawingml/2006/main" name="Xelix Master Deck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BB20A3-79EA-9C40-B39C-A00B07AA6B7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64dcc63-2721-4e8a-80e2-50413d703f2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9497</TotalTime>
  <Words>941</Words>
  <Application>Microsoft Macintosh PowerPoint</Application>
  <PresentationFormat>Widescreen</PresentationFormat>
  <Paragraphs>337</Paragraphs>
  <Slides>40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Barlow Black</vt:lpstr>
      <vt:lpstr>Wingdings</vt:lpstr>
      <vt:lpstr>Arial</vt:lpstr>
      <vt:lpstr>Barlow ExtraBold</vt:lpstr>
      <vt:lpstr>Barlow</vt:lpstr>
      <vt:lpstr>Calibri</vt:lpstr>
      <vt:lpstr>Noto Sans Symbols</vt:lpstr>
      <vt:lpstr>Xelix Master 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Steph McGonigle</dc:creator>
  <cp:lastModifiedBy>Jesse Newton</cp:lastModifiedBy>
  <cp:revision>14</cp:revision>
  <dcterms:created xsi:type="dcterms:W3CDTF">2023-04-12T13:14:20Z</dcterms:created>
  <dcterms:modified xsi:type="dcterms:W3CDTF">2026-04-30T16:27:21Z</dcterms:modified>
</cp:coreProperties>
</file>