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717" r:id="rId2"/>
    <p:sldId id="786" r:id="rId3"/>
    <p:sldId id="326" r:id="rId4"/>
    <p:sldId id="330" r:id="rId5"/>
    <p:sldId id="375" r:id="rId6"/>
    <p:sldId id="718" r:id="rId7"/>
    <p:sldId id="383" r:id="rId8"/>
    <p:sldId id="384" r:id="rId10"/>
    <p:sldId id="740" r:id="rId11"/>
    <p:sldId id="741" r:id="rId12"/>
    <p:sldId id="742" r:id="rId13"/>
    <p:sldId id="743" r:id="rId14"/>
    <p:sldId id="756" r:id="rId15"/>
    <p:sldId id="773" r:id="rId16"/>
    <p:sldId id="335" r:id="rId17"/>
    <p:sldId id="774" r:id="rId18"/>
    <p:sldId id="775" r:id="rId19"/>
    <p:sldId id="788" r:id="rId20"/>
    <p:sldId id="779" r:id="rId21"/>
    <p:sldId id="748" r:id="rId22"/>
    <p:sldId id="757" r:id="rId23"/>
    <p:sldId id="776" r:id="rId24"/>
    <p:sldId id="751" r:id="rId25"/>
    <p:sldId id="777" r:id="rId26"/>
    <p:sldId id="753" r:id="rId27"/>
    <p:sldId id="780" r:id="rId28"/>
    <p:sldId id="759" r:id="rId29"/>
    <p:sldId id="760" r:id="rId30"/>
    <p:sldId id="778" r:id="rId31"/>
    <p:sldId id="787" r:id="rId32"/>
    <p:sldId id="789" r:id="rId33"/>
    <p:sldId id="781" r:id="rId34"/>
    <p:sldId id="721" r:id="rId35"/>
    <p:sldId id="385" r:id="rId36"/>
    <p:sldId id="720" r:id="rId37"/>
    <p:sldId id="369" r:id="rId38"/>
    <p:sldId id="772" r:id="rId39"/>
    <p:sldId id="295" r:id="rId40"/>
    <p:sldId id="320" r:id="rId41"/>
  </p:sldIdLst>
  <p:sldSz cx="12192000" cy="6858000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Black" panose="00000A00000000000000" pitchFamily="2" charset="77"/>
      <p:bold r:id="rId47"/>
      <p:italic r:id="rId48"/>
      <p:boldItalic r:id="rId49"/>
    </p:embeddedFont>
    <p:embeddedFont>
      <p:font typeface="Barlow ExtraBold" panose="00000900000000000000" pitchFamily="2" charset="77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16"/>
    <p:restoredTop sz="95890"/>
  </p:normalViewPr>
  <p:slideViewPr>
    <p:cSldViewPr snapToGrid="0">
      <p:cViewPr>
        <p:scale>
          <a:sx n="99" d="100"/>
          <a:sy n="99" d="100"/>
        </p:scale>
        <p:origin x="105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notesMaster" Target="notesMasters/notesMaster1.xml"/><Relationship Id="rId43" Type="http://schemas.openxmlformats.org/officeDocument/2006/relationships/font" Target="fonts/font1.fntdata"/><Relationship Id="rId44" Type="http://schemas.openxmlformats.org/officeDocument/2006/relationships/font" Target="fonts/font2.fntdata"/><Relationship Id="rId45" Type="http://schemas.openxmlformats.org/officeDocument/2006/relationships/font" Target="fonts/font3.fntdata"/><Relationship Id="rId46" Type="http://schemas.openxmlformats.org/officeDocument/2006/relationships/font" Target="fonts/font4.fntdata"/><Relationship Id="rId47" Type="http://schemas.openxmlformats.org/officeDocument/2006/relationships/font" Target="fonts/font5.fntdata"/><Relationship Id="rId48" Type="http://schemas.openxmlformats.org/officeDocument/2006/relationships/font" Target="fonts/font6.fntdata"/><Relationship Id="rId49" Type="http://schemas.openxmlformats.org/officeDocument/2006/relationships/font" Target="fonts/font7.fntdata"/><Relationship Id="rId50" Type="http://schemas.openxmlformats.org/officeDocument/2006/relationships/font" Target="fonts/font8.fntdata"/><Relationship Id="rId51" Type="http://schemas.openxmlformats.org/officeDocument/2006/relationships/font" Target="fonts/font9.fntdata"/><Relationship Id="rId52" Type="http://schemas.openxmlformats.org/officeDocument/2006/relationships/font" Target="fonts/font10.fntdata"/><Relationship Id="rId64" Type="http://customschemas.google.com/relationships/presentationmetadata" Target="metadata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A8B93-92FF-C53C-DFD5-09457930C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1B7493-BA55-8FBF-A5A1-8493B5685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36B757-2D47-D55C-FEC3-7BB7F8FD5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BCBBB1-54B2-52A8-3815-F28B28633E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348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F283-B97C-B940-569E-ED443B06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BEC69-52FB-5285-2E56-7DED7FDE6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9839D-80D8-CF6A-2DA9-6BD5E775F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08F1B-C937-2803-FCD4-0975EA9B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794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Relationship Id="rId5" Type="http://schemas.openxmlformats.org/officeDocument/2006/relationships/hyperlink" Target="http://www.xelix.com/" TargetMode="Externa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1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DATE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</a:t>
            </a:r>
          </a:p>
          <a:p>
            <a:pPr marL="0" indent="0">
              <a:buNone/>
            </a:pPr>
            <a:r>
              <a:rPr lang="en-US" sz="4800" b="1" dirty="0">
                <a:solidFill>
                  <a:srgbClr val="CCBB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{CUSTOMER}</a:t>
            </a:r>
            <a:endParaRPr lang="en-US" sz="4800" dirty="0">
              <a:solidFill>
                <a:srgbClr val="CCBBFF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QuoteMark"/>
          <p:cNvSpPr/>
          <p:nvPr/>
        </p:nvSpPr>
        <p:spPr>
          <a:xfrm>
            <a:off x="762000" y="1524000"/>
            <a:ext cx="1524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0" b="1" dirty="0">
                <a:solidFill>
                  <a:srgbClr val="D92398"/>
                </a:solidFill>
                <a:latin typeface="Barlow Black" pitchFamily="34" charset="0"/>
              </a:rPr>
              <a:t>“</a:t>
            </a:r>
          </a:p>
        </p:txBody>
      </p:sp>
      <p:sp>
        <p:nvSpPr>
          <p:cNvPr id="11" name="Quote"/>
          <p:cNvSpPr/>
          <p:nvPr/>
        </p:nvSpPr>
        <p:spPr>
          <a:xfrm>
            <a:off x="2794000" y="1905000"/>
            <a:ext cx="8128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Quote text goes here. Replace with a compelling testimonial or key insight.</a:t>
            </a:r>
          </a:p>
        </p:txBody>
      </p:sp>
      <p:sp>
        <p:nvSpPr>
          <p:cNvPr id="12" name="Divider"/>
          <p:cNvSpPr/>
          <p:nvPr/>
        </p:nvSpPr>
        <p:spPr>
          <a:xfrm>
            <a:off x="2794000" y="4191000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3" name="Name"/>
          <p:cNvSpPr/>
          <p:nvPr/>
        </p:nvSpPr>
        <p:spPr>
          <a:xfrm>
            <a:off x="2794000" y="4445000"/>
            <a:ext cx="812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Barlow Black" pitchFamily="34" charset="0"/>
              </a:rPr>
              <a:t>FULL NAME</a:t>
            </a:r>
          </a:p>
        </p:txBody>
      </p:sp>
      <p:sp>
        <p:nvSpPr>
          <p:cNvPr id="14" name="Role"/>
          <p:cNvSpPr/>
          <p:nvPr/>
        </p:nvSpPr>
        <p:spPr>
          <a:xfrm>
            <a:off x="2794000" y="48514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Title, Company Name</a:t>
            </a:r>
          </a:p>
        </p:txBody>
      </p:sp>
      <p:sp>
        <p:nvSpPr>
          <p:cNvPr id="15" name="LeftAccent"/>
          <p:cNvSpPr/>
          <p:nvPr/>
        </p:nvSpPr>
        <p:spPr>
          <a:xfrm>
            <a:off x="2540000" y="1905000"/>
            <a:ext cx="45719" cy="31750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46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1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2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/>
          <p:nvPr/>
        </p:nvSpPr>
        <p:spPr>
          <a:xfrm>
            <a:off x="6059242" y="353695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3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9" name="Shape 35"/>
          <p:cNvSpPr/>
          <p:nvPr/>
        </p:nvSpPr>
        <p:spPr>
          <a:xfrm>
            <a:off x="5197678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/>
          <p:nvPr/>
        </p:nvSpPr>
        <p:spPr>
          <a:xfrm>
            <a:off x="6059242" y="467042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4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4" name="Shape 40"/>
          <p:cNvSpPr/>
          <p:nvPr/>
        </p:nvSpPr>
        <p:spPr>
          <a:xfrm>
            <a:off x="5197678" y="534352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3"/>
          <p:cNvSpPr/>
          <p:nvPr/>
        </p:nvSpPr>
        <p:spPr>
          <a:xfrm>
            <a:off x="6051990" y="58039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5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C6E043C9-3230-9927-6B1C-DD6DB0366CDD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71" name="Shape 26">
            <a:extLst>
              <a:ext uri="{FF2B5EF4-FFF2-40B4-BE49-F238E27FC236}">
                <a16:creationId xmlns:a16="http://schemas.microsoft.com/office/drawing/2014/main" id="{56F3899D-0437-739E-768D-7C5DD1E75C0B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27">
            <a:extLst>
              <a:ext uri="{FF2B5EF4-FFF2-40B4-BE49-F238E27FC236}">
                <a16:creationId xmlns:a16="http://schemas.microsoft.com/office/drawing/2014/main" id="{6BEDC694-5958-6A57-1C06-E426FF24669C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05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6B84E79-D946-9162-8F48-7EAB359199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solidFill>
              <a:srgbClr val="D92398"/>
            </a:solidFill>
          </a:ln>
        </p:spPr>
      </p:pic>
      <p:sp>
        <p:nvSpPr>
          <p:cNvPr id="50" name="Card BG 1"/>
          <p:cNvSpPr/>
          <p:nvPr/>
        </p:nvSpPr>
        <p:spPr>
          <a:xfrm>
            <a:off x="50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1"/>
          <p:cNvSpPr/>
          <p:nvPr/>
        </p:nvSpPr>
        <p:spPr>
          <a:xfrm>
            <a:off x="73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Title 1"/>
          <p:cNvSpPr/>
          <p:nvPr/>
        </p:nvSpPr>
        <p:spPr>
          <a:xfrm>
            <a:off x="73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01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1 title</a:t>
            </a:r>
          </a:p>
        </p:txBody>
      </p:sp>
      <p:sp>
        <p:nvSpPr>
          <p:cNvPr id="53" name="Desc 1"/>
          <p:cNvSpPr/>
          <p:nvPr/>
        </p:nvSpPr>
        <p:spPr>
          <a:xfrm>
            <a:off x="73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4" name="Card BG 2"/>
          <p:cNvSpPr/>
          <p:nvPr/>
        </p:nvSpPr>
        <p:spPr>
          <a:xfrm>
            <a:off x="431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Accent 2"/>
          <p:cNvSpPr/>
          <p:nvPr/>
        </p:nvSpPr>
        <p:spPr>
          <a:xfrm>
            <a:off x="454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itle 2"/>
          <p:cNvSpPr/>
          <p:nvPr/>
        </p:nvSpPr>
        <p:spPr>
          <a:xfrm>
            <a:off x="454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02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2 title</a:t>
            </a:r>
          </a:p>
        </p:txBody>
      </p:sp>
      <p:sp>
        <p:nvSpPr>
          <p:cNvPr id="57" name="Desc 2"/>
          <p:cNvSpPr/>
          <p:nvPr/>
        </p:nvSpPr>
        <p:spPr>
          <a:xfrm>
            <a:off x="454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8" name="Card BG 3"/>
          <p:cNvSpPr/>
          <p:nvPr/>
        </p:nvSpPr>
        <p:spPr>
          <a:xfrm>
            <a:off x="812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9" name="Accent 3"/>
          <p:cNvSpPr/>
          <p:nvPr/>
        </p:nvSpPr>
        <p:spPr>
          <a:xfrm>
            <a:off x="835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006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itle 3"/>
          <p:cNvSpPr/>
          <p:nvPr/>
        </p:nvSpPr>
        <p:spPr>
          <a:xfrm>
            <a:off x="835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006FFF"/>
                </a:solidFill>
                <a:latin typeface="Barlow Black" pitchFamily="34" charset="0"/>
              </a:rPr>
              <a:t>03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3 title</a:t>
            </a:r>
          </a:p>
        </p:txBody>
      </p:sp>
      <p:sp>
        <p:nvSpPr>
          <p:cNvPr id="61" name="Desc 3"/>
          <p:cNvSpPr/>
          <p:nvPr/>
        </p:nvSpPr>
        <p:spPr>
          <a:xfrm>
            <a:off x="835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2" name="Card BG 4"/>
          <p:cNvSpPr/>
          <p:nvPr/>
        </p:nvSpPr>
        <p:spPr>
          <a:xfrm>
            <a:off x="50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Accent 4"/>
          <p:cNvSpPr/>
          <p:nvPr/>
        </p:nvSpPr>
        <p:spPr>
          <a:xfrm>
            <a:off x="73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E450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itle 4"/>
          <p:cNvSpPr/>
          <p:nvPr/>
        </p:nvSpPr>
        <p:spPr>
          <a:xfrm>
            <a:off x="73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E450FB"/>
                </a:solidFill>
                <a:latin typeface="Barlow Black" pitchFamily="34" charset="0"/>
              </a:rPr>
              <a:t>04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4 title</a:t>
            </a:r>
          </a:p>
        </p:txBody>
      </p:sp>
      <p:sp>
        <p:nvSpPr>
          <p:cNvPr id="65" name="Desc 4"/>
          <p:cNvSpPr/>
          <p:nvPr/>
        </p:nvSpPr>
        <p:spPr>
          <a:xfrm>
            <a:off x="73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6" name="Card BG 5"/>
          <p:cNvSpPr/>
          <p:nvPr/>
        </p:nvSpPr>
        <p:spPr>
          <a:xfrm>
            <a:off x="431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Accent 5"/>
          <p:cNvSpPr/>
          <p:nvPr/>
        </p:nvSpPr>
        <p:spPr>
          <a:xfrm>
            <a:off x="454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Title 5"/>
          <p:cNvSpPr/>
          <p:nvPr/>
        </p:nvSpPr>
        <p:spPr>
          <a:xfrm>
            <a:off x="454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05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5 title</a:t>
            </a:r>
          </a:p>
        </p:txBody>
      </p:sp>
      <p:sp>
        <p:nvSpPr>
          <p:cNvPr id="69" name="Desc 5"/>
          <p:cNvSpPr/>
          <p:nvPr/>
        </p:nvSpPr>
        <p:spPr>
          <a:xfrm>
            <a:off x="454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70" name="Card BG 6"/>
          <p:cNvSpPr/>
          <p:nvPr/>
        </p:nvSpPr>
        <p:spPr>
          <a:xfrm>
            <a:off x="812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" name="Accent 6"/>
          <p:cNvSpPr/>
          <p:nvPr/>
        </p:nvSpPr>
        <p:spPr>
          <a:xfrm>
            <a:off x="835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Title 6"/>
          <p:cNvSpPr/>
          <p:nvPr/>
        </p:nvSpPr>
        <p:spPr>
          <a:xfrm>
            <a:off x="835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06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6 title</a:t>
            </a:r>
          </a:p>
        </p:txBody>
      </p:sp>
      <p:sp>
        <p:nvSpPr>
          <p:cNvPr id="73" name="Desc 6"/>
          <p:cNvSpPr/>
          <p:nvPr/>
        </p:nvSpPr>
        <p:spPr>
          <a:xfrm>
            <a:off x="835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421ADA16-F3D7-0F30-D194-DD08D071048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9BF2B5-7105-7DF7-1436-F1F52D8D4BAA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COMPANY UPDATES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74549CA-CF79-5504-C202-E624D12E7354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</p:spTree>
    <p:extLst>
      <p:ext uri="{BB962C8B-B14F-4D97-AF65-F5344CB8AC3E}">
        <p14:creationId xmlns:p14="http://schemas.microsoft.com/office/powerpoint/2010/main" val="2145944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DF00B6-D6F9-7419-DB41-1C6084177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B290DF2E-367E-B420-CF94-752A1EDD67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4FEF118C-B7BE-F378-18EE-72ABE643DFE2}"/>
              </a:ext>
            </a:extLst>
          </p:cNvPr>
          <p:cNvSpPr/>
          <p:nvPr/>
        </p:nvSpPr>
        <p:spPr>
          <a:xfrm>
            <a:off x="466344" y="974309"/>
            <a:ext cx="5986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</a:t>
            </a: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49C89EE2-0577-6899-5736-224798BD57F5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E8335976-7CA7-7D0A-F830-EB568576290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BA2C5ED1-C093-D3B9-CB86-DD5A4EA1D580}"/>
              </a:ext>
            </a:extLst>
          </p:cNvPr>
          <p:cNvSpPr/>
          <p:nvPr/>
        </p:nvSpPr>
        <p:spPr>
          <a:xfrm>
            <a:off x="86677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1AE82D9B-282D-758B-47A7-5CE638F74309}"/>
              </a:ext>
            </a:extLst>
          </p:cNvPr>
          <p:cNvSpPr/>
          <p:nvPr/>
        </p:nvSpPr>
        <p:spPr>
          <a:xfrm>
            <a:off x="4768850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6F4AABA3-D081-E19F-C825-609660F9A20A}"/>
              </a:ext>
            </a:extLst>
          </p:cNvPr>
          <p:cNvSpPr/>
          <p:nvPr/>
        </p:nvSpPr>
        <p:spPr>
          <a:xfrm>
            <a:off x="867092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8" name="Stat 1">
            <a:extLst>
              <a:ext uri="{FF2B5EF4-FFF2-40B4-BE49-F238E27FC236}">
                <a16:creationId xmlns:a16="http://schemas.microsoft.com/office/drawing/2014/main" id="{9917591D-E89E-061B-5DE1-84AA34C5C7A3}"/>
              </a:ext>
            </a:extLst>
          </p:cNvPr>
          <p:cNvSpPr/>
          <p:nvPr/>
        </p:nvSpPr>
        <p:spPr>
          <a:xfrm>
            <a:off x="871855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D92398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39" name="Label 1">
            <a:extLst>
              <a:ext uri="{FF2B5EF4-FFF2-40B4-BE49-F238E27FC236}">
                <a16:creationId xmlns:a16="http://schemas.microsoft.com/office/drawing/2014/main" id="{F4BD40BC-7A69-B384-44CB-6A59862BC1CF}"/>
              </a:ext>
            </a:extLst>
          </p:cNvPr>
          <p:cNvSpPr/>
          <p:nvPr/>
        </p:nvSpPr>
        <p:spPr>
          <a:xfrm>
            <a:off x="1409700" y="4387859"/>
            <a:ext cx="1568450" cy="8064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MONTHLY ACTIVE USERS</a:t>
            </a:r>
          </a:p>
        </p:txBody>
      </p:sp>
      <p:sp>
        <p:nvSpPr>
          <p:cNvPr id="41" name="Divider 1">
            <a:extLst>
              <a:ext uri="{FF2B5EF4-FFF2-40B4-BE49-F238E27FC236}">
                <a16:creationId xmlns:a16="http://schemas.microsoft.com/office/drawing/2014/main" id="{D2DE6644-3554-E24D-22D3-1DBDE7D38A6D}"/>
              </a:ext>
            </a:extLst>
          </p:cNvPr>
          <p:cNvSpPr/>
          <p:nvPr/>
        </p:nvSpPr>
        <p:spPr>
          <a:xfrm>
            <a:off x="4147820" y="3162303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4" name="Stat 2">
            <a:extLst>
              <a:ext uri="{FF2B5EF4-FFF2-40B4-BE49-F238E27FC236}">
                <a16:creationId xmlns:a16="http://schemas.microsoft.com/office/drawing/2014/main" id="{DA0BD3D3-F2B5-584A-CA3D-96548F8F4C32}"/>
              </a:ext>
            </a:extLst>
          </p:cNvPr>
          <p:cNvSpPr/>
          <p:nvPr/>
        </p:nvSpPr>
        <p:spPr>
          <a:xfrm>
            <a:off x="4826000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EB3FC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5" name="Label 2">
            <a:extLst>
              <a:ext uri="{FF2B5EF4-FFF2-40B4-BE49-F238E27FC236}">
                <a16:creationId xmlns:a16="http://schemas.microsoft.com/office/drawing/2014/main" id="{F6C7063F-3C06-2CDD-0DB4-9C3ED7291A5B}"/>
              </a:ext>
            </a:extLst>
          </p:cNvPr>
          <p:cNvSpPr/>
          <p:nvPr/>
        </p:nvSpPr>
        <p:spPr>
          <a:xfrm>
            <a:off x="5235575" y="4387859"/>
            <a:ext cx="1689100" cy="768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AVERAGE WEEKLY USERS</a:t>
            </a:r>
          </a:p>
        </p:txBody>
      </p:sp>
      <p:sp>
        <p:nvSpPr>
          <p:cNvPr id="66" name="Divider 2">
            <a:extLst>
              <a:ext uri="{FF2B5EF4-FFF2-40B4-BE49-F238E27FC236}">
                <a16:creationId xmlns:a16="http://schemas.microsoft.com/office/drawing/2014/main" id="{B97E6905-C2A7-5990-B5B1-19ECE8F17BCA}"/>
              </a:ext>
            </a:extLst>
          </p:cNvPr>
          <p:cNvSpPr/>
          <p:nvPr/>
        </p:nvSpPr>
        <p:spPr>
          <a:xfrm>
            <a:off x="8021637" y="3213106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7" name="Stat 3">
            <a:extLst>
              <a:ext uri="{FF2B5EF4-FFF2-40B4-BE49-F238E27FC236}">
                <a16:creationId xmlns:a16="http://schemas.microsoft.com/office/drawing/2014/main" id="{4D74EA87-2061-81DE-7C73-BE44884BD50B}"/>
              </a:ext>
            </a:extLst>
          </p:cNvPr>
          <p:cNvSpPr/>
          <p:nvPr/>
        </p:nvSpPr>
        <p:spPr>
          <a:xfrm>
            <a:off x="8728075" y="3276600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9242F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8" name="Label 3">
            <a:extLst>
              <a:ext uri="{FF2B5EF4-FFF2-40B4-BE49-F238E27FC236}">
                <a16:creationId xmlns:a16="http://schemas.microsoft.com/office/drawing/2014/main" id="{BACDA852-9078-2D97-9712-E26A34575BB8}"/>
              </a:ext>
            </a:extLst>
          </p:cNvPr>
          <p:cNvSpPr/>
          <p:nvPr/>
        </p:nvSpPr>
        <p:spPr>
          <a:xfrm>
            <a:off x="9321800" y="4387856"/>
            <a:ext cx="1352550" cy="889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MOST ACTIVE MODULE</a:t>
            </a:r>
          </a:p>
        </p:txBody>
      </p:sp>
    </p:spTree>
    <p:extLst>
      <p:ext uri="{BB962C8B-B14F-4D97-AF65-F5344CB8AC3E}">
        <p14:creationId xmlns:p14="http://schemas.microsoft.com/office/powerpoint/2010/main" val="485488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DF00B6-D6F9-7419-DB41-1C6084177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B290DF2E-367E-B420-CF94-752A1EDD67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4FEF118C-B7BE-F378-18EE-72ABE643DFE2}"/>
              </a:ext>
            </a:extLst>
          </p:cNvPr>
          <p:cNvSpPr/>
          <p:nvPr/>
        </p:nvSpPr>
        <p:spPr>
          <a:xfrm>
            <a:off x="466344" y="974309"/>
            <a:ext cx="5986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</a:t>
            </a: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49C89EE2-0577-6899-5736-224798BD57F5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E8335976-7CA7-7D0A-F830-EB568576290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BA2C5ED1-C093-D3B9-CB86-DD5A4EA1D580}"/>
              </a:ext>
            </a:extLst>
          </p:cNvPr>
          <p:cNvSpPr/>
          <p:nvPr/>
        </p:nvSpPr>
        <p:spPr>
          <a:xfrm>
            <a:off x="86677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1AE82D9B-282D-758B-47A7-5CE638F74309}"/>
              </a:ext>
            </a:extLst>
          </p:cNvPr>
          <p:cNvSpPr/>
          <p:nvPr/>
        </p:nvSpPr>
        <p:spPr>
          <a:xfrm>
            <a:off x="4768850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6F4AABA3-D081-E19F-C825-609660F9A20A}"/>
              </a:ext>
            </a:extLst>
          </p:cNvPr>
          <p:cNvSpPr/>
          <p:nvPr/>
        </p:nvSpPr>
        <p:spPr>
          <a:xfrm>
            <a:off x="867092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8" name="Stat 1">
            <a:extLst>
              <a:ext uri="{FF2B5EF4-FFF2-40B4-BE49-F238E27FC236}">
                <a16:creationId xmlns:a16="http://schemas.microsoft.com/office/drawing/2014/main" id="{9917591D-E89E-061B-5DE1-84AA34C5C7A3}"/>
              </a:ext>
            </a:extLst>
          </p:cNvPr>
          <p:cNvSpPr/>
          <p:nvPr/>
        </p:nvSpPr>
        <p:spPr>
          <a:xfrm>
            <a:off x="871855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D92398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39" name="Label 1">
            <a:extLst>
              <a:ext uri="{FF2B5EF4-FFF2-40B4-BE49-F238E27FC236}">
                <a16:creationId xmlns:a16="http://schemas.microsoft.com/office/drawing/2014/main" id="{F4BD40BC-7A69-B384-44CB-6A59862BC1CF}"/>
              </a:ext>
            </a:extLst>
          </p:cNvPr>
          <p:cNvSpPr/>
          <p:nvPr/>
        </p:nvSpPr>
        <p:spPr>
          <a:xfrm>
            <a:off x="1409700" y="4387859"/>
            <a:ext cx="1568450" cy="8064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MONTHLY ACTIVE USERS</a:t>
            </a:r>
          </a:p>
        </p:txBody>
      </p:sp>
      <p:sp>
        <p:nvSpPr>
          <p:cNvPr id="41" name="Divider 1">
            <a:extLst>
              <a:ext uri="{FF2B5EF4-FFF2-40B4-BE49-F238E27FC236}">
                <a16:creationId xmlns:a16="http://schemas.microsoft.com/office/drawing/2014/main" id="{D2DE6644-3554-E24D-22D3-1DBDE7D38A6D}"/>
              </a:ext>
            </a:extLst>
          </p:cNvPr>
          <p:cNvSpPr/>
          <p:nvPr/>
        </p:nvSpPr>
        <p:spPr>
          <a:xfrm>
            <a:off x="4147820" y="3162303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4" name="Stat 2">
            <a:extLst>
              <a:ext uri="{FF2B5EF4-FFF2-40B4-BE49-F238E27FC236}">
                <a16:creationId xmlns:a16="http://schemas.microsoft.com/office/drawing/2014/main" id="{DA0BD3D3-F2B5-584A-CA3D-96548F8F4C32}"/>
              </a:ext>
            </a:extLst>
          </p:cNvPr>
          <p:cNvSpPr/>
          <p:nvPr/>
        </p:nvSpPr>
        <p:spPr>
          <a:xfrm>
            <a:off x="4826000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EB3FC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5" name="Label 2">
            <a:extLst>
              <a:ext uri="{FF2B5EF4-FFF2-40B4-BE49-F238E27FC236}">
                <a16:creationId xmlns:a16="http://schemas.microsoft.com/office/drawing/2014/main" id="{F6C7063F-3C06-2CDD-0DB4-9C3ED7291A5B}"/>
              </a:ext>
            </a:extLst>
          </p:cNvPr>
          <p:cNvSpPr/>
          <p:nvPr/>
        </p:nvSpPr>
        <p:spPr>
          <a:xfrm>
            <a:off x="5235575" y="4387859"/>
            <a:ext cx="1689100" cy="768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AVERAGE WEEKLY USERS</a:t>
            </a:r>
          </a:p>
        </p:txBody>
      </p:sp>
      <p:sp>
        <p:nvSpPr>
          <p:cNvPr id="66" name="Divider 2">
            <a:extLst>
              <a:ext uri="{FF2B5EF4-FFF2-40B4-BE49-F238E27FC236}">
                <a16:creationId xmlns:a16="http://schemas.microsoft.com/office/drawing/2014/main" id="{B97E6905-C2A7-5990-B5B1-19ECE8F17BCA}"/>
              </a:ext>
            </a:extLst>
          </p:cNvPr>
          <p:cNvSpPr/>
          <p:nvPr/>
        </p:nvSpPr>
        <p:spPr>
          <a:xfrm>
            <a:off x="8021637" y="3213106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7" name="Stat 3">
            <a:extLst>
              <a:ext uri="{FF2B5EF4-FFF2-40B4-BE49-F238E27FC236}">
                <a16:creationId xmlns:a16="http://schemas.microsoft.com/office/drawing/2014/main" id="{4D74EA87-2061-81DE-7C73-BE44884BD50B}"/>
              </a:ext>
            </a:extLst>
          </p:cNvPr>
          <p:cNvSpPr/>
          <p:nvPr/>
        </p:nvSpPr>
        <p:spPr>
          <a:xfrm>
            <a:off x="8728075" y="3276600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9242F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8" name="Label 3">
            <a:extLst>
              <a:ext uri="{FF2B5EF4-FFF2-40B4-BE49-F238E27FC236}">
                <a16:creationId xmlns:a16="http://schemas.microsoft.com/office/drawing/2014/main" id="{BACDA852-9078-2D97-9712-E26A34575BB8}"/>
              </a:ext>
            </a:extLst>
          </p:cNvPr>
          <p:cNvSpPr/>
          <p:nvPr/>
        </p:nvSpPr>
        <p:spPr>
          <a:xfrm>
            <a:off x="9321800" y="4387856"/>
            <a:ext cx="1352550" cy="889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MOST ACTIVE MODULE</a:t>
            </a:r>
          </a:p>
        </p:txBody>
      </p:sp>
    </p:spTree>
    <p:extLst>
      <p:ext uri="{BB962C8B-B14F-4D97-AF65-F5344CB8AC3E}">
        <p14:creationId xmlns:p14="http://schemas.microsoft.com/office/powerpoint/2010/main" val="4854886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 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INVOICE ERRORS AHEAD OF PAYRUN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TRANSACTIONS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  <a:endParaRPr lang="en-US" sz="5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 DECREASE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HELPDESK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VENDORS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DD69931-E8E6-839B-D8E9-574F5704EC80}"/>
              </a:ext>
            </a:extLst>
          </p:cNvPr>
          <p:cNvSpPr/>
          <p:nvPr/>
        </p:nvSpPr>
        <p:spPr>
          <a:xfrm>
            <a:off x="6096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7366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6985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RECONCILED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251D7EF-1486-907D-8931-4D913FD77419}"/>
              </a:ext>
            </a:extLst>
          </p:cNvPr>
          <p:cNvSpPr/>
          <p:nvPr/>
        </p:nvSpPr>
        <p:spPr>
          <a:xfrm>
            <a:off x="34417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35687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35306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RECOVERED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62738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64008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63627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5F1E6B-854A-463D-45FD-91F9E28ED785}"/>
              </a:ext>
            </a:extLst>
          </p:cNvPr>
          <p:cNvSpPr/>
          <p:nvPr/>
        </p:nvSpPr>
        <p:spPr>
          <a:xfrm>
            <a:off x="6096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81BB70-DEFE-0033-3B69-DD7A421B411A}"/>
              </a:ext>
            </a:extLst>
          </p:cNvPr>
          <p:cNvSpPr/>
          <p:nvPr/>
        </p:nvSpPr>
        <p:spPr>
          <a:xfrm>
            <a:off x="34417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62738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98E25BDA-42CA-D44C-6410-4336677B6DD7}"/>
              </a:ext>
            </a:extLst>
          </p:cNvPr>
          <p:cNvSpPr/>
          <p:nvPr/>
        </p:nvSpPr>
        <p:spPr>
          <a:xfrm>
            <a:off x="91059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24">
            <a:extLst>
              <a:ext uri="{FF2B5EF4-FFF2-40B4-BE49-F238E27FC236}">
                <a16:creationId xmlns:a16="http://schemas.microsoft.com/office/drawing/2014/main" id="{69AF77E8-780C-C21A-32A0-A89A93453640}"/>
              </a:ext>
            </a:extLst>
          </p:cNvPr>
          <p:cNvSpPr/>
          <p:nvPr/>
        </p:nvSpPr>
        <p:spPr>
          <a:xfrm>
            <a:off x="92329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25">
            <a:extLst>
              <a:ext uri="{FF2B5EF4-FFF2-40B4-BE49-F238E27FC236}">
                <a16:creationId xmlns:a16="http://schemas.microsoft.com/office/drawing/2014/main" id="{F8F53E0B-B3FD-B3D8-CC2B-9D5BB27C789E}"/>
              </a:ext>
            </a:extLst>
          </p:cNvPr>
          <p:cNvSpPr/>
          <p:nvPr/>
        </p:nvSpPr>
        <p:spPr>
          <a:xfrm>
            <a:off x="91948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STATEMENTS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4748C08-D21E-54F5-4760-0C02C48064CC}"/>
              </a:ext>
            </a:extLst>
          </p:cNvPr>
          <p:cNvSpPr/>
          <p:nvPr/>
        </p:nvSpPr>
        <p:spPr>
          <a:xfrm>
            <a:off x="91059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851978"/>
              </p:ext>
            </p:extLst>
          </p:nvPr>
        </p:nvGraphicFramePr>
        <p:xfrm>
          <a:off x="508000" y="1820564"/>
          <a:ext cx="11176000" cy="4407714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2259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57023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Reduction in audit resource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Prevented in overpayments in first year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More cost effective than recovery audit firm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57023">
                <a:tc rowSpan="2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duplicates recovered from Xelix historical audit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invoice errors recovered from Xelix historic audit (Amount, Tax &amp; Vendor)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1F228464-9FB5-5E8E-B151-EA736E346D2E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Year-to-date figures indicate an increase in duplicate invoices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Increase from last quarter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86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/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8226F9F-7C44-CB4B-0941-5792081F6ED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RECOVERED 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Post Payment, recovered</a:t>
            </a:r>
          </a:p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payment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CORRECTED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300C2314-3CE0-B5F2-432F-D93B4E5E1FDC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Small increase in confirmed errors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A4CE9B54-2368-A938-EE3D-EB4B1680A2C3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1A7CA05A-FDF3-E862-B38B-B05788EA84EC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root causes behind invoice errors</a:t>
            </a:r>
          </a:p>
        </p:txBody>
      </p:sp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1798E-4E96-C8F7-CC4B-A02D2E93A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3B74ACC-811F-C0E9-55C0-DF1D9F454C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5BD07379-0530-7950-2234-BDEBA0B7B627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11898460-2D84-8583-DDAC-CE2E5E5C5CA5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B0B10EA9-B6FD-ED3D-8655-8D6103FDECD6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83E926C3-00C1-CA86-6AC2-DBBA3C4B9C7D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47686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442829"/>
              </p:ext>
            </p:extLst>
          </p:nvPr>
        </p:nvGraphicFramePr>
        <p:xfrm>
          <a:off x="508000" y="1820564"/>
          <a:ext cx="11176000" cy="457864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spend being reconciled on a monthly/quarterly/annual basis </a:t>
                      </a: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vendors / top vendors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invoices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Value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Vol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Reduction in late payments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9565921-9663-04B4-EC64-D9F99001CA0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64DCF810-B4C4-2E7C-6902-077AAF733741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performance compares across the X landscape</a:t>
            </a:r>
          </a:p>
        </p:txBody>
      </p:sp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B7C19-CF6A-BC36-C5A9-6C383703A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6DF9B22-2059-4412-3565-0C132B8099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4A5EE829-C67C-5965-4ECF-B505B76050D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A7E85D8-0EB1-B27D-181B-AF91D491146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ECFF27F-467F-AD87-C686-50387FC2919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92C7B301-0652-88E9-BA5C-248827F6AA1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Reconciliation coverage across total invoice volume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E740144-E41D-5BCC-F32E-A063AB00154F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66BC967F-7E3D-4313-48F6-3236BF650D90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BBA3554B-103E-D5AB-10E3-CD994D638EF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5A3BD2-0380-6D95-8E91-5ED366AE940E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83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73831BC-CFA0-1456-BAC6-E3120F0B4267}"/>
              </a:ext>
            </a:extLst>
          </p:cNvPr>
          <p:cNvSpPr/>
          <p:nvPr/>
        </p:nvSpPr>
        <p:spPr>
          <a:xfrm>
            <a:off x="507999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automation has evolved in 2025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CA40C7F9-53CD-1DBC-6F69-69D2DA6BCB14}"/>
              </a:ext>
            </a:extLst>
          </p:cNvPr>
          <p:cNvSpPr/>
          <p:nvPr/>
        </p:nvSpPr>
        <p:spPr>
          <a:xfrm>
            <a:off x="6178938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15D05220-7946-E542-5187-55EE046D24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01F624A-DE7A-E554-D130-5BD8B2358676}"/>
              </a:ext>
            </a:extLst>
          </p:cNvPr>
          <p:cNvSpPr/>
          <p:nvPr/>
        </p:nvSpPr>
        <p:spPr>
          <a:xfrm>
            <a:off x="5968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Data from previous EBR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D8BABB5-5FA2-613C-D288-9CD2EA38341D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F9C11B-21C7-D97E-59D0-6C546B156704}"/>
              </a:ext>
            </a:extLst>
          </p:cNvPr>
          <p:cNvSpPr/>
          <p:nvPr/>
        </p:nvSpPr>
        <p:spPr>
          <a:xfrm>
            <a:off x="6267838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 Automation Now</a:t>
            </a:r>
          </a:p>
        </p:txBody>
      </p:sp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1AF34-E3CA-62CD-FAE7-71D054EB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67211E7-D0C9-5941-E199-55B4A221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FCBC0EE-27B9-88FC-CF4A-5954470B6D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A2E73441-C551-EC2B-C473-4D50D125C41F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5F0C0FEE-4467-BBF5-D331-4AA4E961DADF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2AC76DFC-1317-BCB5-F5F1-CC2D95F4372A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8743842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467265"/>
              </p:ext>
            </p:extLst>
          </p:nvPr>
        </p:nvGraphicFramePr>
        <p:xfrm>
          <a:off x="508000" y="1820564"/>
          <a:ext cx="11176000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 rowSpan="3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Spend less FTE time managing vendor queries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Average handling time decreased from A -&gt; 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 X - 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First response time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tickets where generated replies were used when available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3369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Improve vendor relationships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SLA Adherence (X% of tickets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met SLA)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decrease in ticket resolution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95953C-01A6-1AA5-5F82-A07BBA4C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9A9651C-CAE1-8215-0DAE-3A7FB4311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60D434C5-326A-F75E-909E-FC8FD77659E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5F214C68-EE83-0217-F60E-9B46B448547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E9AF8951-3791-C3DD-C571-2130281E8A7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82A7D47-9E88-3F6B-0B1C-7D705ACEA993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 month-on-month increase of outbound messages due to GenAi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9B5E4681-DF44-915D-03FF-FA86016E15D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F33DCB-F8EB-4C02-A8F6-B39FF53F9BAA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FA0C654F-1AC2-1F0B-1426-F386C310269E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2" name="Text 17">
            <a:extLst>
              <a:ext uri="{FF2B5EF4-FFF2-40B4-BE49-F238E27FC236}">
                <a16:creationId xmlns:a16="http://schemas.microsoft.com/office/drawing/2014/main" id="{5C725977-7A20-79B4-39D8-A0393BC7DDD2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tickets used Gen Reply</a:t>
            </a:r>
          </a:p>
          <a:p>
            <a:pPr lvl="0" algn="ctr"/>
            <a:endParaRPr lang="en-US" dirty="0">
              <a:solidFill>
                <a:srgbClr val="CED1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00668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2EE79929-4FAC-595B-01B1-3FC1D5A0A68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B092511A-45A1-9700-0368-1B847C1BE501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546DBC60-F087-F1B0-07F5-EB18FC7922BB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572586E3-BCD3-9E5B-83F7-B014C880B337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by user (days)</a:t>
            </a:r>
          </a:p>
        </p:txBody>
      </p:sp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20856BD-6ADB-4F72-5828-D633E910E26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4CD7586F-D7B7-3BA0-12FE-2F39C473C83B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4ACD40A-BCD9-CCB8-C450-C545FF530150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91F7D6-3088-27D6-AC80-8947CBC5E51B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Ticket assignment type</a:t>
            </a:r>
          </a:p>
        </p:txBody>
      </p:sp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407C4A-B4CA-01B7-BFDE-EC0C4294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4D84498-4EDB-706F-46FB-CD69E1ECD5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00AE364E-0953-3CC9-4417-5011815C0ECC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23FF293B-87A9-6EBA-95DA-B04643434AA4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FD4DE711-9E40-83AB-6309-E845A6E96AF9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592D257-C171-6C94-041C-5BCACF8B2D62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326742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the last 12 months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X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{CUSTOMER}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X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01</a:t>
            </a:r>
          </a:p>
        </p:txBody>
      </p:sp>
      <p:sp>
        <p:nvSpPr>
          <p:cNvPr id="22" name="Desc 1"/>
          <p:cNvSpPr/>
          <p:nvPr/>
        </p:nvSpPr>
        <p:spPr>
          <a:xfrm>
            <a:off x="508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30" name="Node 2"/>
          <p:cNvSpPr/>
          <p:nvPr/>
        </p:nvSpPr>
        <p:spPr>
          <a:xfrm>
            <a:off x="3556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2794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02</a:t>
            </a:r>
          </a:p>
        </p:txBody>
      </p:sp>
      <p:sp>
        <p:nvSpPr>
          <p:cNvPr id="32" name="Desc 2"/>
          <p:cNvSpPr/>
          <p:nvPr/>
        </p:nvSpPr>
        <p:spPr>
          <a:xfrm>
            <a:off x="2794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0" name="Node 3"/>
          <p:cNvSpPr/>
          <p:nvPr/>
        </p:nvSpPr>
        <p:spPr>
          <a:xfrm>
            <a:off x="5842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5080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03</a:t>
            </a:r>
          </a:p>
        </p:txBody>
      </p:sp>
      <p:sp>
        <p:nvSpPr>
          <p:cNvPr id="42" name="Desc 3"/>
          <p:cNvSpPr/>
          <p:nvPr/>
        </p:nvSpPr>
        <p:spPr>
          <a:xfrm>
            <a:off x="5080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50" name="Node 4"/>
          <p:cNvSpPr/>
          <p:nvPr/>
        </p:nvSpPr>
        <p:spPr>
          <a:xfrm>
            <a:off x="8128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51" name="Step 4"/>
          <p:cNvSpPr/>
          <p:nvPr/>
        </p:nvSpPr>
        <p:spPr>
          <a:xfrm>
            <a:off x="7366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04</a:t>
            </a:r>
          </a:p>
        </p:txBody>
      </p:sp>
      <p:sp>
        <p:nvSpPr>
          <p:cNvPr id="52" name="Desc 4"/>
          <p:cNvSpPr/>
          <p:nvPr/>
        </p:nvSpPr>
        <p:spPr>
          <a:xfrm>
            <a:off x="7366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60" name="Node 5"/>
          <p:cNvSpPr/>
          <p:nvPr/>
        </p:nvSpPr>
        <p:spPr>
          <a:xfrm>
            <a:off x="10414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61" name="Step 5"/>
          <p:cNvSpPr/>
          <p:nvPr/>
        </p:nvSpPr>
        <p:spPr>
          <a:xfrm>
            <a:off x="9652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05</a:t>
            </a:r>
          </a:p>
        </p:txBody>
      </p:sp>
      <p:sp>
        <p:nvSpPr>
          <p:cNvPr id="62" name="Desc 5"/>
          <p:cNvSpPr/>
          <p:nvPr/>
        </p:nvSpPr>
        <p:spPr>
          <a:xfrm>
            <a:off x="9652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E32A68-F20A-0C44-2B8A-B5274742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534817F-429B-5F6C-7815-19D8828C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C8BD049C-D599-7059-40DE-90EC3F3937C9}"/>
              </a:ext>
            </a:extLst>
          </p:cNvPr>
          <p:cNvSpPr/>
          <p:nvPr/>
        </p:nvSpPr>
        <p:spPr>
          <a:xfrm>
            <a:off x="466344" y="974309"/>
            <a:ext cx="42051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RENEWAL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81D384FB-E87A-6AD1-145B-8BD478A36B7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25332B06-589A-6799-ACD4-09EA5D396DE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CardYear 1">
            <a:extLst>
              <a:ext uri="{FF2B5EF4-FFF2-40B4-BE49-F238E27FC236}">
                <a16:creationId xmlns:a16="http://schemas.microsoft.com/office/drawing/2014/main" id="{5C7FA4F1-716D-7BE0-9DCD-E2714EEFD7CF}"/>
              </a:ext>
            </a:extLst>
          </p:cNvPr>
          <p:cNvSpPr/>
          <p:nvPr/>
        </p:nvSpPr>
        <p:spPr>
          <a:xfrm>
            <a:off x="508000" y="2317496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002749"/>
              </a:solidFill>
            </a:endParaRPr>
          </a:p>
        </p:txBody>
      </p:sp>
      <p:sp>
        <p:nvSpPr>
          <p:cNvPr id="5" name="Year 1Pill">
            <a:extLst>
              <a:ext uri="{FF2B5EF4-FFF2-40B4-BE49-F238E27FC236}">
                <a16:creationId xmlns:a16="http://schemas.microsoft.com/office/drawing/2014/main" id="{7E163407-CAE0-740A-680B-FBEB922A3D06}"/>
              </a:ext>
            </a:extLst>
          </p:cNvPr>
          <p:cNvSpPr/>
          <p:nvPr/>
        </p:nvSpPr>
        <p:spPr>
          <a:xfrm>
            <a:off x="711200" y="2531872"/>
            <a:ext cx="3149600" cy="4064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RENEWAL DATE</a:t>
            </a:r>
          </a:p>
        </p:txBody>
      </p:sp>
      <p:sp>
        <p:nvSpPr>
          <p:cNvPr id="18" name="Year 1TotalVal">
            <a:extLst>
              <a:ext uri="{FF2B5EF4-FFF2-40B4-BE49-F238E27FC236}">
                <a16:creationId xmlns:a16="http://schemas.microsoft.com/office/drawing/2014/main" id="{25374FE5-1BC6-B457-3BB0-B032E06C6D76}"/>
              </a:ext>
            </a:extLst>
          </p:cNvPr>
          <p:cNvSpPr/>
          <p:nvPr/>
        </p:nvSpPr>
        <p:spPr>
          <a:xfrm>
            <a:off x="711200" y="3270251"/>
            <a:ext cx="3127248" cy="111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DAY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MONTH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2026</a:t>
            </a:r>
          </a:p>
        </p:txBody>
      </p:sp>
      <p:sp>
        <p:nvSpPr>
          <p:cNvPr id="19" name="CardYear 2">
            <a:extLst>
              <a:ext uri="{FF2B5EF4-FFF2-40B4-BE49-F238E27FC236}">
                <a16:creationId xmlns:a16="http://schemas.microsoft.com/office/drawing/2014/main" id="{01ED3244-D7EA-5D6D-29BC-BA9C978053A5}"/>
              </a:ext>
            </a:extLst>
          </p:cNvPr>
          <p:cNvSpPr/>
          <p:nvPr/>
        </p:nvSpPr>
        <p:spPr>
          <a:xfrm>
            <a:off x="4318000" y="2317496"/>
            <a:ext cx="736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 dirty="0">
              <a:solidFill>
                <a:srgbClr val="002749"/>
              </a:solidFill>
            </a:endParaRPr>
          </a:p>
        </p:txBody>
      </p:sp>
      <p:sp>
        <p:nvSpPr>
          <p:cNvPr id="20" name="Year 2Pill">
            <a:extLst>
              <a:ext uri="{FF2B5EF4-FFF2-40B4-BE49-F238E27FC236}">
                <a16:creationId xmlns:a16="http://schemas.microsoft.com/office/drawing/2014/main" id="{9C6B8703-1E1C-CE3C-B85C-EA9EEB74B8A7}"/>
              </a:ext>
            </a:extLst>
          </p:cNvPr>
          <p:cNvSpPr/>
          <p:nvPr/>
        </p:nvSpPr>
        <p:spPr>
          <a:xfrm>
            <a:off x="5104384" y="2560302"/>
            <a:ext cx="5793232" cy="349539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PROCESS &amp; STAKEHOLDERS</a:t>
            </a:r>
          </a:p>
        </p:txBody>
      </p:sp>
      <p:sp>
        <p:nvSpPr>
          <p:cNvPr id="48" name="ScopeTag">
            <a:extLst>
              <a:ext uri="{FF2B5EF4-FFF2-40B4-BE49-F238E27FC236}">
                <a16:creationId xmlns:a16="http://schemas.microsoft.com/office/drawing/2014/main" id="{393E5F14-D154-D78A-F66E-514E944572AC}"/>
              </a:ext>
            </a:extLst>
          </p:cNvPr>
          <p:cNvSpPr/>
          <p:nvPr/>
        </p:nvSpPr>
        <p:spPr>
          <a:xfrm>
            <a:off x="502920" y="5323169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D92398"/>
                </a:solidFill>
                <a:latin typeface="Barlow Black" pitchFamily="34" charset="0"/>
              </a:rPr>
              <a:t>MODULES</a:t>
            </a:r>
          </a:p>
        </p:txBody>
      </p:sp>
      <p:sp>
        <p:nvSpPr>
          <p:cNvPr id="49" name="ScopeModulesBg">
            <a:extLst>
              <a:ext uri="{FF2B5EF4-FFF2-40B4-BE49-F238E27FC236}">
                <a16:creationId xmlns:a16="http://schemas.microsoft.com/office/drawing/2014/main" id="{6E3DAA43-6180-F400-F64D-988ADCCB1796}"/>
              </a:ext>
            </a:extLst>
          </p:cNvPr>
          <p:cNvSpPr/>
          <p:nvPr/>
        </p:nvSpPr>
        <p:spPr>
          <a:xfrm>
            <a:off x="5080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0" name="ScopeModulesLabel">
            <a:extLst>
              <a:ext uri="{FF2B5EF4-FFF2-40B4-BE49-F238E27FC236}">
                <a16:creationId xmlns:a16="http://schemas.microsoft.com/office/drawing/2014/main" id="{59E7DA56-D5E3-2331-10C5-CAB8BF90719F}"/>
              </a:ext>
            </a:extLst>
          </p:cNvPr>
          <p:cNvSpPr/>
          <p:nvPr/>
        </p:nvSpPr>
        <p:spPr>
          <a:xfrm>
            <a:off x="797215" y="5881624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52" name="ScopeUsersBg">
            <a:extLst>
              <a:ext uri="{FF2B5EF4-FFF2-40B4-BE49-F238E27FC236}">
                <a16:creationId xmlns:a16="http://schemas.microsoft.com/office/drawing/2014/main" id="{BEE959B8-7526-C558-2692-0C12958C37AA}"/>
              </a:ext>
            </a:extLst>
          </p:cNvPr>
          <p:cNvSpPr/>
          <p:nvPr/>
        </p:nvSpPr>
        <p:spPr>
          <a:xfrm>
            <a:off x="3330575" y="5699575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5" name="ScopeScopeBg">
            <a:extLst>
              <a:ext uri="{FF2B5EF4-FFF2-40B4-BE49-F238E27FC236}">
                <a16:creationId xmlns:a16="http://schemas.microsoft.com/office/drawing/2014/main" id="{F9A08E90-45B7-1484-454E-57B14B068D86}"/>
              </a:ext>
            </a:extLst>
          </p:cNvPr>
          <p:cNvSpPr/>
          <p:nvPr/>
        </p:nvSpPr>
        <p:spPr>
          <a:xfrm>
            <a:off x="6161454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8" name="ScopeUpgradesBg">
            <a:extLst>
              <a:ext uri="{FF2B5EF4-FFF2-40B4-BE49-F238E27FC236}">
                <a16:creationId xmlns:a16="http://schemas.microsoft.com/office/drawing/2014/main" id="{71919CF6-2B99-1E40-AE73-49E02F3BEED3}"/>
              </a:ext>
            </a:extLst>
          </p:cNvPr>
          <p:cNvSpPr/>
          <p:nvPr/>
        </p:nvSpPr>
        <p:spPr>
          <a:xfrm>
            <a:off x="90424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copeModulesLabel">
            <a:extLst>
              <a:ext uri="{FF2B5EF4-FFF2-40B4-BE49-F238E27FC236}">
                <a16:creationId xmlns:a16="http://schemas.microsoft.com/office/drawing/2014/main" id="{1B7E9E5F-FEF7-7259-36AC-647EEA50F84C}"/>
              </a:ext>
            </a:extLst>
          </p:cNvPr>
          <p:cNvSpPr/>
          <p:nvPr/>
        </p:nvSpPr>
        <p:spPr>
          <a:xfrm>
            <a:off x="3630283" y="5878648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ScopeModulesLabel">
            <a:extLst>
              <a:ext uri="{FF2B5EF4-FFF2-40B4-BE49-F238E27FC236}">
                <a16:creationId xmlns:a16="http://schemas.microsoft.com/office/drawing/2014/main" id="{F214C8BF-E53B-7F2D-0F6E-D5533DA7D7AE}"/>
              </a:ext>
            </a:extLst>
          </p:cNvPr>
          <p:cNvSpPr/>
          <p:nvPr/>
        </p:nvSpPr>
        <p:spPr>
          <a:xfrm>
            <a:off x="6452858" y="5878647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1" name="ScopeModulesLabel">
            <a:extLst>
              <a:ext uri="{FF2B5EF4-FFF2-40B4-BE49-F238E27FC236}">
                <a16:creationId xmlns:a16="http://schemas.microsoft.com/office/drawing/2014/main" id="{1C217137-CF57-1259-7C77-8A0159E3C442}"/>
              </a:ext>
            </a:extLst>
          </p:cNvPr>
          <p:cNvSpPr/>
          <p:nvPr/>
        </p:nvSpPr>
        <p:spPr>
          <a:xfrm>
            <a:off x="9365874" y="5878646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AP AUTOMATION</a:t>
            </a:r>
          </a:p>
        </p:txBody>
      </p:sp>
    </p:spTree>
    <p:extLst>
      <p:ext uri="{BB962C8B-B14F-4D97-AF65-F5344CB8AC3E}">
        <p14:creationId xmlns:p14="http://schemas.microsoft.com/office/powerpoint/2010/main" val="37495666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73A649E-5C11-4071-77BA-5D8EF77A62AA}"/>
              </a:ext>
            </a:extLst>
          </p:cNvPr>
          <p:cNvSpPr/>
          <p:nvPr/>
        </p:nvSpPr>
        <p:spPr>
          <a:xfrm>
            <a:off x="410128" y="4272598"/>
            <a:ext cx="5103237" cy="2096815"/>
          </a:xfrm>
          <a:prstGeom prst="roundRect">
            <a:avLst>
              <a:gd name="adj" fmla="val 6879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3F84999-5C5C-D5A5-D0FF-96463AF19483}"/>
              </a:ext>
            </a:extLst>
          </p:cNvPr>
          <p:cNvSpPr/>
          <p:nvPr/>
        </p:nvSpPr>
        <p:spPr>
          <a:xfrm>
            <a:off x="410130" y="2205839"/>
            <a:ext cx="2970886" cy="1703015"/>
          </a:xfrm>
          <a:prstGeom prst="roundRect">
            <a:avLst>
              <a:gd name="adj" fmla="val 599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04" name="Google Shape;1004;p35" title="world 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66491" y="728390"/>
            <a:ext cx="7497737" cy="494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6" name="Google Shape;1006;p35"/>
          <p:cNvSpPr txBox="1"/>
          <p:nvPr/>
        </p:nvSpPr>
        <p:spPr>
          <a:xfrm>
            <a:off x="677216" y="2491006"/>
            <a:ext cx="2879602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LIVE REGIONS &amp; ENTITIES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007" name="Google Shape;1007;p35"/>
          <p:cNvSpPr txBox="1"/>
          <p:nvPr/>
        </p:nvSpPr>
        <p:spPr>
          <a:xfrm>
            <a:off x="677200" y="2923527"/>
            <a:ext cx="2232488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North America</a:t>
            </a:r>
            <a:endParaRPr lang="en-GB" sz="1600" dirty="0"/>
          </a:p>
          <a:p>
            <a:pPr marL="88900"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</a:pPr>
            <a:endParaRPr lang="en-GB" sz="1600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Europe</a:t>
            </a:r>
            <a:endParaRPr sz="1600" dirty="0"/>
          </a:p>
        </p:txBody>
      </p:sp>
      <p:sp>
        <p:nvSpPr>
          <p:cNvPr id="1008" name="Google Shape;1008;p35"/>
          <p:cNvSpPr txBox="1"/>
          <p:nvPr/>
        </p:nvSpPr>
        <p:spPr>
          <a:xfrm>
            <a:off x="677200" y="4504607"/>
            <a:ext cx="2473201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ERP SYSTEMS</a:t>
            </a:r>
            <a:endParaRPr sz="1600" dirty="0"/>
          </a:p>
        </p:txBody>
      </p:sp>
      <p:sp>
        <p:nvSpPr>
          <p:cNvPr id="1009" name="Google Shape;1009;p35"/>
          <p:cNvSpPr txBox="1"/>
          <p:nvPr/>
        </p:nvSpPr>
        <p:spPr>
          <a:xfrm>
            <a:off x="2869136" y="4504607"/>
            <a:ext cx="264422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WORKFLOW SYSTEMS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4" name="Google Shape;1014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89462" y="1306670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5" name="Google Shape;1015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1845" y="2444571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6" name="Google Shape;1016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2665" y="3865413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7" name="Google Shape;1017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4835" y="2509887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8" name="Google Shape;1018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51" y="3527988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9" name="Google Shape;1019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92788" y="4223672"/>
            <a:ext cx="427027" cy="61944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27B034-5559-2E29-555C-057506F9F8A3}"/>
              </a:ext>
            </a:extLst>
          </p:cNvPr>
          <p:cNvSpPr/>
          <p:nvPr/>
        </p:nvSpPr>
        <p:spPr>
          <a:xfrm>
            <a:off x="689071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512F09-D764-18DC-16F6-98141C7212B5}"/>
              </a:ext>
            </a:extLst>
          </p:cNvPr>
          <p:cNvSpPr/>
          <p:nvPr/>
        </p:nvSpPr>
        <p:spPr>
          <a:xfrm>
            <a:off x="685321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B929B7C-EFFE-21E7-98E4-409BE20D77F7}"/>
              </a:ext>
            </a:extLst>
          </p:cNvPr>
          <p:cNvSpPr/>
          <p:nvPr/>
        </p:nvSpPr>
        <p:spPr>
          <a:xfrm>
            <a:off x="2951573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65B4B3B-DB05-D35F-8C46-C076C32494B3}"/>
              </a:ext>
            </a:extLst>
          </p:cNvPr>
          <p:cNvSpPr/>
          <p:nvPr/>
        </p:nvSpPr>
        <p:spPr>
          <a:xfrm>
            <a:off x="2947823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4CE7B4-64C1-F66E-4A74-40AF373D6F55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SCOPE</a:t>
            </a:r>
          </a:p>
        </p:txBody>
      </p:sp>
      <p:sp>
        <p:nvSpPr>
          <p:cNvPr id="6" name="TitleAccent">
            <a:extLst>
              <a:ext uri="{FF2B5EF4-FFF2-40B4-BE49-F238E27FC236}">
                <a16:creationId xmlns:a16="http://schemas.microsoft.com/office/drawing/2014/main" id="{D5A6B548-D40B-33B7-F599-F293E9C1523B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DFF8C120-1B62-7BC2-441B-94C874432C1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" name="ContactLabel 1"/>
          <p:cNvSpPr/>
          <p:nvPr/>
        </p:nvSpPr>
        <p:spPr>
          <a:xfrm>
            <a:off x="1016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EMAIL</a:t>
            </a:r>
          </a:p>
        </p:txBody>
      </p:sp>
      <p:sp>
        <p:nvSpPr>
          <p:cNvPr id="21" name="ContactVal 1"/>
          <p:cNvSpPr/>
          <p:nvPr/>
        </p:nvSpPr>
        <p:spPr>
          <a:xfrm>
            <a:off x="1016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email@company.com</a:t>
            </a:r>
          </a:p>
        </p:txBody>
      </p:sp>
      <p:sp>
        <p:nvSpPr>
          <p:cNvPr id="30" name="ContactLabel 2"/>
          <p:cNvSpPr/>
          <p:nvPr/>
        </p:nvSpPr>
        <p:spPr>
          <a:xfrm>
            <a:off x="4572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PHONE</a:t>
            </a:r>
          </a:p>
        </p:txBody>
      </p:sp>
      <p:sp>
        <p:nvSpPr>
          <p:cNvPr id="31" name="ContactVal 2"/>
          <p:cNvSpPr/>
          <p:nvPr/>
        </p:nvSpPr>
        <p:spPr>
          <a:xfrm>
            <a:off x="4572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+44 (555) 000-000</a:t>
            </a:r>
          </a:p>
        </p:txBody>
      </p:sp>
      <p:sp>
        <p:nvSpPr>
          <p:cNvPr id="40" name="ContactLabel 3"/>
          <p:cNvSpPr/>
          <p:nvPr/>
        </p:nvSpPr>
        <p:spPr>
          <a:xfrm>
            <a:off x="8128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WEBSITE</a:t>
            </a:r>
          </a:p>
        </p:txBody>
      </p:sp>
      <p:sp>
        <p:nvSpPr>
          <p:cNvPr id="41" name="ContactVal 3"/>
          <p:cNvSpPr/>
          <p:nvPr/>
        </p:nvSpPr>
        <p:spPr>
          <a:xfrm>
            <a:off x="8128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 err="1">
                <a:solidFill>
                  <a:srgbClr val="CCBBFF"/>
                </a:solidFill>
                <a:latin typeface="Barlow" pitchFamily="34" charset="0"/>
              </a:rPr>
              <a:t>www.xelix.com</a:t>
            </a:r>
            <a:endParaRPr lang="en-US" sz="1400" dirty="0">
              <a:solidFill>
                <a:srgbClr val="CCBBFF"/>
              </a:solidFill>
              <a:latin typeface="Barl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9497</TotalTime>
  <Words>941</Words>
  <Application>Microsoft Macintosh PowerPoint</Application>
  <PresentationFormat>Widescreen</PresentationFormat>
  <Paragraphs>337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Barlow Black</vt:lpstr>
      <vt:lpstr>Wingdings</vt:lpstr>
      <vt:lpstr>Arial</vt:lpstr>
      <vt:lpstr>Barlow ExtraBold</vt:lpstr>
      <vt:lpstr>Barlow</vt:lpstr>
      <vt:lpstr>Calibri</vt:lpstr>
      <vt:lpstr>Noto Sans Symbols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Jesse Newton</cp:lastModifiedBy>
  <cp:revision>14</cp:revision>
  <dcterms:created xsi:type="dcterms:W3CDTF">2023-04-12T13:14:20Z</dcterms:created>
  <dcterms:modified xsi:type="dcterms:W3CDTF">2026-04-30T16:27:21Z</dcterms:modified>
</cp:coreProperties>
</file>