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11480"/>
            <a:ext cx="201168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4114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XELIX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Business Review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48640" y="224028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{{CUSTOMER_NAME}}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{{EBR_DATE}}  |  Period: {{EBR_PERIOD}}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4015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{{ACCOUNT_MANAGER}}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  —  FOR {{CUSTOMER_NAME}} USE ONLY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Agenda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05840"/>
            <a:ext cx="457200" cy="384048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0058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01498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from last EBR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22529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Goals, commitments &amp; progress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554480"/>
            <a:ext cx="457200" cy="384048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55448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156362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Performance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177393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adoption &amp; activity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103120"/>
            <a:ext cx="457200" cy="384048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10312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211226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Deep Dives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32257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· Statements · Helpdesk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651760"/>
            <a:ext cx="457200" cy="384048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65176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266090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287121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updates &amp; coming soon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200400"/>
            <a:ext cx="457200" cy="384048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320040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320954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 &amp; KPIs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97280" y="341985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against targets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749040"/>
            <a:ext cx="457200" cy="384048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490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97280" y="375818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of Customer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97280" y="396849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Insights, sentiment &amp; feedback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4297680"/>
            <a:ext cx="457200" cy="384048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429768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430682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&amp; Actions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97280" y="451713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actions &amp; owners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577840" y="960120"/>
            <a:ext cx="3291840" cy="3749040"/>
          </a:xfrm>
          <a:prstGeom prst="rect">
            <a:avLst/>
          </a:prstGeom>
          <a:solidFill>
            <a:srgbClr val="EDE7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760720" y="1097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EBR Overview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760720" y="1508760"/>
            <a:ext cx="2926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</a:t>
            </a:r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{{CUSTOMER_NAME}}
</a:t>
            </a:r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AM: </a:t>
            </a:r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{{ACCOUNT_MANAGER}}
</a:t>
            </a:r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Period: </a:t>
            </a:r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{{EBR_PERIOD}}
</a:t>
            </a:r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ARR: </a:t>
            </a:r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{{CONTRACT_VALUE}}
</a:t>
            </a:r>
            <a:pPr indent="0" marL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Renewal: </a:t>
            </a:r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{{RENEWAL_DISPLAY_DATE}}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B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Recap from Last EBR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Goals, commitments &amp; carry-forwards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XELIX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from Last EBR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Previous EBR deck · HubSpot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960120"/>
            <a:ext cx="8366760" cy="1188720"/>
          </a:xfrm>
          <a:prstGeom prst="rect">
            <a:avLst/>
          </a:prstGeom>
          <a:solidFill>
            <a:srgbClr val="EDE7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960120"/>
            <a:ext cx="64008" cy="118872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24128"/>
            <a:ext cx="7955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"{{CUSTOMER_QUOTE}}"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8288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{{QUOTE_ATTRIBUTION}}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267712"/>
            <a:ext cx="2606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2267712"/>
            <a:ext cx="2606040" cy="64008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3774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{{RECAP_POINT_1}}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2834640"/>
            <a:ext cx="23317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{{RECAP_POINT_1_DETAIL}}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91840" y="2267712"/>
            <a:ext cx="2606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91840" y="2267712"/>
            <a:ext cx="2606040" cy="64008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23774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{{RECAP_POINT_2}}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2834640"/>
            <a:ext cx="23317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{{RECAP_POINT_2_DETAIL}}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080760" y="2267712"/>
            <a:ext cx="260604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80760" y="2267712"/>
            <a:ext cx="2606040" cy="64008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2377440"/>
            <a:ext cx="2331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{{RECAP_POINT_3}}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2834640"/>
            <a:ext cx="23317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{{RECAP_POINT_3_DETAIL}}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Commitments &amp;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Previous EBR deck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960120"/>
            <a:ext cx="3977640" cy="283464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05156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Xelix Commitments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1508760"/>
            <a:ext cx="36118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{{XELIX_COMMITMENTS}}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960120"/>
            <a:ext cx="3977640" cy="283464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937760" y="105156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Customer Commitments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508760"/>
            <a:ext cx="36118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{{CUSTOMER_COMMITMENTS}}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931920"/>
            <a:ext cx="5486400" cy="777240"/>
          </a:xfrm>
          <a:prstGeom prst="rect">
            <a:avLst/>
          </a:prstGeom>
          <a:solidFill>
            <a:srgbClr val="FCE4EC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97764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Forwards:  {{CARRY_FORWARD_ITEMS}}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3931920"/>
            <a:ext cx="2697480" cy="777240"/>
          </a:xfrm>
          <a:prstGeom prst="rect">
            <a:avLst/>
          </a:prstGeom>
          <a:solidFill>
            <a:srgbClr val="5B2D8E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72200" y="3931920"/>
            <a:ext cx="2697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Progress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{{PROGRESS_RATING}}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5B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Platform Performance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adoption &amp; activity metrics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XELIX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Level Snapshot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Dashboard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005840"/>
            <a:ext cx="19202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005840"/>
            <a:ext cx="19202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14300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{{MONTHLY_ACTIVE_USERS}}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94360" y="22860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Active Users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87752" y="1005840"/>
            <a:ext cx="19202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87752" y="1005840"/>
            <a:ext cx="19202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2" name="Text 10"/>
          <p:cNvSpPr/>
          <p:nvPr/>
        </p:nvSpPr>
        <p:spPr>
          <a:xfrm>
            <a:off x="2679192" y="114300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{{AVERAGE_WEEKLY_USERS}}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79192" y="22860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Weekly Users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72584" y="1005840"/>
            <a:ext cx="19202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005840"/>
            <a:ext cx="192024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16" name="Text 14"/>
          <p:cNvSpPr/>
          <p:nvPr/>
        </p:nvSpPr>
        <p:spPr>
          <a:xfrm>
            <a:off x="4764024" y="114300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{{BUSIEST_MODULE}}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764024" y="22860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Busiest Module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57416" y="1005840"/>
            <a:ext cx="192024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57416" y="1005840"/>
            <a:ext cx="192024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20" name="Text 18"/>
          <p:cNvSpPr/>
          <p:nvPr/>
        </p:nvSpPr>
        <p:spPr>
          <a:xfrm>
            <a:off x="6848856" y="1143000"/>
            <a:ext cx="173736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{{PCT_AIV_USED_YTD}}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48856" y="22860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AIV Used YTD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3063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Active Users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3429000"/>
            <a:ext cx="2606040" cy="137160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3520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38862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{{MOST_ACTIVE_USER_TRANSACTIONS}}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3291840" y="3429000"/>
            <a:ext cx="2606040" cy="137160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429000" y="3520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29000" y="38862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{{MOST_ACTIVE_USER_STATEMENTS}}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080760" y="3429000"/>
            <a:ext cx="2606040" cy="137160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217920" y="3520440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17920" y="38862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{{MOST_ACTIVE_USER_HELPDESK}}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5B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Transactions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invoices &amp; invoice errors deep dive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XELIX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— Snapshot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Xelix Platform · QBR Reporting · Transactions Tab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005840"/>
            <a:ext cx="192024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005840"/>
            <a:ext cx="19202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143000"/>
            <a:ext cx="173736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{{DUP_VALUE_CONFIRMED}}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 Invoice Value (YTD)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87752" y="1005840"/>
            <a:ext cx="192024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87752" y="1005840"/>
            <a:ext cx="192024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12" name="Text 10"/>
          <p:cNvSpPr/>
          <p:nvPr/>
        </p:nvSpPr>
        <p:spPr>
          <a:xfrm>
            <a:off x="2679192" y="1143000"/>
            <a:ext cx="173736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{{DUP_COUNT_CONFIRMED}}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679192" y="22402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 Invoices Confirmed (YTD)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72584" y="1005840"/>
            <a:ext cx="192024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005840"/>
            <a:ext cx="19202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6" name="Text 14"/>
          <p:cNvSpPr/>
          <p:nvPr/>
        </p:nvSpPr>
        <p:spPr>
          <a:xfrm>
            <a:off x="4764024" y="1143000"/>
            <a:ext cx="173736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{{DUP_CAUGHT_AHEAD_NUM}}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764024" y="22402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Ahead of Pay Run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57416" y="1005840"/>
            <a:ext cx="192024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57416" y="1005840"/>
            <a:ext cx="192024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20" name="Text 18"/>
          <p:cNvSpPr/>
          <p:nvPr/>
        </p:nvSpPr>
        <p:spPr>
          <a:xfrm>
            <a:off x="6848856" y="1143000"/>
            <a:ext cx="173736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{{DUP_CAUGHT_AHEAD_VAL}}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848856" y="22402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Caught Ahead (£)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2971800"/>
            <a:ext cx="3977640" cy="1874520"/>
          </a:xfrm>
          <a:prstGeom prst="rect">
            <a:avLst/>
          </a:prstGeom>
          <a:solidFill>
            <a:srgbClr val="EDE7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5800" y="3063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Direction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342900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{{DUP_TREND_DIRECTION}}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85800" y="4297680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{{DUP_TREND_NARRATIVE}}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2971800"/>
            <a:ext cx="4206240" cy="187452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754880" y="3200400"/>
            <a:ext cx="4023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Paste chart screenshot here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(QBR Reporting → Transactions)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Invoices — Cause &amp; Recovery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Xelix Platform · QBR Reporting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005840"/>
            <a:ext cx="3977640" cy="320040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371600"/>
            <a:ext cx="37947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Paste Duplicate Invoice Cause chart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(QBR Reporting → Duplicate Invoice Cause)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05840"/>
            <a:ext cx="4206240" cy="1463040"/>
          </a:xfrm>
          <a:prstGeom prst="rect">
            <a:avLst/>
          </a:prstGeom>
          <a:solidFill>
            <a:srgbClr val="EDE7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46320" y="107899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Value Recovered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46320" y="146304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Duplicates: </a:t>
            </a:r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{{VALUE_RECOVERED_HIST_DUPES}}
</a:t>
            </a:r>
            <a:pPr indent="0" marL="0">
              <a:lnSpc>
                <a:spcPct val="160000"/>
              </a:lnSpc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Errors: </a:t>
            </a:r>
            <a:pPr indent="0" marL="0">
              <a:lnSpc>
                <a:spcPct val="160000"/>
              </a:lnSpc>
              <a:buNone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{{VALUE_RECOVERED_HIST_ERRORS}}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2651760"/>
            <a:ext cx="4206240" cy="155448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283464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Paste Detected/Recovered chart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(QBR Reporting → Duplicate Detected)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Errors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Xelix Platform · QBR Reporting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005840"/>
            <a:ext cx="19202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005840"/>
            <a:ext cx="19202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14300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{{INV_ERRORS_CONFIRMED_COUNT}}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94360" y="210312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Confirmed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87752" y="1005840"/>
            <a:ext cx="19202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87752" y="1005840"/>
            <a:ext cx="192024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12" name="Text 10"/>
          <p:cNvSpPr/>
          <p:nvPr/>
        </p:nvSpPr>
        <p:spPr>
          <a:xfrm>
            <a:off x="2679192" y="114300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{{INVOICE_ERRORS_AHEAD_PAY_RUN}}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79192" y="210312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Ahead of Pay Run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72584" y="1005840"/>
            <a:ext cx="19202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005840"/>
            <a:ext cx="19202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6" name="Text 14"/>
          <p:cNvSpPr/>
          <p:nvPr/>
        </p:nvSpPr>
        <p:spPr>
          <a:xfrm>
            <a:off x="4764024" y="114300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{{MOST_COMMON_ERROR_TYPE}}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764024" y="210312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Type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57416" y="1005840"/>
            <a:ext cx="19202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57416" y="1005840"/>
            <a:ext cx="192024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20" name="Text 18"/>
          <p:cNvSpPr/>
          <p:nvPr/>
        </p:nvSpPr>
        <p:spPr>
          <a:xfrm>
            <a:off x="6848856" y="114300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{{ERROR_TYPE_COUNT}}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848856" y="210312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2880360"/>
            <a:ext cx="3977640" cy="196596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31089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Paste Invoice Error Types chart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(QBR Reporting → Invoice Error Types)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63440" y="2880360"/>
            <a:ext cx="4206240" cy="196596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0" y="3108960"/>
            <a:ext cx="40233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Paste Errors Caught Ahead chart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(QBR Reporting → Errors Ahead of Pay Run)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5B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Statements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performance &amp; automation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XELIX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— Reconciliation Snapshot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Xelix Platform · QBR Reporting · Statements Tab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005840"/>
            <a:ext cx="1920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005840"/>
            <a:ext cx="19202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1430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{{PCT_SPEND_RECONCILED}}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194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Reconciled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87752" y="1005840"/>
            <a:ext cx="1920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87752" y="1005840"/>
            <a:ext cx="192024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12" name="Text 10"/>
          <p:cNvSpPr/>
          <p:nvPr/>
        </p:nvSpPr>
        <p:spPr>
          <a:xfrm>
            <a:off x="2679192" y="11430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{{PCT_INVOICES_RECONCILED}}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679192" y="2194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Invoices Reconciled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72584" y="1005840"/>
            <a:ext cx="1920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005840"/>
            <a:ext cx="19202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6" name="Text 14"/>
          <p:cNvSpPr/>
          <p:nvPr/>
        </p:nvSpPr>
        <p:spPr>
          <a:xfrm>
            <a:off x="4764024" y="11430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{{PCT_VENDORS_RECONCILED}}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764024" y="2194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Reconciled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57416" y="1005840"/>
            <a:ext cx="1920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57416" y="1005840"/>
            <a:ext cx="192024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20" name="Text 18"/>
          <p:cNvSpPr/>
          <p:nvPr/>
        </p:nvSpPr>
        <p:spPr>
          <a:xfrm>
            <a:off x="6848856" y="11430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{{PCT_STATEMENTS_RECONCILED}}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848856" y="2194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Reconciled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2926080"/>
            <a:ext cx="3977640" cy="192024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3154680"/>
            <a:ext cx="3794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Paste Statements Reconciliation chart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(QBR Reporting → Statements)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63440" y="2926080"/>
            <a:ext cx="4206240" cy="1920240"/>
          </a:xfrm>
          <a:prstGeom prst="rect">
            <a:avLst/>
          </a:prstGeom>
          <a:solidFill>
            <a:srgbClr val="EDE7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846320" y="3017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Month-on-Month Reconciliation Growth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46320" y="342900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{{MOM_RECONCILIATION_GROWTH}}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4846320" y="42976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previous period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— Automation &amp; Coverage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Internal Dashboard · Reconciliation Statistics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005840"/>
            <a:ext cx="1920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005840"/>
            <a:ext cx="19202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1430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{{PCT_STATEMENTS_AUTOMATED}}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2194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Automated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87752" y="1005840"/>
            <a:ext cx="1920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87752" y="1005840"/>
            <a:ext cx="192024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12" name="Text 10"/>
          <p:cNvSpPr/>
          <p:nvPr/>
        </p:nvSpPr>
        <p:spPr>
          <a:xfrm>
            <a:off x="2679192" y="11430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{{FULL_AUTOMATION_NOW}}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679192" y="2194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Automation % Now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72584" y="1005840"/>
            <a:ext cx="1920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005840"/>
            <a:ext cx="19202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6" name="Text 14"/>
          <p:cNvSpPr/>
          <p:nvPr/>
        </p:nvSpPr>
        <p:spPr>
          <a:xfrm>
            <a:off x="4764024" y="11430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{{FULL_AUTOMATION_PREV}}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764024" y="2194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Automation % Last EBR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57416" y="1005840"/>
            <a:ext cx="1920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57416" y="1005840"/>
            <a:ext cx="192024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20" name="Text 18"/>
          <p:cNvSpPr/>
          <p:nvPr/>
        </p:nvSpPr>
        <p:spPr>
          <a:xfrm>
            <a:off x="6848856" y="1143000"/>
            <a:ext cx="173736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{{INVOICE_COVERAGE_PCT}}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848856" y="219456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Coverage 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2926080"/>
            <a:ext cx="3977640" cy="192024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5800" y="301752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Benchmark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3429000"/>
            <a:ext cx="3611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{{INDUSTRY_BENCHMARK}}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685800" y="41148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industry avg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663440" y="2926080"/>
            <a:ext cx="4206240" cy="1920240"/>
          </a:xfrm>
          <a:prstGeom prst="rect">
            <a:avLst/>
          </a:prstGeom>
          <a:solidFill>
            <a:srgbClr val="FCE4EC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846320" y="3017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Credits Recovered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846320" y="342900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{{MISSING_CREDITS_RECOVERED}}</a:t>
            </a:r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across  {{MISSED_CREDITS_COUNT}}  credits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4846320" y="425196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representing {{VENDORS_PCT_TOTAL_SPEND}} of total spend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B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Helpdesk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volumes, handling times &amp; Gen AI adoption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XELIX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 — Ticket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Xelix Platform · QBR Reporting · Helpdesk Tab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005840"/>
            <a:ext cx="19202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005840"/>
            <a:ext cx="19202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143000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{{NEW_TICKETS_RAISED}}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594360" y="21488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Tickets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87752" y="1005840"/>
            <a:ext cx="19202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587752" y="1005840"/>
            <a:ext cx="1920240" cy="73152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2" name="Text 10"/>
          <p:cNvSpPr/>
          <p:nvPr/>
        </p:nvSpPr>
        <p:spPr>
          <a:xfrm>
            <a:off x="2679192" y="1143000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{{CLOSED_TICKETS}}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679192" y="21488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72584" y="1005840"/>
            <a:ext cx="19202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005840"/>
            <a:ext cx="192024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16" name="Text 14"/>
          <p:cNvSpPr/>
          <p:nvPr/>
        </p:nvSpPr>
        <p:spPr>
          <a:xfrm>
            <a:off x="4764024" y="1143000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{{OPEN_TICKETS}}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4764024" y="21488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57416" y="1005840"/>
            <a:ext cx="192024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757416" y="1005840"/>
            <a:ext cx="19202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20" name="Text 18"/>
          <p:cNvSpPr/>
          <p:nvPr/>
        </p:nvSpPr>
        <p:spPr>
          <a:xfrm>
            <a:off x="6848856" y="1143000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{{TOTAL_TICKETS_YTD}}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6848856" y="214884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YTD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2834640"/>
            <a:ext cx="3977640" cy="118872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85800" y="292608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Xelix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333756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{{TICKETS_WAITING_XELIX}}</a:t>
            </a:r>
            <a:endParaRPr lang="en-US" sz="2800" dirty="0"/>
          </a:p>
        </p:txBody>
      </p:sp>
      <p:sp>
        <p:nvSpPr>
          <p:cNvPr id="25" name="Shape 23"/>
          <p:cNvSpPr/>
          <p:nvPr/>
        </p:nvSpPr>
        <p:spPr>
          <a:xfrm>
            <a:off x="4709160" y="2834640"/>
            <a:ext cx="3977640" cy="118872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92040" y="292608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Customer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92040" y="333756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{{TICKETS_WAITING_CUSTOMER}}</a:t>
            </a:r>
            <a:endParaRPr lang="en-US" sz="2800" dirty="0"/>
          </a:p>
        </p:txBody>
      </p:sp>
      <p:sp>
        <p:nvSpPr>
          <p:cNvPr id="28" name="Shape 26"/>
          <p:cNvSpPr/>
          <p:nvPr/>
        </p:nvSpPr>
        <p:spPr>
          <a:xfrm>
            <a:off x="502920" y="4160520"/>
            <a:ext cx="8366760" cy="59436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85800" y="4206240"/>
            <a:ext cx="8001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Paste Ticket Breakdown chart here  (QBR Reporting → Helpdesk Tab)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Helpdesk — Handling Time &amp; Gen AI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Xelix Platform · Cockpit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005840"/>
            <a:ext cx="397764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005840"/>
            <a:ext cx="397764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Handling Time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554480"/>
            <a:ext cx="3611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{{AVG_HANDLING_TIME_CURRENT}}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685800" y="25146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 (was {{AVG_HANDLING_TIME_PREV}} days)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926080"/>
            <a:ext cx="3977640" cy="868680"/>
          </a:xfrm>
          <a:prstGeom prst="rect">
            <a:avLst/>
          </a:prstGeom>
          <a:solidFill>
            <a:srgbClr val="EDE7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2999232"/>
            <a:ext cx="3611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{{PCT_HANDLING_TIME_DECREASE}} decrease in handling time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663440" y="1005840"/>
            <a:ext cx="420624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1005840"/>
            <a:ext cx="420624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43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 AI Adoption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1554480"/>
            <a:ext cx="3840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{{PCT_TICKETS_VIA_GEN_AI}}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846320" y="2514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outbound messages used Gen AI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206240" cy="868680"/>
          </a:xfrm>
          <a:prstGeom prst="rect">
            <a:avLst/>
          </a:prstGeom>
          <a:solidFill>
            <a:srgbClr val="FCE4EC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2999232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{{PCT_TICKETS_VIA_TRIGGERS}} via automated triggers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" y="3913632"/>
            <a:ext cx="8366760" cy="86868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3977640"/>
            <a:ext cx="8001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Paste Gen AI Deep Dive chart here  (Cockpit → Outgoing Tickets Dashboard)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B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What's New at Xelix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highlights &amp; coming soon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XELIX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Highlights &amp; Coming Soon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Notion · Product team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960120"/>
            <a:ext cx="3977640" cy="3840480"/>
          </a:xfrm>
          <a:prstGeom prst="rect">
            <a:avLst/>
          </a:prstGeom>
          <a:solidFill>
            <a:srgbClr val="EDE7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105156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 2025 Highlights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600200"/>
            <a:ext cx="36118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{{XELIX_COMPANY_UPDATES}}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206240" cy="3840480"/>
          </a:xfrm>
          <a:prstGeom prst="rect">
            <a:avLst/>
          </a:prstGeom>
          <a:solidFill>
            <a:srgbClr val="FCE4EC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10515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🔮  Coming Soon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6320" y="1600200"/>
            <a:ext cx="38404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Auto-Share · Missing Credits Refresh · Dashboard Refresh · Statement recognition from email body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B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Goals &amp; KPIs Review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against targets set at last EBR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XELIX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 &amp; KPIs — Progress Review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Previous EBR deck · HubSpot · Value Realisation session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1005840"/>
            <a:ext cx="7772400" cy="82296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005840"/>
            <a:ext cx="54864" cy="82296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7899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138988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{{GOAL_1}}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{{GOAL_1_TARGET}}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77724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02920" y="1965960"/>
            <a:ext cx="54864" cy="82296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03911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235000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{{GOAL_2}}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0" y="205740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{{GOAL_2_TARGET}}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2926080"/>
            <a:ext cx="7772400" cy="82296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02920" y="2926080"/>
            <a:ext cx="54864" cy="82296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99923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33101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{{GOAL_3}}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0" y="301752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{{GOAL_3_TARGET}}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886200"/>
            <a:ext cx="777240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2920" y="3886200"/>
            <a:ext cx="54864" cy="82296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395935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427024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{{GOAL_4}}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0" y="397764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{{GOAL_4_TARGET}}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02920" y="4663440"/>
            <a:ext cx="8366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 carried forward from your Value Realisation session. Review &amp; update targets as needed.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5B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Voice of Customer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Sentiment, insights &amp; account health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XELIX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Insights &amp; Health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Gong · HubSpot · Risk Dashboard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96012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960120"/>
            <a:ext cx="265176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7899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15087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{{CUSTOMER_SENTIMENT}}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3337560" y="960120"/>
            <a:ext cx="265176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37560" y="960120"/>
            <a:ext cx="2651760" cy="73152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078992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Trend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20440" y="150876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1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{{HEALTH_TREND}}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6172200" y="960120"/>
            <a:ext cx="269748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960120"/>
            <a:ext cx="2697480" cy="73152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107899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Rating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55080" y="1508760"/>
            <a:ext cx="2331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{{OVERALL_RISK_RATING}}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502920" y="2926080"/>
            <a:ext cx="3977640" cy="1920240"/>
          </a:xfrm>
          <a:prstGeom prst="rect">
            <a:avLst/>
          </a:prstGeom>
          <a:solidFill>
            <a:srgbClr val="F3F4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5800" y="301752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Theme from Recent Calls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3474720"/>
            <a:ext cx="3611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{{TOP_THEME_FROM_CALLS}}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663440" y="2926080"/>
            <a:ext cx="4206240" cy="1920240"/>
          </a:xfrm>
          <a:prstGeom prst="rect">
            <a:avLst/>
          </a:prstGeom>
          <a:solidFill>
            <a:srgbClr val="EDE7F6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2926080"/>
            <a:ext cx="64008" cy="192024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23" name="Text 21"/>
          <p:cNvSpPr/>
          <p:nvPr/>
        </p:nvSpPr>
        <p:spPr>
          <a:xfrm>
            <a:off x="4846320" y="30175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Feedback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46320" y="342900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"{{KEY_CUSTOMER_QUOTE}}"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846320" y="4526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Risks/Flags: {{RISKS_OR_COMPLAINTS}}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B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Next Steps &amp; Actions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actions, owners &amp; due dates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XELIX  |  CONFIDENTIAL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0116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Agreed Next Steps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836676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800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Post-EBR action log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2920" y="987552"/>
            <a:ext cx="365760" cy="41148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987552"/>
            <a:ext cx="2926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987552"/>
            <a:ext cx="3657600" cy="41148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9" name="Text 7"/>
          <p:cNvSpPr/>
          <p:nvPr/>
        </p:nvSpPr>
        <p:spPr>
          <a:xfrm>
            <a:off x="905256" y="987552"/>
            <a:ext cx="35844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26280" y="987552"/>
            <a:ext cx="1828800" cy="41148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1" name="Text 9"/>
          <p:cNvSpPr/>
          <p:nvPr/>
        </p:nvSpPr>
        <p:spPr>
          <a:xfrm>
            <a:off x="4562856" y="987552"/>
            <a:ext cx="175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55080" y="987552"/>
            <a:ext cx="1280160" cy="41148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3" name="Text 11"/>
          <p:cNvSpPr/>
          <p:nvPr/>
        </p:nvSpPr>
        <p:spPr>
          <a:xfrm>
            <a:off x="6391656" y="987552"/>
            <a:ext cx="12070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Date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35240" y="987552"/>
            <a:ext cx="1097280" cy="411480"/>
          </a:xfrm>
          <a:prstGeom prst="rect">
            <a:avLst/>
          </a:prstGeom>
          <a:solidFill>
            <a:srgbClr val="5B2D8E"/>
          </a:solidFill>
          <a:ln/>
        </p:spPr>
      </p:sp>
      <p:sp>
        <p:nvSpPr>
          <p:cNvPr id="15" name="Text 13"/>
          <p:cNvSpPr/>
          <p:nvPr/>
        </p:nvSpPr>
        <p:spPr>
          <a:xfrm>
            <a:off x="7671816" y="987552"/>
            <a:ext cx="10241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1417320"/>
            <a:ext cx="36576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7" name="Shape 15"/>
          <p:cNvSpPr/>
          <p:nvPr/>
        </p:nvSpPr>
        <p:spPr>
          <a:xfrm>
            <a:off x="868680" y="1417320"/>
            <a:ext cx="365760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8" name="Shape 16"/>
          <p:cNvSpPr/>
          <p:nvPr/>
        </p:nvSpPr>
        <p:spPr>
          <a:xfrm>
            <a:off x="4526280" y="1417320"/>
            <a:ext cx="182880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55080" y="1417320"/>
            <a:ext cx="128016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0" name="Shape 18"/>
          <p:cNvSpPr/>
          <p:nvPr/>
        </p:nvSpPr>
        <p:spPr>
          <a:xfrm>
            <a:off x="7635240" y="1417320"/>
            <a:ext cx="109728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539496" y="1417320"/>
            <a:ext cx="2926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5256" y="1417320"/>
            <a:ext cx="35844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{{ACTION_1}}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62856" y="1417320"/>
            <a:ext cx="17556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{{ACTION_1_OWNER}}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91656" y="1417320"/>
            <a:ext cx="12070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{{ACTION_1_DUE}}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671816" y="141732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{{ACTION_1_STATUS}}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1984248"/>
            <a:ext cx="365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868680" y="1984248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4526280" y="1984248"/>
            <a:ext cx="18288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6355080" y="1984248"/>
            <a:ext cx="12801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7635240" y="1984248"/>
            <a:ext cx="1097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539496" y="1984248"/>
            <a:ext cx="2926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05256" y="1984248"/>
            <a:ext cx="35844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{{ACTION_2}}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562856" y="1984248"/>
            <a:ext cx="17556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{{ACTION_2_OWNER}}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91656" y="1984248"/>
            <a:ext cx="12070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{{ACTION_2_DUE}}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671816" y="1984248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{{ACTION_2_STATUS}}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2551176"/>
            <a:ext cx="36576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7" name="Shape 35"/>
          <p:cNvSpPr/>
          <p:nvPr/>
        </p:nvSpPr>
        <p:spPr>
          <a:xfrm>
            <a:off x="868680" y="2551176"/>
            <a:ext cx="365760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8" name="Shape 36"/>
          <p:cNvSpPr/>
          <p:nvPr/>
        </p:nvSpPr>
        <p:spPr>
          <a:xfrm>
            <a:off x="4526280" y="2551176"/>
            <a:ext cx="182880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9" name="Shape 37"/>
          <p:cNvSpPr/>
          <p:nvPr/>
        </p:nvSpPr>
        <p:spPr>
          <a:xfrm>
            <a:off x="6355080" y="2551176"/>
            <a:ext cx="128016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40" name="Shape 38"/>
          <p:cNvSpPr/>
          <p:nvPr/>
        </p:nvSpPr>
        <p:spPr>
          <a:xfrm>
            <a:off x="7635240" y="2551176"/>
            <a:ext cx="109728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41" name="Text 39"/>
          <p:cNvSpPr/>
          <p:nvPr/>
        </p:nvSpPr>
        <p:spPr>
          <a:xfrm>
            <a:off x="539496" y="2551176"/>
            <a:ext cx="2926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05256" y="2551176"/>
            <a:ext cx="35844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{{ACTION_3}}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562856" y="2551176"/>
            <a:ext cx="17556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{{ACTION_3_OWNER}}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91656" y="2551176"/>
            <a:ext cx="12070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{{ACTION_3_DUE}}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671816" y="2551176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{{ACTION_3_STATUS}}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02920" y="3118104"/>
            <a:ext cx="365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868680" y="3118104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6280" y="3118104"/>
            <a:ext cx="18288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6355080" y="3118104"/>
            <a:ext cx="12801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7635240" y="3118104"/>
            <a:ext cx="1097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539496" y="3118104"/>
            <a:ext cx="2926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905256" y="3118104"/>
            <a:ext cx="35844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{{ACTION_4}}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562856" y="3118104"/>
            <a:ext cx="17556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{{ACTION_4_OWNER}}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391656" y="3118104"/>
            <a:ext cx="12070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{{ACTION_4_DUE}}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671816" y="3118104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{{ACTION_4_STATUS}}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502920" y="3685032"/>
            <a:ext cx="36576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57" name="Shape 55"/>
          <p:cNvSpPr/>
          <p:nvPr/>
        </p:nvSpPr>
        <p:spPr>
          <a:xfrm>
            <a:off x="868680" y="3685032"/>
            <a:ext cx="365760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58" name="Shape 56"/>
          <p:cNvSpPr/>
          <p:nvPr/>
        </p:nvSpPr>
        <p:spPr>
          <a:xfrm>
            <a:off x="4526280" y="3685032"/>
            <a:ext cx="182880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59" name="Shape 57"/>
          <p:cNvSpPr/>
          <p:nvPr/>
        </p:nvSpPr>
        <p:spPr>
          <a:xfrm>
            <a:off x="6355080" y="3685032"/>
            <a:ext cx="128016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60" name="Shape 58"/>
          <p:cNvSpPr/>
          <p:nvPr/>
        </p:nvSpPr>
        <p:spPr>
          <a:xfrm>
            <a:off x="7635240" y="3685032"/>
            <a:ext cx="1097280" cy="5029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61" name="Text 59"/>
          <p:cNvSpPr/>
          <p:nvPr/>
        </p:nvSpPr>
        <p:spPr>
          <a:xfrm>
            <a:off x="539496" y="3685032"/>
            <a:ext cx="2926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905256" y="3685032"/>
            <a:ext cx="35844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{{ACTION_5}}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4562856" y="3685032"/>
            <a:ext cx="17556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{{ACTION_5_OWNER}}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6391656" y="3685032"/>
            <a:ext cx="12070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{{ACTION_5_DUE}}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671816" y="3685032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{{ACTION_5_STATUS}}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502920" y="4251960"/>
            <a:ext cx="3657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Shape 65"/>
          <p:cNvSpPr/>
          <p:nvPr/>
        </p:nvSpPr>
        <p:spPr>
          <a:xfrm>
            <a:off x="868680" y="425196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6280" y="4251960"/>
            <a:ext cx="18288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Shape 67"/>
          <p:cNvSpPr/>
          <p:nvPr/>
        </p:nvSpPr>
        <p:spPr>
          <a:xfrm>
            <a:off x="6355080" y="4251960"/>
            <a:ext cx="12801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7635240" y="4251960"/>
            <a:ext cx="109728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" y="4251960"/>
            <a:ext cx="2926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905256" y="4251960"/>
            <a:ext cx="35844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{{ACTION_6}}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4562856" y="4251960"/>
            <a:ext cx="17556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{{ACTION_6_OWNER}}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6391656" y="4251960"/>
            <a:ext cx="12070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{{ACTION_6_DUE}}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7671816" y="425196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{{ACTION_6_STATUS}}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5B2D8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E91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11480"/>
            <a:ext cx="2011680" cy="59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114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2D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XELIX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{{CUSTOMER_NAME}}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dedicated account manager: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310128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{{ACCOUNT_MANAGER}}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xelix.com  |  support@xelix.com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Executive Business Review</dc:title>
  <dc:subject>PptxGenJS Presentation</dc:subject>
  <dc:creator>Xelix</dc:creator>
  <cp:lastModifiedBy>Xelix</cp:lastModifiedBy>
  <cp:revision>1</cp:revision>
  <dcterms:created xsi:type="dcterms:W3CDTF">2026-05-05T09:44:51Z</dcterms:created>
  <dcterms:modified xsi:type="dcterms:W3CDTF">2026-05-05T09:44:51Z</dcterms:modified>
</cp:coreProperties>
</file>